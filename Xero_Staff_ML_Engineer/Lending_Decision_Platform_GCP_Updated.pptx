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9"/>
  </p:notesMasterIdLst>
  <p:sldIdLst>
    <p:sldId id="256" r:id="rId2"/>
    <p:sldId id="281" r:id="rId3"/>
    <p:sldId id="257" r:id="rId4"/>
    <p:sldId id="258" r:id="rId5"/>
    <p:sldId id="280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2" r:id="rId2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4" d="100"/>
          <a:sy n="84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488009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6645E1-70A0-06D5-B371-888BAFF511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43A9005-BFD2-8A99-2066-FDAC7020C9E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15677B1-4889-6237-98FE-1CA63A66E56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266B7D-419F-F629-F70B-CC0D403D15F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811657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B1AD96-1A4B-C77F-5B68-64C2346EF2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F204FCF-1147-5561-98AD-F52F564312B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879C164-40DB-A502-0B1B-7DFF54C779B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40DF1A-9CD0-FEAF-ABB8-C139DAE16E0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782118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C8DB9C-AB37-3DDB-7534-D62354ABF8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8B6D37D-AF70-4849-D16B-C31D1F7DBDF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C46B47A-4BF6-D604-6D2C-1B6D30EF40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FE3E08-B13F-270A-00B8-C969CA55EA8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9149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2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sv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731520"/>
            <a:ext cx="822960" cy="82296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AU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6112" y="896112"/>
            <a:ext cx="493776" cy="49377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173736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Lending Decision Platform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731520" y="260604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8D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Build on Google Cloud Platform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731520" y="3291840"/>
            <a:ext cx="2286000" cy="0"/>
          </a:xfrm>
          <a:prstGeom prst="line">
            <a:avLst/>
          </a:prstGeom>
          <a:noFill/>
          <a:ln w="381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7" name="Text 4"/>
          <p:cNvSpPr/>
          <p:nvPr/>
        </p:nvSpPr>
        <p:spPr>
          <a:xfrm>
            <a:off x="731520" y="352044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9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credit decisioning – with explainability, fairness and compliance built in. 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31520" y="416052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AI/ML Engineering | Cloud Architecture | MLOps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95D8763-B7AC-84EB-F732-58B936287E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3EC2412B-85B3-AC4C-29A3-86447CD36B5A}"/>
              </a:ext>
            </a:extLst>
          </p:cNvPr>
          <p:cNvSpPr/>
          <p:nvPr/>
        </p:nvSpPr>
        <p:spPr>
          <a:xfrm>
            <a:off x="731520" y="731520"/>
            <a:ext cx="822960" cy="82296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AU"/>
          </a:p>
        </p:txBody>
      </p:sp>
      <p:pic>
        <p:nvPicPr>
          <p:cNvPr id="3" name="Image 0" descr="preencoded.png">
            <a:extLst>
              <a:ext uri="{FF2B5EF4-FFF2-40B4-BE49-F238E27FC236}">
                <a16:creationId xmlns:a16="http://schemas.microsoft.com/office/drawing/2014/main" id="{451EBFB0-189E-6C59-0ADF-06FE185A397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6112" y="896112"/>
            <a:ext cx="493776" cy="493776"/>
          </a:xfrm>
          <a:prstGeom prst="rect">
            <a:avLst/>
          </a:prstGeom>
        </p:spPr>
      </p:pic>
      <p:sp>
        <p:nvSpPr>
          <p:cNvPr id="4" name="Text 1">
            <a:extLst>
              <a:ext uri="{FF2B5EF4-FFF2-40B4-BE49-F238E27FC236}">
                <a16:creationId xmlns:a16="http://schemas.microsoft.com/office/drawing/2014/main" id="{301B017D-D9C9-6E58-E914-27D63061991C}"/>
              </a:ext>
            </a:extLst>
          </p:cNvPr>
          <p:cNvSpPr/>
          <p:nvPr/>
        </p:nvSpPr>
        <p:spPr>
          <a:xfrm>
            <a:off x="731520" y="173736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Lending Decision Platform</a:t>
            </a:r>
            <a:endParaRPr lang="en-US" sz="4000" dirty="0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F082C57A-6D5F-9683-C1D6-7D21410039CB}"/>
              </a:ext>
            </a:extLst>
          </p:cNvPr>
          <p:cNvSpPr/>
          <p:nvPr/>
        </p:nvSpPr>
        <p:spPr>
          <a:xfrm>
            <a:off x="731520" y="2571750"/>
            <a:ext cx="7680960" cy="21297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AU" sz="1400" b="1" dirty="0">
                <a:solidFill>
                  <a:srgbClr val="6B9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context</a:t>
            </a:r>
          </a:p>
          <a:p>
            <a:r>
              <a:rPr lang="en-US" sz="1400" dirty="0">
                <a:solidFill>
                  <a:srgbClr val="6B9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underwriting was slow, inconsistent between officers, and hard to audit. We needed</a:t>
            </a:r>
          </a:p>
          <a:p>
            <a:r>
              <a:rPr lang="en-US" sz="1400" dirty="0">
                <a:solidFill>
                  <a:srgbClr val="6B9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credit decisioning that is fast, consistent, explainable, and compliant with</a:t>
            </a:r>
          </a:p>
          <a:p>
            <a:r>
              <a:rPr lang="en-AU" sz="1400" dirty="0">
                <a:solidFill>
                  <a:srgbClr val="6B9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responsible-lending obligations.</a:t>
            </a:r>
          </a:p>
          <a:p>
            <a:endParaRPr lang="en-AU" sz="1400" dirty="0">
              <a:solidFill>
                <a:srgbClr val="6B9BB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r>
              <a:rPr lang="en-US" sz="1400" b="1" dirty="0">
                <a:solidFill>
                  <a:srgbClr val="6B9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shape of the solution</a:t>
            </a:r>
          </a:p>
          <a:p>
            <a:r>
              <a:rPr lang="en-US" sz="1400" dirty="0">
                <a:solidFill>
                  <a:srgbClr val="6B9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calibrated and gradient boosted ML lending-decision model at the core, wrapped in four </a:t>
            </a:r>
            <a:r>
              <a:rPr lang="en-US" sz="1400" dirty="0" err="1">
                <a:solidFill>
                  <a:srgbClr val="6B9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specialised</a:t>
            </a:r>
            <a:r>
              <a:rPr lang="en-US" sz="1400" dirty="0">
                <a:solidFill>
                  <a:srgbClr val="6B9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AI agents</a:t>
            </a:r>
          </a:p>
          <a:p>
            <a:r>
              <a:rPr lang="en-US" sz="1400" dirty="0">
                <a:solidFill>
                  <a:srgbClr val="6B9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(application intake, KYC/AML, financial analysis, security audit), grounded in current lending</a:t>
            </a:r>
          </a:p>
          <a:p>
            <a:r>
              <a:rPr lang="en-US" sz="1400" dirty="0">
                <a:solidFill>
                  <a:srgbClr val="6B9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via RAG, with a human in the loop on high-value / low-confidence cases — all on Google</a:t>
            </a:r>
          </a:p>
          <a:p>
            <a:r>
              <a:rPr lang="en-AU" sz="1400" dirty="0">
                <a:solidFill>
                  <a:srgbClr val="6B9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Cloud.</a:t>
            </a:r>
            <a:r>
              <a:rPr lang="en-US" sz="1400" dirty="0">
                <a:solidFill>
                  <a:srgbClr val="6B9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0288545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Agenda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143000"/>
            <a:ext cx="7863840" cy="457200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216152"/>
            <a:ext cx="310896" cy="31089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34440" y="1161288"/>
            <a:ext cx="3474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Personal Contributions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4846320" y="1161288"/>
            <a:ext cx="3474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 built vs. team responsibilities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640080" y="1673352"/>
            <a:ext cx="7863840" cy="457200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1746504"/>
            <a:ext cx="310896" cy="31089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234440" y="1691640"/>
            <a:ext cx="3474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Technology Stack &amp; Trade-offs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4846320" y="1691640"/>
            <a:ext cx="3474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GCP services, tools, and key decisions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640080" y="2203704"/>
            <a:ext cx="7863840" cy="457200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2276856"/>
            <a:ext cx="310896" cy="310896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234440" y="2221992"/>
            <a:ext cx="3474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Solution Architecture</a:t>
            </a:r>
            <a:endParaRPr lang="en-US" sz="1300" dirty="0"/>
          </a:p>
        </p:txBody>
      </p:sp>
      <p:sp>
        <p:nvSpPr>
          <p:cNvPr id="14" name="Text 9"/>
          <p:cNvSpPr/>
          <p:nvPr/>
        </p:nvSpPr>
        <p:spPr>
          <a:xfrm>
            <a:off x="4846320" y="2221992"/>
            <a:ext cx="3474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platform architecture diagram</a:t>
            </a:r>
            <a:endParaRPr lang="en-US" sz="1100" dirty="0"/>
          </a:p>
        </p:txBody>
      </p:sp>
      <p:sp>
        <p:nvSpPr>
          <p:cNvPr id="15" name="Shape 10"/>
          <p:cNvSpPr/>
          <p:nvPr/>
        </p:nvSpPr>
        <p:spPr>
          <a:xfrm>
            <a:off x="640080" y="2734056"/>
            <a:ext cx="7863840" cy="457200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2807208"/>
            <a:ext cx="310896" cy="310896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234440" y="2752344"/>
            <a:ext cx="3474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ML Model Training Pipeline</a:t>
            </a:r>
            <a:endParaRPr lang="en-US" sz="1300" dirty="0"/>
          </a:p>
        </p:txBody>
      </p:sp>
      <p:sp>
        <p:nvSpPr>
          <p:cNvPr id="18" name="Text 12"/>
          <p:cNvSpPr/>
          <p:nvPr/>
        </p:nvSpPr>
        <p:spPr>
          <a:xfrm>
            <a:off x="4846320" y="2752344"/>
            <a:ext cx="3474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workflow with GCP cloud services</a:t>
            </a:r>
            <a:endParaRPr lang="en-US" sz="1100" dirty="0"/>
          </a:p>
        </p:txBody>
      </p:sp>
      <p:sp>
        <p:nvSpPr>
          <p:cNvPr id="19" name="Shape 13"/>
          <p:cNvSpPr/>
          <p:nvPr/>
        </p:nvSpPr>
        <p:spPr>
          <a:xfrm>
            <a:off x="640080" y="3264408"/>
            <a:ext cx="7863840" cy="457200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7240" y="3337560"/>
            <a:ext cx="310896" cy="310896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1234440" y="3282696"/>
            <a:ext cx="3474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AI Agent &amp; RAG Pipeline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4846320" y="3282696"/>
            <a:ext cx="3474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Retrieval-augmented generation architecture</a:t>
            </a:r>
            <a:endParaRPr lang="en-US" sz="1100" dirty="0"/>
          </a:p>
        </p:txBody>
      </p:sp>
      <p:sp>
        <p:nvSpPr>
          <p:cNvPr id="23" name="Shape 16"/>
          <p:cNvSpPr/>
          <p:nvPr/>
        </p:nvSpPr>
        <p:spPr>
          <a:xfrm>
            <a:off x="640080" y="3794760"/>
            <a:ext cx="7863840" cy="457200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77240" y="3867912"/>
            <a:ext cx="310896" cy="310896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1234440" y="3813048"/>
            <a:ext cx="3474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 MLOps &amp; Release Management</a:t>
            </a:r>
            <a:endParaRPr lang="en-US" sz="1300" dirty="0"/>
          </a:p>
        </p:txBody>
      </p:sp>
      <p:sp>
        <p:nvSpPr>
          <p:cNvPr id="26" name="Text 18"/>
          <p:cNvSpPr/>
          <p:nvPr/>
        </p:nvSpPr>
        <p:spPr>
          <a:xfrm>
            <a:off x="4846320" y="3813048"/>
            <a:ext cx="3474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dev to production, monitoring &amp; metrics</a:t>
            </a:r>
            <a:endParaRPr lang="en-US" sz="1100" dirty="0"/>
          </a:p>
        </p:txBody>
      </p:sp>
      <p:sp>
        <p:nvSpPr>
          <p:cNvPr id="27" name="Shape 19"/>
          <p:cNvSpPr/>
          <p:nvPr/>
        </p:nvSpPr>
        <p:spPr>
          <a:xfrm>
            <a:off x="640080" y="4325112"/>
            <a:ext cx="7863840" cy="457200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77240" y="4398264"/>
            <a:ext cx="310896" cy="310896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1234440" y="4343400"/>
            <a:ext cx="3474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 Failure Handling &amp; Resilience</a:t>
            </a:r>
            <a:endParaRPr lang="en-US" sz="1300" dirty="0"/>
          </a:p>
        </p:txBody>
      </p:sp>
      <p:sp>
        <p:nvSpPr>
          <p:cNvPr id="30" name="Text 21"/>
          <p:cNvSpPr/>
          <p:nvPr/>
        </p:nvSpPr>
        <p:spPr>
          <a:xfrm>
            <a:off x="4846320" y="4343400"/>
            <a:ext cx="3474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hallucination, drift, system failures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64592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 Personal Contributions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731520" y="283464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8D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 personally built vs. team deliverables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31520" y="73152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AU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9536" y="859536"/>
            <a:ext cx="384048" cy="38404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F387EF7-8535-CC7B-0F7B-DE1AD05DAA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FC9FA4F7-C34B-789C-33CF-2E182C6CB151}"/>
              </a:ext>
            </a:extLst>
          </p:cNvPr>
          <p:cNvSpPr/>
          <p:nvPr/>
        </p:nvSpPr>
        <p:spPr>
          <a:xfrm>
            <a:off x="548640" y="22860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My Contributions vs. Team Responsibilities</a:t>
            </a:r>
            <a:endParaRPr lang="en-US" sz="2600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2AC0BF3B-7B99-39E0-E42F-BB20250182F0}"/>
              </a:ext>
            </a:extLst>
          </p:cNvPr>
          <p:cNvSpPr/>
          <p:nvPr/>
        </p:nvSpPr>
        <p:spPr>
          <a:xfrm>
            <a:off x="457200" y="914400"/>
            <a:ext cx="8229600" cy="384048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4028D495-7E28-4B98-C542-7F76A6159948}"/>
              </a:ext>
            </a:extLst>
          </p:cNvPr>
          <p:cNvSpPr/>
          <p:nvPr/>
        </p:nvSpPr>
        <p:spPr>
          <a:xfrm>
            <a:off x="457200" y="914400"/>
            <a:ext cx="8229600" cy="457200"/>
          </a:xfrm>
          <a:prstGeom prst="roundRect">
            <a:avLst>
              <a:gd name="adj" fmla="val 20000"/>
            </a:avLst>
          </a:prstGeom>
          <a:solidFill>
            <a:srgbClr val="065A82"/>
          </a:solidFill>
          <a:ln/>
        </p:spPr>
        <p:txBody>
          <a:bodyPr/>
          <a:lstStyle/>
          <a:p>
            <a:pPr algn="ctr"/>
            <a:endParaRPr lang="en-AU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7267D1E9-0E0B-BD1E-054E-F91029B5DCE7}"/>
              </a:ext>
            </a:extLst>
          </p:cNvPr>
          <p:cNvSpPr/>
          <p:nvPr/>
        </p:nvSpPr>
        <p:spPr>
          <a:xfrm>
            <a:off x="3528060" y="914400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Specific Contributions</a:t>
            </a:r>
            <a:endParaRPr lang="en-US" sz="14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66D2DCAE-B570-ECE8-96A3-C7B6C4126CED}"/>
              </a:ext>
            </a:extLst>
          </p:cNvPr>
          <p:cNvSpPr/>
          <p:nvPr/>
        </p:nvSpPr>
        <p:spPr>
          <a:xfrm>
            <a:off x="640080" y="1463040"/>
            <a:ext cx="8001000" cy="3375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</a:rPr>
              <a:t>ML Pipeline Architecture</a:t>
            </a:r>
            <a:endParaRPr lang="en-US" sz="1200" dirty="0"/>
          </a:p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</a:rPr>
              <a:t>Designed &amp; built end-to-end ML training pipeline on Vertex AI with feature engineering, model registry, and automated retraining triggers.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</a:rPr>
              <a:t>AI Agent &amp; RAG System</a:t>
            </a:r>
            <a:endParaRPr lang="en-US" sz="1200" dirty="0"/>
          </a:p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</a:rPr>
              <a:t>Built LangChain-based agents with tool orchestration, RAG pipeline using Vertex AI Search, vector embeddings, and policy document retrieval.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</a:rPr>
              <a:t>Credit Scoring Models</a:t>
            </a:r>
            <a:endParaRPr lang="en-US" sz="1200" dirty="0"/>
          </a:p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</a:rPr>
              <a:t>Developed gradient-boosted &amp; deep learning models (XGBoost, TensorFlow) for credit risk, PD/LGD estimation, and affordability checks.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</a:rPr>
              <a:t>MLOps &amp; Monitoring</a:t>
            </a:r>
            <a:endParaRPr lang="en-US" sz="1200" dirty="0"/>
          </a:p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</a:rPr>
              <a:t>Implemented MLflow experiment tracking, model versioning, A/B testing framework, and drift detection using Evidently AI.</a:t>
            </a:r>
          </a:p>
          <a:p>
            <a:pPr marL="0" indent="0">
              <a:buNone/>
            </a:pPr>
            <a:endParaRPr lang="en-US" sz="1000" dirty="0">
              <a:solidFill>
                <a:srgbClr val="374151"/>
              </a:solidFill>
            </a:endParaRPr>
          </a:p>
          <a:p>
            <a:r>
              <a:rPr lang="en-US" sz="1200" b="1" dirty="0">
                <a:solidFill>
                  <a:srgbClr val="1A1A2E"/>
                </a:solidFill>
              </a:rPr>
              <a:t>Platform Infrastructure (DevOps)</a:t>
            </a:r>
          </a:p>
          <a:p>
            <a:r>
              <a:rPr lang="en-US" sz="1000" dirty="0">
                <a:solidFill>
                  <a:srgbClr val="374151"/>
                </a:solidFill>
              </a:rPr>
              <a:t>GKE cluster setup, Terraform </a:t>
            </a:r>
            <a:r>
              <a:rPr lang="en-US" sz="1000" dirty="0" err="1">
                <a:solidFill>
                  <a:srgbClr val="374151"/>
                </a:solidFill>
              </a:rPr>
              <a:t>IaC</a:t>
            </a:r>
            <a:r>
              <a:rPr lang="en-US" sz="1000" dirty="0">
                <a:solidFill>
                  <a:srgbClr val="374151"/>
                </a:solidFill>
              </a:rPr>
              <a:t>, networking (VPC, Cloud NAT), IAM policies, and CI/CD pipeline scaffolding.</a:t>
            </a:r>
          </a:p>
          <a:p>
            <a:pPr marL="0" indent="0">
              <a:buNone/>
            </a:pPr>
            <a:endParaRPr lang="en-US" sz="1200" dirty="0"/>
          </a:p>
          <a:p>
            <a:r>
              <a:rPr lang="en-US" sz="1200" b="1" dirty="0">
                <a:solidFill>
                  <a:srgbClr val="1A1A2E"/>
                </a:solidFill>
              </a:rPr>
              <a:t>Data Engineering</a:t>
            </a:r>
          </a:p>
          <a:p>
            <a:r>
              <a:rPr lang="en-US" sz="1000" dirty="0">
                <a:solidFill>
                  <a:srgbClr val="374151"/>
                </a:solidFill>
              </a:rPr>
              <a:t>Argo Workflow Data Extraction pipelines, data quality checks with Great Expectations.</a:t>
            </a:r>
            <a:endParaRPr lang="en-US" sz="10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38245681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My Contributions vs. Team Responsibilities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297180" y="914400"/>
            <a:ext cx="8389620" cy="384048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AU" dirty="0"/>
          </a:p>
        </p:txBody>
      </p:sp>
      <p:sp>
        <p:nvSpPr>
          <p:cNvPr id="8" name="Shape 6"/>
          <p:cNvSpPr/>
          <p:nvPr/>
        </p:nvSpPr>
        <p:spPr>
          <a:xfrm>
            <a:off x="297180" y="914400"/>
            <a:ext cx="8389620" cy="457200"/>
          </a:xfrm>
          <a:prstGeom prst="roundRect">
            <a:avLst>
              <a:gd name="adj" fmla="val 20000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 lang="en-AU" dirty="0"/>
          </a:p>
        </p:txBody>
      </p:sp>
      <p:sp>
        <p:nvSpPr>
          <p:cNvPr id="9" name="Text 7"/>
          <p:cNvSpPr/>
          <p:nvPr/>
        </p:nvSpPr>
        <p:spPr>
          <a:xfrm>
            <a:off x="2080260" y="883920"/>
            <a:ext cx="5349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Handled (Involved into Collaboration Work with Cross Team)  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1463040"/>
            <a:ext cx="80467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</a:rPr>
              <a:t>Data Engineering</a:t>
            </a:r>
            <a:endParaRPr lang="en-US" sz="1200" dirty="0"/>
          </a:p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</a:rPr>
              <a:t>BigQuery data warehouse, Dataflow ETL pipelines, CDC from source systems, data quality checks with Great Expectations.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</a:rPr>
              <a:t>Frontend &amp; API Layer</a:t>
            </a:r>
            <a:endParaRPr lang="en-US" sz="1200" dirty="0"/>
          </a:p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</a:rPr>
              <a:t>React dashboard for loan officers, REST/gRPC APIs (Cloud Run), authentication (Firebase Auth), and notification services.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</a:rPr>
              <a:t>Compliance &amp; Security</a:t>
            </a:r>
            <a:endParaRPr lang="en-US" sz="1200" dirty="0"/>
          </a:p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</a:rPr>
              <a:t>Data masking, encryption at rest/transit, audit logging, and regulatory compliance (APRA, Privacy Act) integration.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64592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 Technologies &amp; Trade-offs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731520" y="283464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8D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GCP services, tools, key decisions and challenges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31520" y="73152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AU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9536" y="859536"/>
            <a:ext cx="384048" cy="38404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GCP Cloud Services Stack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1371600" cy="457200"/>
          </a:xfrm>
          <a:prstGeom prst="roundRect">
            <a:avLst>
              <a:gd name="adj" fmla="val 16000"/>
            </a:avLst>
          </a:prstGeom>
          <a:solidFill>
            <a:srgbClr val="7C3AED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/ ML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011680" y="914400"/>
            <a:ext cx="6675120" cy="457200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6" name="Text 4"/>
          <p:cNvSpPr/>
          <p:nvPr/>
        </p:nvSpPr>
        <p:spPr>
          <a:xfrm>
            <a:off x="2194560" y="91440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Vertex AI  |  AutoML  |  Vertex AI Search  |  Gemini API  |  TensorFlow on TPU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1481328"/>
            <a:ext cx="1371600" cy="457200"/>
          </a:xfrm>
          <a:prstGeom prst="roundRect">
            <a:avLst>
              <a:gd name="adj" fmla="val 16000"/>
            </a:avLst>
          </a:prstGeom>
          <a:solidFill>
            <a:srgbClr val="065A82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8" name="Text 6"/>
          <p:cNvSpPr/>
          <p:nvPr/>
        </p:nvSpPr>
        <p:spPr>
          <a:xfrm>
            <a:off x="457200" y="1481328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011680" y="1481328"/>
            <a:ext cx="6675120" cy="457200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10" name="Text 8"/>
          <p:cNvSpPr/>
          <p:nvPr/>
        </p:nvSpPr>
        <p:spPr>
          <a:xfrm>
            <a:off x="2194560" y="1481328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GKE (Kubernetes)  |  Cloud Run  |  Cloud Functions  |  Compute Engine (GPU)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2048256"/>
            <a:ext cx="1371600" cy="457200"/>
          </a:xfrm>
          <a:prstGeom prst="roundRect">
            <a:avLst>
              <a:gd name="adj" fmla="val 16000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2" name="Text 10"/>
          <p:cNvSpPr/>
          <p:nvPr/>
        </p:nvSpPr>
        <p:spPr>
          <a:xfrm>
            <a:off x="457200" y="2048256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011680" y="2048256"/>
            <a:ext cx="6675120" cy="457200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14" name="Text 12"/>
          <p:cNvSpPr/>
          <p:nvPr/>
        </p:nvSpPr>
        <p:spPr>
          <a:xfrm>
            <a:off x="2194560" y="2048256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BigQuery  |  Cloud SQL (PostgreSQL)  |  Firestore  |  Memorystore (Redis)  |  Bigtable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2615184"/>
            <a:ext cx="1371600" cy="457200"/>
          </a:xfrm>
          <a:prstGeom prst="roundRect">
            <a:avLst>
              <a:gd name="adj" fmla="val 16000"/>
            </a:avLst>
          </a:prstGeom>
          <a:solidFill>
            <a:srgbClr val="0891B2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6" name="Text 14"/>
          <p:cNvSpPr/>
          <p:nvPr/>
        </p:nvSpPr>
        <p:spPr>
          <a:xfrm>
            <a:off x="457200" y="2615184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011680" y="2615184"/>
            <a:ext cx="6675120" cy="457200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18" name="Text 16"/>
          <p:cNvSpPr/>
          <p:nvPr/>
        </p:nvSpPr>
        <p:spPr>
          <a:xfrm>
            <a:off x="2194560" y="2615184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Storage (GCS)  |  Artifact Registry  |  Container Registry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3182112"/>
            <a:ext cx="1371600" cy="457200"/>
          </a:xfrm>
          <a:prstGeom prst="roundRect">
            <a:avLst>
              <a:gd name="adj" fmla="val 16000"/>
            </a:avLst>
          </a:prstGeom>
          <a:solidFill>
            <a:srgbClr val="059669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20" name="Text 18"/>
          <p:cNvSpPr/>
          <p:nvPr/>
        </p:nvSpPr>
        <p:spPr>
          <a:xfrm>
            <a:off x="457200" y="3182112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011680" y="3182112"/>
            <a:ext cx="6675120" cy="457200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22" name="Text 20"/>
          <p:cNvSpPr/>
          <p:nvPr/>
        </p:nvSpPr>
        <p:spPr>
          <a:xfrm>
            <a:off x="2194560" y="3182112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Argo Workflow  |  Pub/Sub  |  Cloud Composer (Airflow)  |  Vertex Pipelines (Kubeflow)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57200" y="3749040"/>
            <a:ext cx="1371600" cy="457200"/>
          </a:xfrm>
          <a:prstGeom prst="roundRect">
            <a:avLst>
              <a:gd name="adj" fmla="val 16000"/>
            </a:avLst>
          </a:prstGeom>
          <a:solidFill>
            <a:srgbClr val="D97706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24" name="Text 22"/>
          <p:cNvSpPr/>
          <p:nvPr/>
        </p:nvSpPr>
        <p:spPr>
          <a:xfrm>
            <a:off x="457200" y="374904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DevOps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011680" y="3749040"/>
            <a:ext cx="6675120" cy="457200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26" name="Text 24"/>
          <p:cNvSpPr/>
          <p:nvPr/>
        </p:nvSpPr>
        <p:spPr>
          <a:xfrm>
            <a:off x="2194560" y="374904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Build  |  Cloud Deploy  |  Terraform  |  Cloud Monitoring  |  Cloud Logging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57200" y="4315968"/>
            <a:ext cx="1371600" cy="457200"/>
          </a:xfrm>
          <a:prstGeom prst="roundRect">
            <a:avLst>
              <a:gd name="adj" fmla="val 16000"/>
            </a:avLst>
          </a:prstGeom>
          <a:solidFill>
            <a:srgbClr val="DC2626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28" name="Text 26"/>
          <p:cNvSpPr/>
          <p:nvPr/>
        </p:nvSpPr>
        <p:spPr>
          <a:xfrm>
            <a:off x="457200" y="4315968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2011680" y="4315968"/>
            <a:ext cx="6675120" cy="457200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30" name="Text 28"/>
          <p:cNvSpPr/>
          <p:nvPr/>
        </p:nvSpPr>
        <p:spPr>
          <a:xfrm>
            <a:off x="2194560" y="4315968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 Manager  |  Cloud KMS  |  IAM  |  VPC Service Controls  |  Cloud Armor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Decisions &amp; Trade-offs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Vertex AI vs. SageMaker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931920" y="932688"/>
            <a:ext cx="1645920" cy="274320"/>
          </a:xfrm>
          <a:prstGeom prst="roundRect">
            <a:avLst>
              <a:gd name="adj" fmla="val 20000"/>
            </a:avLst>
          </a:prstGeom>
          <a:solidFill>
            <a:srgbClr val="E0F7FA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6" name="Text 4"/>
          <p:cNvSpPr/>
          <p:nvPr/>
        </p:nvSpPr>
        <p:spPr>
          <a:xfrm>
            <a:off x="3931920" y="93268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Chose Vertex AI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40080" y="1252728"/>
            <a:ext cx="7863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BigQuery integration, Kubeflow pipelines, TPU access for TensorFlow training. Trade-off: Less mature PyTorch ecosystem on GCP at the time.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1892808"/>
            <a:ext cx="822960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9" name="Text 7"/>
          <p:cNvSpPr/>
          <p:nvPr/>
        </p:nvSpPr>
        <p:spPr>
          <a:xfrm>
            <a:off x="640080" y="193852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GKE vs. Cloud Run for Serving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931920" y="1956816"/>
            <a:ext cx="1645920" cy="274320"/>
          </a:xfrm>
          <a:prstGeom prst="roundRect">
            <a:avLst>
              <a:gd name="adj" fmla="val 20000"/>
            </a:avLst>
          </a:prstGeom>
          <a:solidFill>
            <a:srgbClr val="E0F7FA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1" name="Text 9"/>
          <p:cNvSpPr/>
          <p:nvPr/>
        </p:nvSpPr>
        <p:spPr>
          <a:xfrm>
            <a:off x="3931920" y="1956816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approach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40080" y="2276856"/>
            <a:ext cx="7863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GKE for ML model serving (GPU pods, custom scaling). Cloud Run for stateless API microservices. Trade-off: Higher ops cost with GKE but needed GPU scheduling.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2916936"/>
            <a:ext cx="822960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14" name="Text 12"/>
          <p:cNvSpPr/>
          <p:nvPr/>
        </p:nvSpPr>
        <p:spPr>
          <a:xfrm>
            <a:off x="640080" y="2962656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 vs. Custom Agents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931920" y="2980944"/>
            <a:ext cx="1645920" cy="274320"/>
          </a:xfrm>
          <a:prstGeom prst="roundRect">
            <a:avLst>
              <a:gd name="adj" fmla="val 20000"/>
            </a:avLst>
          </a:prstGeom>
          <a:solidFill>
            <a:srgbClr val="E0F7FA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6" name="Text 14"/>
          <p:cNvSpPr/>
          <p:nvPr/>
        </p:nvSpPr>
        <p:spPr>
          <a:xfrm>
            <a:off x="3931920" y="2980944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 + custom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40080" y="3300984"/>
            <a:ext cx="7863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 for agent orchestration, custom tool wrappers for lending domain logic. Trade-off: Framework lock-in vs. speed of development.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3941064"/>
            <a:ext cx="822960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19" name="Text 17"/>
          <p:cNvSpPr/>
          <p:nvPr/>
        </p:nvSpPr>
        <p:spPr>
          <a:xfrm>
            <a:off x="640080" y="3986784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Store: Feast vs. Vertex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931920" y="4005072"/>
            <a:ext cx="1645920" cy="274320"/>
          </a:xfrm>
          <a:prstGeom prst="roundRect">
            <a:avLst>
              <a:gd name="adj" fmla="val 20000"/>
            </a:avLst>
          </a:prstGeom>
          <a:solidFill>
            <a:srgbClr val="E0F7FA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21" name="Text 19"/>
          <p:cNvSpPr/>
          <p:nvPr/>
        </p:nvSpPr>
        <p:spPr>
          <a:xfrm>
            <a:off x="3931920" y="400507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Vertex AI Feature Store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40080" y="4325112"/>
            <a:ext cx="7863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service, native BQ integration, online/offline serving. Trade-off: Less flexibility than Feast, vendor lock-in.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Challenges Faced &amp; Solutions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941832"/>
            <a:ext cx="320040" cy="3200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05840" y="91440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 &amp; Sparsity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1005840" y="1252728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Challenge: Incomplete loan applications, missing bureau data, inconsistent formats across origination systems.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1005840" y="1490472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Solution: Built robust feature imputation pipeline with MICE + domain heuristics; Great Expectations for schema validation.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457200" y="1892808"/>
            <a:ext cx="822960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1965960"/>
            <a:ext cx="320040" cy="32004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005840" y="1938528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Fairness &amp; Bias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1005840" y="2276856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Challenge: Regulatory requirement (APRA) to ensure no discriminatory lending decisions by protected attributes.</a:t>
            </a:r>
            <a:endParaRPr lang="en-US" sz="950" dirty="0"/>
          </a:p>
        </p:txBody>
      </p:sp>
      <p:sp>
        <p:nvSpPr>
          <p:cNvPr id="12" name="Text 8"/>
          <p:cNvSpPr/>
          <p:nvPr/>
        </p:nvSpPr>
        <p:spPr>
          <a:xfrm>
            <a:off x="1005840" y="2514600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Solution: Implemented fairness-aware ML with Aequitas toolkit; SHAP explainability for every decision; bias audit pipeline.</a:t>
            </a:r>
            <a:endParaRPr lang="en-US" sz="950" dirty="0"/>
          </a:p>
        </p:txBody>
      </p:sp>
      <p:sp>
        <p:nvSpPr>
          <p:cNvPr id="13" name="Shape 9"/>
          <p:cNvSpPr/>
          <p:nvPr/>
        </p:nvSpPr>
        <p:spPr>
          <a:xfrm>
            <a:off x="457200" y="2916936"/>
            <a:ext cx="822960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360" y="2990088"/>
            <a:ext cx="320040" cy="32004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005840" y="2962656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vs. Batch Scoring</a:t>
            </a:r>
            <a:endParaRPr lang="en-US" sz="1300" dirty="0"/>
          </a:p>
        </p:txBody>
      </p:sp>
      <p:sp>
        <p:nvSpPr>
          <p:cNvPr id="16" name="Text 11"/>
          <p:cNvSpPr/>
          <p:nvPr/>
        </p:nvSpPr>
        <p:spPr>
          <a:xfrm>
            <a:off x="1005840" y="3300984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Challenge: Sub-200ms latency for real-time decisions while supporting batch scoring for portfolio re-assessment.</a:t>
            </a:r>
            <a:endParaRPr lang="en-US" sz="950" dirty="0"/>
          </a:p>
        </p:txBody>
      </p:sp>
      <p:sp>
        <p:nvSpPr>
          <p:cNvPr id="17" name="Text 12"/>
          <p:cNvSpPr/>
          <p:nvPr/>
        </p:nvSpPr>
        <p:spPr>
          <a:xfrm>
            <a:off x="1005840" y="3538728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Solution: Dual serving: Vertex AI Endpoints for real-time (GPU-optimized); Dataflow batch pipeline for portfolio scoring.</a:t>
            </a:r>
            <a:endParaRPr lang="en-US" sz="950" dirty="0"/>
          </a:p>
        </p:txBody>
      </p:sp>
      <p:sp>
        <p:nvSpPr>
          <p:cNvPr id="18" name="Shape 13"/>
          <p:cNvSpPr/>
          <p:nvPr/>
        </p:nvSpPr>
        <p:spPr>
          <a:xfrm>
            <a:off x="457200" y="3941064"/>
            <a:ext cx="822960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4360" y="4014216"/>
            <a:ext cx="320040" cy="32004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005840" y="3986784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Compliance</a:t>
            </a:r>
            <a:endParaRPr lang="en-US" sz="1300" dirty="0"/>
          </a:p>
        </p:txBody>
      </p:sp>
      <p:sp>
        <p:nvSpPr>
          <p:cNvPr id="21" name="Text 15"/>
          <p:cNvSpPr/>
          <p:nvPr/>
        </p:nvSpPr>
        <p:spPr>
          <a:xfrm>
            <a:off x="1005840" y="4325112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Challenge: Model explainability requirements, audit trails, data sovereignty (AU region only), PII handling.</a:t>
            </a:r>
            <a:endParaRPr lang="en-US" sz="950" dirty="0"/>
          </a:p>
        </p:txBody>
      </p:sp>
      <p:sp>
        <p:nvSpPr>
          <p:cNvPr id="22" name="Text 16"/>
          <p:cNvSpPr/>
          <p:nvPr/>
        </p:nvSpPr>
        <p:spPr>
          <a:xfrm>
            <a:off x="1005840" y="4562856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Solution: SHAP-based explanations stored per decision; Cloud Audit Logs; australia-southeast1 region lock; DLP API for PII.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64592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 Solution Architecture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731520" y="283464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8D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platform architecture on GCP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31520" y="73152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AU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9536" y="859536"/>
            <a:ext cx="384048" cy="384048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Solution Architecture — Lending Decision Platform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274320" y="685800"/>
            <a:ext cx="914400" cy="640080"/>
          </a:xfrm>
          <a:prstGeom prst="roundRect">
            <a:avLst>
              <a:gd name="adj" fmla="val 11429"/>
            </a:avLst>
          </a:prstGeom>
          <a:solidFill>
            <a:srgbClr val="059669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4" name="Text 2"/>
          <p:cNvSpPr/>
          <p:nvPr/>
        </p:nvSpPr>
        <p:spPr>
          <a:xfrm>
            <a:off x="274320" y="68580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Ingestion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74320" y="1508760"/>
            <a:ext cx="914400" cy="640080"/>
          </a:xfrm>
          <a:prstGeom prst="roundRect">
            <a:avLst>
              <a:gd name="adj" fmla="val 11429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6" name="Text 4"/>
          <p:cNvSpPr/>
          <p:nvPr/>
        </p:nvSpPr>
        <p:spPr>
          <a:xfrm>
            <a:off x="274320" y="150876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2331720"/>
            <a:ext cx="914400" cy="640080"/>
          </a:xfrm>
          <a:prstGeom prst="roundRect">
            <a:avLst>
              <a:gd name="adj" fmla="val 11429"/>
            </a:avLst>
          </a:prstGeom>
          <a:solidFill>
            <a:srgbClr val="7C3AED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8" name="Text 6"/>
          <p:cNvSpPr/>
          <p:nvPr/>
        </p:nvSpPr>
        <p:spPr>
          <a:xfrm>
            <a:off x="274320" y="233172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/ AI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74320" y="3154680"/>
            <a:ext cx="914400" cy="640080"/>
          </a:xfrm>
          <a:prstGeom prst="roundRect">
            <a:avLst>
              <a:gd name="adj" fmla="val 11429"/>
            </a:avLst>
          </a:prstGeom>
          <a:solidFill>
            <a:srgbClr val="065A82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0" name="Text 8"/>
          <p:cNvSpPr/>
          <p:nvPr/>
        </p:nvSpPr>
        <p:spPr>
          <a:xfrm>
            <a:off x="274320" y="315468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Serving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74320" y="3977640"/>
            <a:ext cx="914400" cy="640080"/>
          </a:xfrm>
          <a:prstGeom prst="roundRect">
            <a:avLst>
              <a:gd name="adj" fmla="val 11429"/>
            </a:avLst>
          </a:prstGeom>
          <a:solidFill>
            <a:srgbClr val="D97706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2" name="Text 10"/>
          <p:cNvSpPr/>
          <p:nvPr/>
        </p:nvSpPr>
        <p:spPr>
          <a:xfrm>
            <a:off x="274320" y="397764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1463040" y="731520"/>
            <a:ext cx="1097280" cy="502920"/>
          </a:xfrm>
          <a:prstGeom prst="roundRect">
            <a:avLst>
              <a:gd name="adj" fmla="val 10909"/>
            </a:avLst>
          </a:prstGeom>
          <a:solidFill>
            <a:srgbClr val="F8FAFC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14" name="Text 12"/>
          <p:cNvSpPr/>
          <p:nvPr/>
        </p:nvSpPr>
        <p:spPr>
          <a:xfrm>
            <a:off x="1463040" y="73152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2743200" y="731520"/>
            <a:ext cx="1097280" cy="502920"/>
          </a:xfrm>
          <a:prstGeom prst="roundRect">
            <a:avLst>
              <a:gd name="adj" fmla="val 10909"/>
            </a:avLst>
          </a:prstGeom>
          <a:solidFill>
            <a:srgbClr val="F8FAFC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16" name="Text 14"/>
          <p:cNvSpPr/>
          <p:nvPr/>
        </p:nvSpPr>
        <p:spPr>
          <a:xfrm>
            <a:off x="2743200" y="73152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Bureaus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4023360" y="731520"/>
            <a:ext cx="1097280" cy="502920"/>
          </a:xfrm>
          <a:prstGeom prst="roundRect">
            <a:avLst>
              <a:gd name="adj" fmla="val 10909"/>
            </a:avLst>
          </a:prstGeom>
          <a:solidFill>
            <a:srgbClr val="F8FAFC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18" name="Text 16"/>
          <p:cNvSpPr/>
          <p:nvPr/>
        </p:nvSpPr>
        <p:spPr>
          <a:xfrm>
            <a:off x="4023360" y="73152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Pub/Sub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(Streaming)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5303520" y="731520"/>
            <a:ext cx="1097280" cy="502920"/>
          </a:xfrm>
          <a:prstGeom prst="roundRect">
            <a:avLst>
              <a:gd name="adj" fmla="val 10909"/>
            </a:avLst>
          </a:prstGeom>
          <a:solidFill>
            <a:srgbClr val="F8FAFC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20" name="Text 18"/>
          <p:cNvSpPr/>
          <p:nvPr/>
        </p:nvSpPr>
        <p:spPr>
          <a:xfrm>
            <a:off x="5303520" y="73152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6583680" y="731520"/>
            <a:ext cx="1097280" cy="502920"/>
          </a:xfrm>
          <a:prstGeom prst="roundRect">
            <a:avLst>
              <a:gd name="adj" fmla="val 10909"/>
            </a:avLst>
          </a:prstGeom>
          <a:solidFill>
            <a:srgbClr val="F8FAFC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22" name="Text 20"/>
          <p:cNvSpPr/>
          <p:nvPr/>
        </p:nvSpPr>
        <p:spPr>
          <a:xfrm>
            <a:off x="6583680" y="73152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Dataflow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(CDC/ETL)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1463040" y="1554480"/>
            <a:ext cx="1371600" cy="502920"/>
          </a:xfrm>
          <a:prstGeom prst="roundRect">
            <a:avLst>
              <a:gd name="adj" fmla="val 10909"/>
            </a:avLst>
          </a:prstGeom>
          <a:solidFill>
            <a:srgbClr val="F8FAFC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24" name="Text 22"/>
          <p:cNvSpPr/>
          <p:nvPr/>
        </p:nvSpPr>
        <p:spPr>
          <a:xfrm>
            <a:off x="1463040" y="155448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BigQuery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Warehouse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3017520" y="1554480"/>
            <a:ext cx="1188720" cy="502920"/>
          </a:xfrm>
          <a:prstGeom prst="roundRect">
            <a:avLst>
              <a:gd name="adj" fmla="val 10909"/>
            </a:avLst>
          </a:prstGeom>
          <a:solidFill>
            <a:srgbClr val="F8FAFC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26" name="Text 24"/>
          <p:cNvSpPr/>
          <p:nvPr/>
        </p:nvSpPr>
        <p:spPr>
          <a:xfrm>
            <a:off x="3017520" y="155448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4389120" y="1554480"/>
            <a:ext cx="1188720" cy="502920"/>
          </a:xfrm>
          <a:prstGeom prst="roundRect">
            <a:avLst>
              <a:gd name="adj" fmla="val 10909"/>
            </a:avLst>
          </a:prstGeom>
          <a:solidFill>
            <a:srgbClr val="F8FAFC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28" name="Text 26"/>
          <p:cNvSpPr/>
          <p:nvPr/>
        </p:nvSpPr>
        <p:spPr>
          <a:xfrm>
            <a:off x="4389120" y="155448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SQL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(PostgreSQL)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5760720" y="1554480"/>
            <a:ext cx="1188720" cy="502920"/>
          </a:xfrm>
          <a:prstGeom prst="roundRect">
            <a:avLst>
              <a:gd name="adj" fmla="val 10909"/>
            </a:avLst>
          </a:prstGeom>
          <a:solidFill>
            <a:srgbClr val="F8FAFC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30" name="Text 28"/>
          <p:cNvSpPr/>
          <p:nvPr/>
        </p:nvSpPr>
        <p:spPr>
          <a:xfrm>
            <a:off x="5760720" y="155448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Dataflow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7132320" y="1554480"/>
            <a:ext cx="1005840" cy="502920"/>
          </a:xfrm>
          <a:prstGeom prst="roundRect">
            <a:avLst>
              <a:gd name="adj" fmla="val 10909"/>
            </a:avLst>
          </a:prstGeom>
          <a:solidFill>
            <a:srgbClr val="F8FAFC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32" name="Text 30"/>
          <p:cNvSpPr/>
          <p:nvPr/>
        </p:nvSpPr>
        <p:spPr>
          <a:xfrm>
            <a:off x="7132320" y="1554480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1463040" y="2377440"/>
            <a:ext cx="1188720" cy="502920"/>
          </a:xfrm>
          <a:prstGeom prst="roundRect">
            <a:avLst>
              <a:gd name="adj" fmla="val 10909"/>
            </a:avLst>
          </a:prstGeom>
          <a:solidFill>
            <a:srgbClr val="F8FAFC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34" name="Text 32"/>
          <p:cNvSpPr/>
          <p:nvPr/>
        </p:nvSpPr>
        <p:spPr>
          <a:xfrm>
            <a:off x="1463040" y="237744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Vertex AI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2834640" y="2377440"/>
            <a:ext cx="1097280" cy="502920"/>
          </a:xfrm>
          <a:prstGeom prst="roundRect">
            <a:avLst>
              <a:gd name="adj" fmla="val 10909"/>
            </a:avLst>
          </a:prstGeom>
          <a:solidFill>
            <a:srgbClr val="F8FAFC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36" name="Text 34"/>
          <p:cNvSpPr/>
          <p:nvPr/>
        </p:nvSpPr>
        <p:spPr>
          <a:xfrm>
            <a:off x="2834640" y="237744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Registry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4114800" y="2377440"/>
            <a:ext cx="1097280" cy="502920"/>
          </a:xfrm>
          <a:prstGeom prst="roundRect">
            <a:avLst>
              <a:gd name="adj" fmla="val 10909"/>
            </a:avLst>
          </a:prstGeom>
          <a:solidFill>
            <a:srgbClr val="F8FAFC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38" name="Text 36"/>
          <p:cNvSpPr/>
          <p:nvPr/>
        </p:nvSpPr>
        <p:spPr>
          <a:xfrm>
            <a:off x="4114800" y="237744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5394960" y="2377440"/>
            <a:ext cx="1188720" cy="502920"/>
          </a:xfrm>
          <a:prstGeom prst="roundRect">
            <a:avLst>
              <a:gd name="adj" fmla="val 10909"/>
            </a:avLst>
          </a:prstGeom>
          <a:solidFill>
            <a:srgbClr val="F8FAFC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40" name="Text 38"/>
          <p:cNvSpPr/>
          <p:nvPr/>
        </p:nvSpPr>
        <p:spPr>
          <a:xfrm>
            <a:off x="5394960" y="237744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(LangChain)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6766560" y="2377440"/>
            <a:ext cx="914400" cy="502920"/>
          </a:xfrm>
          <a:prstGeom prst="roundRect">
            <a:avLst>
              <a:gd name="adj" fmla="val 10909"/>
            </a:avLst>
          </a:prstGeom>
          <a:solidFill>
            <a:srgbClr val="F8FAFC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42" name="Text 40"/>
          <p:cNvSpPr/>
          <p:nvPr/>
        </p:nvSpPr>
        <p:spPr>
          <a:xfrm>
            <a:off x="6766560" y="237744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1463040" y="3200400"/>
            <a:ext cx="1188720" cy="502920"/>
          </a:xfrm>
          <a:prstGeom prst="roundRect">
            <a:avLst>
              <a:gd name="adj" fmla="val 10909"/>
            </a:avLst>
          </a:prstGeom>
          <a:solidFill>
            <a:srgbClr val="F8FAFC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44" name="Text 42"/>
          <p:cNvSpPr/>
          <p:nvPr/>
        </p:nvSpPr>
        <p:spPr>
          <a:xfrm>
            <a:off x="1463040" y="320040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Vertex AI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Endpoints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2834640" y="3200400"/>
            <a:ext cx="1097280" cy="502920"/>
          </a:xfrm>
          <a:prstGeom prst="roundRect">
            <a:avLst>
              <a:gd name="adj" fmla="val 10909"/>
            </a:avLst>
          </a:prstGeom>
          <a:solidFill>
            <a:srgbClr val="F8FAFC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46" name="Text 44"/>
          <p:cNvSpPr/>
          <p:nvPr/>
        </p:nvSpPr>
        <p:spPr>
          <a:xfrm>
            <a:off x="2834640" y="320040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Run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APIs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4114800" y="3200400"/>
            <a:ext cx="1097280" cy="502920"/>
          </a:xfrm>
          <a:prstGeom prst="roundRect">
            <a:avLst>
              <a:gd name="adj" fmla="val 10909"/>
            </a:avLst>
          </a:prstGeom>
          <a:solidFill>
            <a:srgbClr val="F8FAFC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48" name="Text 46"/>
          <p:cNvSpPr/>
          <p:nvPr/>
        </p:nvSpPr>
        <p:spPr>
          <a:xfrm>
            <a:off x="4114800" y="320040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GKE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5394960" y="3200400"/>
            <a:ext cx="1188720" cy="502920"/>
          </a:xfrm>
          <a:prstGeom prst="roundRect">
            <a:avLst>
              <a:gd name="adj" fmla="val 10909"/>
            </a:avLst>
          </a:prstGeom>
          <a:solidFill>
            <a:srgbClr val="F8FAFC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50" name="Text 48"/>
          <p:cNvSpPr/>
          <p:nvPr/>
        </p:nvSpPr>
        <p:spPr>
          <a:xfrm>
            <a:off x="5394960" y="320040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6766560" y="3200400"/>
            <a:ext cx="914400" cy="502920"/>
          </a:xfrm>
          <a:prstGeom prst="roundRect">
            <a:avLst>
              <a:gd name="adj" fmla="val 10909"/>
            </a:avLst>
          </a:prstGeom>
          <a:solidFill>
            <a:srgbClr val="F8FAFC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52" name="Text 50"/>
          <p:cNvSpPr/>
          <p:nvPr/>
        </p:nvSpPr>
        <p:spPr>
          <a:xfrm>
            <a:off x="6766560" y="320040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1463040" y="4023360"/>
            <a:ext cx="1188720" cy="502920"/>
          </a:xfrm>
          <a:prstGeom prst="roundRect">
            <a:avLst>
              <a:gd name="adj" fmla="val 10909"/>
            </a:avLst>
          </a:prstGeom>
          <a:solidFill>
            <a:srgbClr val="F8FAFC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54" name="Text 52"/>
          <p:cNvSpPr/>
          <p:nvPr/>
        </p:nvSpPr>
        <p:spPr>
          <a:xfrm>
            <a:off x="1463040" y="402336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2834640" y="4023360"/>
            <a:ext cx="1371600" cy="502920"/>
          </a:xfrm>
          <a:prstGeom prst="roundRect">
            <a:avLst>
              <a:gd name="adj" fmla="val 10909"/>
            </a:avLst>
          </a:prstGeom>
          <a:solidFill>
            <a:srgbClr val="F8FAFC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56" name="Text 54"/>
          <p:cNvSpPr/>
          <p:nvPr/>
        </p:nvSpPr>
        <p:spPr>
          <a:xfrm>
            <a:off x="2834640" y="402336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Evidently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Drift Detection</a:t>
            </a:r>
            <a:endParaRPr lang="en-US" sz="800" dirty="0"/>
          </a:p>
        </p:txBody>
      </p:sp>
      <p:sp>
        <p:nvSpPr>
          <p:cNvPr id="57" name="Shape 55"/>
          <p:cNvSpPr/>
          <p:nvPr/>
        </p:nvSpPr>
        <p:spPr>
          <a:xfrm>
            <a:off x="4389120" y="4023360"/>
            <a:ext cx="1188720" cy="502920"/>
          </a:xfrm>
          <a:prstGeom prst="roundRect">
            <a:avLst>
              <a:gd name="adj" fmla="val 10909"/>
            </a:avLst>
          </a:prstGeom>
          <a:solidFill>
            <a:srgbClr val="F8FAFC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58" name="Text 56"/>
          <p:cNvSpPr/>
          <p:nvPr/>
        </p:nvSpPr>
        <p:spPr>
          <a:xfrm>
            <a:off x="4389120" y="402336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MLflow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Experiments</a:t>
            </a:r>
            <a:endParaRPr lang="en-US" sz="800" dirty="0"/>
          </a:p>
        </p:txBody>
      </p:sp>
      <p:sp>
        <p:nvSpPr>
          <p:cNvPr id="59" name="Shape 57"/>
          <p:cNvSpPr/>
          <p:nvPr/>
        </p:nvSpPr>
        <p:spPr>
          <a:xfrm>
            <a:off x="5760720" y="4023360"/>
            <a:ext cx="1097280" cy="502920"/>
          </a:xfrm>
          <a:prstGeom prst="roundRect">
            <a:avLst>
              <a:gd name="adj" fmla="val 10909"/>
            </a:avLst>
          </a:prstGeom>
          <a:solidFill>
            <a:srgbClr val="F8FAFC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60" name="Text 58"/>
          <p:cNvSpPr/>
          <p:nvPr/>
        </p:nvSpPr>
        <p:spPr>
          <a:xfrm>
            <a:off x="5760720" y="402336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Logging</a:t>
            </a:r>
            <a:endParaRPr lang="en-US" sz="800" dirty="0"/>
          </a:p>
        </p:txBody>
      </p:sp>
      <p:sp>
        <p:nvSpPr>
          <p:cNvPr id="61" name="Shape 59"/>
          <p:cNvSpPr/>
          <p:nvPr/>
        </p:nvSpPr>
        <p:spPr>
          <a:xfrm>
            <a:off x="7040880" y="4023360"/>
            <a:ext cx="1097280" cy="502920"/>
          </a:xfrm>
          <a:prstGeom prst="roundRect">
            <a:avLst>
              <a:gd name="adj" fmla="val 10909"/>
            </a:avLst>
          </a:prstGeom>
          <a:solidFill>
            <a:srgbClr val="F8FAFC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62" name="Text 60"/>
          <p:cNvSpPr/>
          <p:nvPr/>
        </p:nvSpPr>
        <p:spPr>
          <a:xfrm>
            <a:off x="7040880" y="402336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Alerting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PagerDuty</a:t>
            </a:r>
            <a:endParaRPr lang="en-US" sz="800" dirty="0"/>
          </a:p>
        </p:txBody>
      </p:sp>
      <p:sp>
        <p:nvSpPr>
          <p:cNvPr id="63" name="Shape 61"/>
          <p:cNvSpPr/>
          <p:nvPr/>
        </p:nvSpPr>
        <p:spPr>
          <a:xfrm>
            <a:off x="1920240" y="1280160"/>
            <a:ext cx="0" cy="228600"/>
          </a:xfrm>
          <a:prstGeom prst="line">
            <a:avLst/>
          </a:prstGeom>
          <a:noFill/>
          <a:ln w="12700">
            <a:solidFill>
              <a:srgbClr val="6B7280"/>
            </a:solidFill>
            <a:prstDash val="dash"/>
          </a:ln>
        </p:spPr>
        <p:txBody>
          <a:bodyPr/>
          <a:lstStyle/>
          <a:p>
            <a:endParaRPr lang="en-AU"/>
          </a:p>
        </p:txBody>
      </p:sp>
      <p:sp>
        <p:nvSpPr>
          <p:cNvPr id="64" name="Shape 62"/>
          <p:cNvSpPr/>
          <p:nvPr/>
        </p:nvSpPr>
        <p:spPr>
          <a:xfrm>
            <a:off x="1920240" y="2103120"/>
            <a:ext cx="0" cy="228600"/>
          </a:xfrm>
          <a:prstGeom prst="line">
            <a:avLst/>
          </a:prstGeom>
          <a:noFill/>
          <a:ln w="12700">
            <a:solidFill>
              <a:srgbClr val="6B7280"/>
            </a:solidFill>
            <a:prstDash val="dash"/>
          </a:ln>
        </p:spPr>
        <p:txBody>
          <a:bodyPr/>
          <a:lstStyle/>
          <a:p>
            <a:endParaRPr lang="en-AU"/>
          </a:p>
        </p:txBody>
      </p:sp>
      <p:sp>
        <p:nvSpPr>
          <p:cNvPr id="65" name="Shape 63"/>
          <p:cNvSpPr/>
          <p:nvPr/>
        </p:nvSpPr>
        <p:spPr>
          <a:xfrm>
            <a:off x="1920240" y="2926080"/>
            <a:ext cx="0" cy="228600"/>
          </a:xfrm>
          <a:prstGeom prst="line">
            <a:avLst/>
          </a:prstGeom>
          <a:noFill/>
          <a:ln w="12700">
            <a:solidFill>
              <a:srgbClr val="6B7280"/>
            </a:solidFill>
            <a:prstDash val="dash"/>
          </a:ln>
        </p:spPr>
        <p:txBody>
          <a:bodyPr/>
          <a:lstStyle/>
          <a:p>
            <a:endParaRPr lang="en-AU"/>
          </a:p>
        </p:txBody>
      </p:sp>
      <p:sp>
        <p:nvSpPr>
          <p:cNvPr id="66" name="Shape 64"/>
          <p:cNvSpPr/>
          <p:nvPr/>
        </p:nvSpPr>
        <p:spPr>
          <a:xfrm>
            <a:off x="1920240" y="3749040"/>
            <a:ext cx="0" cy="228600"/>
          </a:xfrm>
          <a:prstGeom prst="line">
            <a:avLst/>
          </a:prstGeom>
          <a:noFill/>
          <a:ln w="12700">
            <a:solidFill>
              <a:srgbClr val="6B7280"/>
            </a:solidFill>
            <a:prstDash val="dash"/>
          </a:ln>
        </p:spPr>
        <p:txBody>
          <a:bodyPr/>
          <a:lstStyle/>
          <a:p>
            <a:endParaRPr lang="en-AU"/>
          </a:p>
        </p:txBody>
      </p:sp>
      <p:sp>
        <p:nvSpPr>
          <p:cNvPr id="67" name="Shape 65"/>
          <p:cNvSpPr/>
          <p:nvPr/>
        </p:nvSpPr>
        <p:spPr>
          <a:xfrm>
            <a:off x="3291840" y="1280160"/>
            <a:ext cx="0" cy="228600"/>
          </a:xfrm>
          <a:prstGeom prst="line">
            <a:avLst/>
          </a:prstGeom>
          <a:noFill/>
          <a:ln w="12700">
            <a:solidFill>
              <a:srgbClr val="6B7280"/>
            </a:solidFill>
            <a:prstDash val="dash"/>
          </a:ln>
        </p:spPr>
        <p:txBody>
          <a:bodyPr/>
          <a:lstStyle/>
          <a:p>
            <a:endParaRPr lang="en-AU"/>
          </a:p>
        </p:txBody>
      </p:sp>
      <p:sp>
        <p:nvSpPr>
          <p:cNvPr id="68" name="Shape 66"/>
          <p:cNvSpPr/>
          <p:nvPr/>
        </p:nvSpPr>
        <p:spPr>
          <a:xfrm>
            <a:off x="3291840" y="2103120"/>
            <a:ext cx="0" cy="228600"/>
          </a:xfrm>
          <a:prstGeom prst="line">
            <a:avLst/>
          </a:prstGeom>
          <a:noFill/>
          <a:ln w="12700">
            <a:solidFill>
              <a:srgbClr val="6B7280"/>
            </a:solidFill>
            <a:prstDash val="dash"/>
          </a:ln>
        </p:spPr>
        <p:txBody>
          <a:bodyPr/>
          <a:lstStyle/>
          <a:p>
            <a:endParaRPr lang="en-AU"/>
          </a:p>
        </p:txBody>
      </p:sp>
      <p:sp>
        <p:nvSpPr>
          <p:cNvPr id="69" name="Shape 67"/>
          <p:cNvSpPr/>
          <p:nvPr/>
        </p:nvSpPr>
        <p:spPr>
          <a:xfrm>
            <a:off x="3291840" y="2926080"/>
            <a:ext cx="0" cy="228600"/>
          </a:xfrm>
          <a:prstGeom prst="line">
            <a:avLst/>
          </a:prstGeom>
          <a:noFill/>
          <a:ln w="12700">
            <a:solidFill>
              <a:srgbClr val="6B7280"/>
            </a:solidFill>
            <a:prstDash val="dash"/>
          </a:ln>
        </p:spPr>
        <p:txBody>
          <a:bodyPr/>
          <a:lstStyle/>
          <a:p>
            <a:endParaRPr lang="en-AU"/>
          </a:p>
        </p:txBody>
      </p:sp>
      <p:sp>
        <p:nvSpPr>
          <p:cNvPr id="70" name="Shape 68"/>
          <p:cNvSpPr/>
          <p:nvPr/>
        </p:nvSpPr>
        <p:spPr>
          <a:xfrm>
            <a:off x="3291840" y="3749040"/>
            <a:ext cx="0" cy="228600"/>
          </a:xfrm>
          <a:prstGeom prst="line">
            <a:avLst/>
          </a:prstGeom>
          <a:noFill/>
          <a:ln w="12700">
            <a:solidFill>
              <a:srgbClr val="6B7280"/>
            </a:solidFill>
            <a:prstDash val="dash"/>
          </a:ln>
        </p:spPr>
        <p:txBody>
          <a:bodyPr/>
          <a:lstStyle/>
          <a:p>
            <a:endParaRPr lang="en-AU"/>
          </a:p>
        </p:txBody>
      </p:sp>
      <p:sp>
        <p:nvSpPr>
          <p:cNvPr id="71" name="Shape 69"/>
          <p:cNvSpPr/>
          <p:nvPr/>
        </p:nvSpPr>
        <p:spPr>
          <a:xfrm>
            <a:off x="4663440" y="1280160"/>
            <a:ext cx="0" cy="228600"/>
          </a:xfrm>
          <a:prstGeom prst="line">
            <a:avLst/>
          </a:prstGeom>
          <a:noFill/>
          <a:ln w="12700">
            <a:solidFill>
              <a:srgbClr val="6B7280"/>
            </a:solidFill>
            <a:prstDash val="dash"/>
          </a:ln>
        </p:spPr>
        <p:txBody>
          <a:bodyPr/>
          <a:lstStyle/>
          <a:p>
            <a:endParaRPr lang="en-AU"/>
          </a:p>
        </p:txBody>
      </p:sp>
      <p:sp>
        <p:nvSpPr>
          <p:cNvPr id="72" name="Shape 70"/>
          <p:cNvSpPr/>
          <p:nvPr/>
        </p:nvSpPr>
        <p:spPr>
          <a:xfrm>
            <a:off x="4663440" y="2103120"/>
            <a:ext cx="0" cy="228600"/>
          </a:xfrm>
          <a:prstGeom prst="line">
            <a:avLst/>
          </a:prstGeom>
          <a:noFill/>
          <a:ln w="12700">
            <a:solidFill>
              <a:srgbClr val="6B7280"/>
            </a:solidFill>
            <a:prstDash val="dash"/>
          </a:ln>
        </p:spPr>
        <p:txBody>
          <a:bodyPr/>
          <a:lstStyle/>
          <a:p>
            <a:endParaRPr lang="en-AU"/>
          </a:p>
        </p:txBody>
      </p:sp>
      <p:sp>
        <p:nvSpPr>
          <p:cNvPr id="73" name="Shape 71"/>
          <p:cNvSpPr/>
          <p:nvPr/>
        </p:nvSpPr>
        <p:spPr>
          <a:xfrm>
            <a:off x="4663440" y="2926080"/>
            <a:ext cx="0" cy="228600"/>
          </a:xfrm>
          <a:prstGeom prst="line">
            <a:avLst/>
          </a:prstGeom>
          <a:noFill/>
          <a:ln w="12700">
            <a:solidFill>
              <a:srgbClr val="6B7280"/>
            </a:solidFill>
            <a:prstDash val="dash"/>
          </a:ln>
        </p:spPr>
        <p:txBody>
          <a:bodyPr/>
          <a:lstStyle/>
          <a:p>
            <a:endParaRPr lang="en-AU"/>
          </a:p>
        </p:txBody>
      </p:sp>
      <p:sp>
        <p:nvSpPr>
          <p:cNvPr id="74" name="Shape 72"/>
          <p:cNvSpPr/>
          <p:nvPr/>
        </p:nvSpPr>
        <p:spPr>
          <a:xfrm>
            <a:off x="4663440" y="3749040"/>
            <a:ext cx="0" cy="228600"/>
          </a:xfrm>
          <a:prstGeom prst="line">
            <a:avLst/>
          </a:prstGeom>
          <a:noFill/>
          <a:ln w="12700">
            <a:solidFill>
              <a:srgbClr val="6B7280"/>
            </a:solidFill>
            <a:prstDash val="dash"/>
          </a:ln>
        </p:spPr>
        <p:txBody>
          <a:bodyPr/>
          <a:lstStyle/>
          <a:p>
            <a:endParaRPr lang="en-AU"/>
          </a:p>
        </p:txBody>
      </p:sp>
      <p:sp>
        <p:nvSpPr>
          <p:cNvPr id="75" name="Shape 73"/>
          <p:cNvSpPr/>
          <p:nvPr/>
        </p:nvSpPr>
        <p:spPr>
          <a:xfrm>
            <a:off x="5943600" y="1280160"/>
            <a:ext cx="0" cy="228600"/>
          </a:xfrm>
          <a:prstGeom prst="line">
            <a:avLst/>
          </a:prstGeom>
          <a:noFill/>
          <a:ln w="12700">
            <a:solidFill>
              <a:srgbClr val="6B7280"/>
            </a:solidFill>
            <a:prstDash val="dash"/>
          </a:ln>
        </p:spPr>
        <p:txBody>
          <a:bodyPr/>
          <a:lstStyle/>
          <a:p>
            <a:endParaRPr lang="en-AU"/>
          </a:p>
        </p:txBody>
      </p:sp>
      <p:sp>
        <p:nvSpPr>
          <p:cNvPr id="76" name="Shape 74"/>
          <p:cNvSpPr/>
          <p:nvPr/>
        </p:nvSpPr>
        <p:spPr>
          <a:xfrm>
            <a:off x="5943600" y="2103120"/>
            <a:ext cx="0" cy="228600"/>
          </a:xfrm>
          <a:prstGeom prst="line">
            <a:avLst/>
          </a:prstGeom>
          <a:noFill/>
          <a:ln w="12700">
            <a:solidFill>
              <a:srgbClr val="6B7280"/>
            </a:solidFill>
            <a:prstDash val="dash"/>
          </a:ln>
        </p:spPr>
        <p:txBody>
          <a:bodyPr/>
          <a:lstStyle/>
          <a:p>
            <a:endParaRPr lang="en-AU"/>
          </a:p>
        </p:txBody>
      </p:sp>
      <p:sp>
        <p:nvSpPr>
          <p:cNvPr id="77" name="Shape 75"/>
          <p:cNvSpPr/>
          <p:nvPr/>
        </p:nvSpPr>
        <p:spPr>
          <a:xfrm>
            <a:off x="5943600" y="2926080"/>
            <a:ext cx="0" cy="228600"/>
          </a:xfrm>
          <a:prstGeom prst="line">
            <a:avLst/>
          </a:prstGeom>
          <a:noFill/>
          <a:ln w="12700">
            <a:solidFill>
              <a:srgbClr val="6B7280"/>
            </a:solidFill>
            <a:prstDash val="dash"/>
          </a:ln>
        </p:spPr>
        <p:txBody>
          <a:bodyPr/>
          <a:lstStyle/>
          <a:p>
            <a:endParaRPr lang="en-AU"/>
          </a:p>
        </p:txBody>
      </p:sp>
      <p:sp>
        <p:nvSpPr>
          <p:cNvPr id="78" name="Shape 76"/>
          <p:cNvSpPr/>
          <p:nvPr/>
        </p:nvSpPr>
        <p:spPr>
          <a:xfrm>
            <a:off x="5943600" y="3749040"/>
            <a:ext cx="0" cy="228600"/>
          </a:xfrm>
          <a:prstGeom prst="line">
            <a:avLst/>
          </a:prstGeom>
          <a:noFill/>
          <a:ln w="12700">
            <a:solidFill>
              <a:srgbClr val="6B7280"/>
            </a:solidFill>
            <a:prstDash val="dash"/>
          </a:ln>
        </p:spPr>
        <p:txBody>
          <a:bodyPr/>
          <a:lstStyle/>
          <a:p>
            <a:endParaRPr lang="en-AU"/>
          </a:p>
        </p:txBody>
      </p:sp>
      <p:sp>
        <p:nvSpPr>
          <p:cNvPr id="79" name="Shape 77"/>
          <p:cNvSpPr/>
          <p:nvPr/>
        </p:nvSpPr>
        <p:spPr>
          <a:xfrm>
            <a:off x="7132320" y="1280160"/>
            <a:ext cx="0" cy="228600"/>
          </a:xfrm>
          <a:prstGeom prst="line">
            <a:avLst/>
          </a:prstGeom>
          <a:noFill/>
          <a:ln w="12700">
            <a:solidFill>
              <a:srgbClr val="6B7280"/>
            </a:solidFill>
            <a:prstDash val="dash"/>
          </a:ln>
        </p:spPr>
        <p:txBody>
          <a:bodyPr/>
          <a:lstStyle/>
          <a:p>
            <a:endParaRPr lang="en-AU"/>
          </a:p>
        </p:txBody>
      </p:sp>
      <p:sp>
        <p:nvSpPr>
          <p:cNvPr id="80" name="Shape 78"/>
          <p:cNvSpPr/>
          <p:nvPr/>
        </p:nvSpPr>
        <p:spPr>
          <a:xfrm>
            <a:off x="7132320" y="2103120"/>
            <a:ext cx="0" cy="228600"/>
          </a:xfrm>
          <a:prstGeom prst="line">
            <a:avLst/>
          </a:prstGeom>
          <a:noFill/>
          <a:ln w="12700">
            <a:solidFill>
              <a:srgbClr val="6B7280"/>
            </a:solidFill>
            <a:prstDash val="dash"/>
          </a:ln>
        </p:spPr>
        <p:txBody>
          <a:bodyPr/>
          <a:lstStyle/>
          <a:p>
            <a:endParaRPr lang="en-AU"/>
          </a:p>
        </p:txBody>
      </p:sp>
      <p:sp>
        <p:nvSpPr>
          <p:cNvPr id="81" name="Shape 79"/>
          <p:cNvSpPr/>
          <p:nvPr/>
        </p:nvSpPr>
        <p:spPr>
          <a:xfrm>
            <a:off x="7132320" y="2926080"/>
            <a:ext cx="0" cy="228600"/>
          </a:xfrm>
          <a:prstGeom prst="line">
            <a:avLst/>
          </a:prstGeom>
          <a:noFill/>
          <a:ln w="12700">
            <a:solidFill>
              <a:srgbClr val="6B7280"/>
            </a:solidFill>
            <a:prstDash val="dash"/>
          </a:ln>
        </p:spPr>
        <p:txBody>
          <a:bodyPr/>
          <a:lstStyle/>
          <a:p>
            <a:endParaRPr lang="en-AU"/>
          </a:p>
        </p:txBody>
      </p:sp>
      <p:sp>
        <p:nvSpPr>
          <p:cNvPr id="82" name="Shape 80"/>
          <p:cNvSpPr/>
          <p:nvPr/>
        </p:nvSpPr>
        <p:spPr>
          <a:xfrm>
            <a:off x="7132320" y="3749040"/>
            <a:ext cx="0" cy="228600"/>
          </a:xfrm>
          <a:prstGeom prst="line">
            <a:avLst/>
          </a:prstGeom>
          <a:noFill/>
          <a:ln w="12700">
            <a:solidFill>
              <a:srgbClr val="6B7280"/>
            </a:solidFill>
            <a:prstDash val="dash"/>
          </a:ln>
        </p:spPr>
        <p:txBody>
          <a:bodyPr/>
          <a:lstStyle/>
          <a:p>
            <a:endParaRPr lang="en-AU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64592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 ML Model Training Pipeline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731520" y="283464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8D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models are trained, validated, and deployed on GCP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31520" y="73152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AU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9536" y="859536"/>
            <a:ext cx="384048" cy="384048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ML Model Training Pipeline — Detailed Flow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274320" y="5943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Data Sources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1280160" cy="411480"/>
          </a:xfrm>
          <a:prstGeom prst="roundRect">
            <a:avLst>
              <a:gd name="adj" fmla="val 17778"/>
            </a:avLst>
          </a:prstGeom>
          <a:solidFill>
            <a:srgbClr val="065A82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5" name="Text 3"/>
          <p:cNvSpPr/>
          <p:nvPr/>
        </p:nvSpPr>
        <p:spPr>
          <a:xfrm>
            <a:off x="274320" y="86868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BigQuery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Loan Data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1691640" y="868680"/>
            <a:ext cx="1280160" cy="411480"/>
          </a:xfrm>
          <a:prstGeom prst="roundRect">
            <a:avLst>
              <a:gd name="adj" fmla="val 17778"/>
            </a:avLst>
          </a:prstGeom>
          <a:solidFill>
            <a:srgbClr val="1C7293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7" name="Text 5"/>
          <p:cNvSpPr/>
          <p:nvPr/>
        </p:nvSpPr>
        <p:spPr>
          <a:xfrm>
            <a:off x="1691640" y="86868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Bureau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APIs</a:t>
            </a:r>
            <a:endParaRPr lang="en-US" sz="9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08960" y="932688"/>
            <a:ext cx="457200" cy="2743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3657600" y="594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Feature Engineering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3657600" y="868680"/>
            <a:ext cx="1645920" cy="411480"/>
          </a:xfrm>
          <a:prstGeom prst="roundRect">
            <a:avLst>
              <a:gd name="adj" fmla="val 17778"/>
            </a:avLst>
          </a:prstGeom>
          <a:solidFill>
            <a:srgbClr val="7C3AED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11" name="Text 8"/>
          <p:cNvSpPr/>
          <p:nvPr/>
        </p:nvSpPr>
        <p:spPr>
          <a:xfrm>
            <a:off x="3657600" y="86868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Vertex AI Feature Store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(Online + Offline)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5440680" y="868680"/>
            <a:ext cx="1463040" cy="411480"/>
          </a:xfrm>
          <a:prstGeom prst="roundRect">
            <a:avLst>
              <a:gd name="adj" fmla="val 17778"/>
            </a:avLst>
          </a:prstGeom>
          <a:solidFill>
            <a:srgbClr val="059669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13" name="Text 10"/>
          <p:cNvSpPr/>
          <p:nvPr/>
        </p:nvSpPr>
        <p:spPr>
          <a:xfrm>
            <a:off x="5440680" y="86868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Dataflow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Transformations</a:t>
            </a:r>
            <a:endParaRPr lang="en-US" sz="900" dirty="0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0880" y="932688"/>
            <a:ext cx="457200" cy="274320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7589520" y="868680"/>
            <a:ext cx="1188720" cy="411480"/>
          </a:xfrm>
          <a:prstGeom prst="roundRect">
            <a:avLst>
              <a:gd name="adj" fmla="val 17778"/>
            </a:avLst>
          </a:prstGeom>
          <a:solidFill>
            <a:srgbClr val="0891B2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16" name="Text 12"/>
          <p:cNvSpPr/>
          <p:nvPr/>
        </p:nvSpPr>
        <p:spPr>
          <a:xfrm>
            <a:off x="7589520" y="86868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Vectors</a:t>
            </a:r>
            <a:endParaRPr lang="en-US" sz="900" dirty="0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9120" y="1371600"/>
            <a:ext cx="182880" cy="32004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274320" y="1783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Model Training (Vertex AI)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274320" y="2103120"/>
            <a:ext cx="1371600" cy="502920"/>
          </a:xfrm>
          <a:prstGeom prst="roundRect">
            <a:avLst>
              <a:gd name="adj" fmla="val 14545"/>
            </a:avLst>
          </a:prstGeom>
          <a:solidFill>
            <a:srgbClr val="065A82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20" name="Text 15"/>
          <p:cNvSpPr/>
          <p:nvPr/>
        </p:nvSpPr>
        <p:spPr>
          <a:xfrm>
            <a:off x="274320" y="210312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(Credit Scoring)</a:t>
            </a:r>
            <a:endParaRPr lang="en-US" sz="900" dirty="0"/>
          </a:p>
        </p:txBody>
      </p:sp>
      <p:sp>
        <p:nvSpPr>
          <p:cNvPr id="21" name="Shape 16"/>
          <p:cNvSpPr/>
          <p:nvPr/>
        </p:nvSpPr>
        <p:spPr>
          <a:xfrm>
            <a:off x="1828800" y="2103120"/>
            <a:ext cx="1371600" cy="502920"/>
          </a:xfrm>
          <a:prstGeom prst="roundRect">
            <a:avLst>
              <a:gd name="adj" fmla="val 14545"/>
            </a:avLst>
          </a:prstGeom>
          <a:solidFill>
            <a:srgbClr val="7C3AED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22" name="Text 17"/>
          <p:cNvSpPr/>
          <p:nvPr/>
        </p:nvSpPr>
        <p:spPr>
          <a:xfrm>
            <a:off x="1828800" y="210312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TensorFlow DNN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(Risk Assessment)</a:t>
            </a:r>
            <a:endParaRPr lang="en-US" sz="900" dirty="0"/>
          </a:p>
        </p:txBody>
      </p:sp>
      <p:sp>
        <p:nvSpPr>
          <p:cNvPr id="23" name="Shape 18"/>
          <p:cNvSpPr/>
          <p:nvPr/>
        </p:nvSpPr>
        <p:spPr>
          <a:xfrm>
            <a:off x="3383280" y="2103120"/>
            <a:ext cx="1371600" cy="502920"/>
          </a:xfrm>
          <a:prstGeom prst="roundRect">
            <a:avLst>
              <a:gd name="adj" fmla="val 14545"/>
            </a:avLst>
          </a:prstGeom>
          <a:solidFill>
            <a:srgbClr val="1C7293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24" name="Text 19"/>
          <p:cNvSpPr/>
          <p:nvPr/>
        </p:nvSpPr>
        <p:spPr>
          <a:xfrm>
            <a:off x="3383280" y="210312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PyTorch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(Fraud Detection)</a:t>
            </a:r>
            <a:endParaRPr lang="en-US" sz="900" dirty="0"/>
          </a:p>
        </p:txBody>
      </p:sp>
      <p:sp>
        <p:nvSpPr>
          <p:cNvPr id="25" name="Shape 20"/>
          <p:cNvSpPr/>
          <p:nvPr/>
        </p:nvSpPr>
        <p:spPr>
          <a:xfrm>
            <a:off x="4937760" y="2103120"/>
            <a:ext cx="1463040" cy="502920"/>
          </a:xfrm>
          <a:prstGeom prst="roundRect">
            <a:avLst>
              <a:gd name="adj" fmla="val 14545"/>
            </a:avLst>
          </a:prstGeom>
          <a:solidFill>
            <a:srgbClr val="059669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26" name="Text 21"/>
          <p:cNvSpPr/>
          <p:nvPr/>
        </p:nvSpPr>
        <p:spPr>
          <a:xfrm>
            <a:off x="4937760" y="210312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AutoML Tables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(Baseline Models)</a:t>
            </a:r>
            <a:endParaRPr lang="en-US" sz="900" dirty="0"/>
          </a:p>
        </p:txBody>
      </p:sp>
      <p:sp>
        <p:nvSpPr>
          <p:cNvPr id="27" name="Shape 22"/>
          <p:cNvSpPr/>
          <p:nvPr/>
        </p:nvSpPr>
        <p:spPr>
          <a:xfrm>
            <a:off x="6675120" y="2103120"/>
            <a:ext cx="2011680" cy="502920"/>
          </a:xfrm>
          <a:prstGeom prst="roundRect">
            <a:avLst>
              <a:gd name="adj" fmla="val 14545"/>
            </a:avLst>
          </a:prstGeom>
          <a:solidFill>
            <a:srgbClr val="D97706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28" name="Text 23"/>
          <p:cNvSpPr/>
          <p:nvPr/>
        </p:nvSpPr>
        <p:spPr>
          <a:xfrm>
            <a:off x="6675120" y="210312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MLflow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 Tracking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Hyperparameter Tuning</a:t>
            </a:r>
            <a:endParaRPr lang="en-US" sz="900" dirty="0"/>
          </a:p>
        </p:txBody>
      </p:sp>
      <p:pic>
        <p:nvPicPr>
          <p:cNvPr id="29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3200" y="2697480"/>
            <a:ext cx="182880" cy="320040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274320" y="31089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Model Validation &amp; Testing</a:t>
            </a:r>
            <a:endParaRPr lang="en-US" sz="1000" dirty="0"/>
          </a:p>
        </p:txBody>
      </p:sp>
      <p:sp>
        <p:nvSpPr>
          <p:cNvPr id="31" name="Shape 25"/>
          <p:cNvSpPr/>
          <p:nvPr/>
        </p:nvSpPr>
        <p:spPr>
          <a:xfrm>
            <a:off x="274320" y="3383280"/>
            <a:ext cx="1645920" cy="411480"/>
          </a:xfrm>
          <a:prstGeom prst="roundRect">
            <a:avLst>
              <a:gd name="adj" fmla="val 17778"/>
            </a:avLst>
          </a:prstGeom>
          <a:solidFill>
            <a:srgbClr val="065A82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32" name="Text 26"/>
          <p:cNvSpPr/>
          <p:nvPr/>
        </p:nvSpPr>
        <p:spPr>
          <a:xfrm>
            <a:off x="274320" y="338328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Cross-Validation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AUC-ROC / KS / Gini</a:t>
            </a:r>
            <a:endParaRPr lang="en-US" sz="900" dirty="0"/>
          </a:p>
        </p:txBody>
      </p:sp>
      <p:sp>
        <p:nvSpPr>
          <p:cNvPr id="33" name="Shape 27"/>
          <p:cNvSpPr/>
          <p:nvPr/>
        </p:nvSpPr>
        <p:spPr>
          <a:xfrm>
            <a:off x="2103120" y="3383280"/>
            <a:ext cx="1645920" cy="411480"/>
          </a:xfrm>
          <a:prstGeom prst="roundRect">
            <a:avLst>
              <a:gd name="adj" fmla="val 17778"/>
            </a:avLst>
          </a:prstGeom>
          <a:solidFill>
            <a:srgbClr val="7C3AED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34" name="Text 28"/>
          <p:cNvSpPr/>
          <p:nvPr/>
        </p:nvSpPr>
        <p:spPr>
          <a:xfrm>
            <a:off x="2103120" y="338328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Fairness Audit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(Aequitas / SHAP)</a:t>
            </a:r>
            <a:endParaRPr lang="en-US" sz="900" dirty="0"/>
          </a:p>
        </p:txBody>
      </p:sp>
      <p:sp>
        <p:nvSpPr>
          <p:cNvPr id="35" name="Shape 29"/>
          <p:cNvSpPr/>
          <p:nvPr/>
        </p:nvSpPr>
        <p:spPr>
          <a:xfrm>
            <a:off x="3931920" y="3383280"/>
            <a:ext cx="1463040" cy="411480"/>
          </a:xfrm>
          <a:prstGeom prst="roundRect">
            <a:avLst>
              <a:gd name="adj" fmla="val 17778"/>
            </a:avLst>
          </a:prstGeom>
          <a:solidFill>
            <a:srgbClr val="1C7293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36" name="Text 30"/>
          <p:cNvSpPr/>
          <p:nvPr/>
        </p:nvSpPr>
        <p:spPr>
          <a:xfrm>
            <a:off x="3931920" y="338328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Champion-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Challenger Test</a:t>
            </a:r>
            <a:endParaRPr lang="en-US" sz="900" dirty="0"/>
          </a:p>
        </p:txBody>
      </p:sp>
      <p:sp>
        <p:nvSpPr>
          <p:cNvPr id="37" name="Shape 31"/>
          <p:cNvSpPr/>
          <p:nvPr/>
        </p:nvSpPr>
        <p:spPr>
          <a:xfrm>
            <a:off x="5577840" y="3383280"/>
            <a:ext cx="1463040" cy="411480"/>
          </a:xfrm>
          <a:prstGeom prst="roundRect">
            <a:avLst>
              <a:gd name="adj" fmla="val 17778"/>
            </a:avLst>
          </a:prstGeom>
          <a:solidFill>
            <a:srgbClr val="0891B2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38" name="Text 32"/>
          <p:cNvSpPr/>
          <p:nvPr/>
        </p:nvSpPr>
        <p:spPr>
          <a:xfrm>
            <a:off x="5577840" y="338328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Shadow Mode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900" dirty="0"/>
          </a:p>
        </p:txBody>
      </p:sp>
      <p:pic>
        <p:nvPicPr>
          <p:cNvPr id="39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8040" y="3456432"/>
            <a:ext cx="457200" cy="274320"/>
          </a:xfrm>
          <a:prstGeom prst="rect">
            <a:avLst/>
          </a:prstGeom>
        </p:spPr>
      </p:pic>
      <p:sp>
        <p:nvSpPr>
          <p:cNvPr id="40" name="Shape 33"/>
          <p:cNvSpPr/>
          <p:nvPr/>
        </p:nvSpPr>
        <p:spPr>
          <a:xfrm>
            <a:off x="7680960" y="3383280"/>
            <a:ext cx="1097280" cy="411480"/>
          </a:xfrm>
          <a:prstGeom prst="roundRect">
            <a:avLst>
              <a:gd name="adj" fmla="val 17778"/>
            </a:avLst>
          </a:prstGeom>
          <a:solidFill>
            <a:srgbClr val="059669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41" name="Text 34"/>
          <p:cNvSpPr/>
          <p:nvPr/>
        </p:nvSpPr>
        <p:spPr>
          <a:xfrm>
            <a:off x="7680960" y="338328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Registry</a:t>
            </a:r>
            <a:endParaRPr lang="en-US" sz="900" dirty="0"/>
          </a:p>
        </p:txBody>
      </p:sp>
      <p:pic>
        <p:nvPicPr>
          <p:cNvPr id="42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31920" y="3886200"/>
            <a:ext cx="182880" cy="320040"/>
          </a:xfrm>
          <a:prstGeom prst="rect">
            <a:avLst/>
          </a:prstGeom>
        </p:spPr>
      </p:pic>
      <p:sp>
        <p:nvSpPr>
          <p:cNvPr id="43" name="Text 35"/>
          <p:cNvSpPr/>
          <p:nvPr/>
        </p:nvSpPr>
        <p:spPr>
          <a:xfrm>
            <a:off x="274320" y="42976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Deployment</a:t>
            </a:r>
            <a:endParaRPr lang="en-US" sz="1000" dirty="0"/>
          </a:p>
        </p:txBody>
      </p:sp>
      <p:sp>
        <p:nvSpPr>
          <p:cNvPr id="44" name="Shape 36"/>
          <p:cNvSpPr/>
          <p:nvPr/>
        </p:nvSpPr>
        <p:spPr>
          <a:xfrm>
            <a:off x="274320" y="4526280"/>
            <a:ext cx="1645920" cy="411480"/>
          </a:xfrm>
          <a:prstGeom prst="roundRect">
            <a:avLst>
              <a:gd name="adj" fmla="val 17778"/>
            </a:avLst>
          </a:prstGeom>
          <a:solidFill>
            <a:srgbClr val="065A82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45" name="Text 37"/>
          <p:cNvSpPr/>
          <p:nvPr/>
        </p:nvSpPr>
        <p:spPr>
          <a:xfrm>
            <a:off x="274320" y="452628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Vertex AI Endpoint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(Real-time Serving)</a:t>
            </a:r>
            <a:endParaRPr lang="en-US" sz="900" dirty="0"/>
          </a:p>
        </p:txBody>
      </p:sp>
      <p:sp>
        <p:nvSpPr>
          <p:cNvPr id="46" name="Shape 38"/>
          <p:cNvSpPr/>
          <p:nvPr/>
        </p:nvSpPr>
        <p:spPr>
          <a:xfrm>
            <a:off x="2103120" y="4526280"/>
            <a:ext cx="1645920" cy="411480"/>
          </a:xfrm>
          <a:prstGeom prst="roundRect">
            <a:avLst>
              <a:gd name="adj" fmla="val 17778"/>
            </a:avLst>
          </a:prstGeom>
          <a:solidFill>
            <a:srgbClr val="1C7293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47" name="Text 39"/>
          <p:cNvSpPr/>
          <p:nvPr/>
        </p:nvSpPr>
        <p:spPr>
          <a:xfrm>
            <a:off x="2103120" y="452628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Dataflow Batch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(Portfolio Scoring)</a:t>
            </a:r>
            <a:endParaRPr lang="en-US" sz="900" dirty="0"/>
          </a:p>
        </p:txBody>
      </p:sp>
      <p:sp>
        <p:nvSpPr>
          <p:cNvPr id="48" name="Shape 40"/>
          <p:cNvSpPr/>
          <p:nvPr/>
        </p:nvSpPr>
        <p:spPr>
          <a:xfrm>
            <a:off x="3931920" y="4526280"/>
            <a:ext cx="1645920" cy="411480"/>
          </a:xfrm>
          <a:prstGeom prst="roundRect">
            <a:avLst>
              <a:gd name="adj" fmla="val 17778"/>
            </a:avLst>
          </a:prstGeom>
          <a:solidFill>
            <a:srgbClr val="D97706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49" name="Text 41"/>
          <p:cNvSpPr/>
          <p:nvPr/>
        </p:nvSpPr>
        <p:spPr>
          <a:xfrm>
            <a:off x="3931920" y="452628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Monitoring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Evidently AI</a:t>
            </a:r>
            <a:endParaRPr lang="en-US" sz="900" dirty="0"/>
          </a:p>
        </p:txBody>
      </p:sp>
      <p:sp>
        <p:nvSpPr>
          <p:cNvPr id="50" name="Shape 42"/>
          <p:cNvSpPr/>
          <p:nvPr/>
        </p:nvSpPr>
        <p:spPr>
          <a:xfrm>
            <a:off x="5760720" y="4526280"/>
            <a:ext cx="1645920" cy="411480"/>
          </a:xfrm>
          <a:prstGeom prst="roundRect">
            <a:avLst>
              <a:gd name="adj" fmla="val 17778"/>
            </a:avLst>
          </a:prstGeom>
          <a:solidFill>
            <a:srgbClr val="DC2626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51" name="Text 43"/>
          <p:cNvSpPr/>
          <p:nvPr/>
        </p:nvSpPr>
        <p:spPr>
          <a:xfrm>
            <a:off x="5760720" y="452628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Auto-Retrain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 (Drift)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ML Model Training — Key Details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2651760" cy="38404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2651760" cy="411480"/>
          </a:xfrm>
          <a:prstGeom prst="roundRect">
            <a:avLst>
              <a:gd name="adj" fmla="val 17778"/>
            </a:avLst>
          </a:prstGeom>
          <a:solidFill>
            <a:srgbClr val="065A82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5" name="Text 3"/>
          <p:cNvSpPr/>
          <p:nvPr/>
        </p:nvSpPr>
        <p:spPr>
          <a:xfrm>
            <a:off x="548640" y="886968"/>
            <a:ext cx="246888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Scoring Model (XGBoost)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94360" y="1371600"/>
            <a:ext cx="23774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1A1A2E"/>
                </a:solidFill>
              </a:rPr>
              <a:t>Dataset: </a:t>
            </a:r>
            <a:r>
              <a:rPr lang="en-US" sz="950" dirty="0">
                <a:solidFill>
                  <a:srgbClr val="374151"/>
                </a:solidFill>
              </a:rPr>
              <a:t>2.5M historical loan records from BigQuery</a:t>
            </a:r>
            <a:endParaRPr lang="en-US" sz="950" dirty="0"/>
          </a:p>
          <a:p>
            <a:pPr marL="0" indent="0">
              <a:buNone/>
            </a:pPr>
            <a:r>
              <a:rPr lang="en-US" sz="950" b="1" dirty="0">
                <a:solidFill>
                  <a:srgbClr val="1A1A2E"/>
                </a:solidFill>
              </a:rPr>
              <a:t>Features: </a:t>
            </a:r>
            <a:r>
              <a:rPr lang="en-US" sz="950" dirty="0">
                <a:solidFill>
                  <a:srgbClr val="374151"/>
                </a:solidFill>
              </a:rPr>
              <a:t>180+ engineered features (bureau, income, employment, behavioral)</a:t>
            </a:r>
            <a:endParaRPr lang="en-US" sz="950" dirty="0"/>
          </a:p>
          <a:p>
            <a:pPr marL="0" indent="0">
              <a:buNone/>
            </a:pPr>
            <a:r>
              <a:rPr lang="en-US" sz="950" b="1" dirty="0">
                <a:solidFill>
                  <a:srgbClr val="1A1A2E"/>
                </a:solidFill>
              </a:rPr>
              <a:t>Target: </a:t>
            </a:r>
            <a:r>
              <a:rPr lang="en-US" sz="950" dirty="0">
                <a:solidFill>
                  <a:srgbClr val="374151"/>
                </a:solidFill>
              </a:rPr>
              <a:t>Binary default (PD) + LGD regression</a:t>
            </a:r>
            <a:endParaRPr lang="en-US" sz="950" dirty="0"/>
          </a:p>
          <a:p>
            <a:pPr marL="0" indent="0">
              <a:buNone/>
            </a:pPr>
            <a:r>
              <a:rPr lang="en-US" sz="950" b="1" dirty="0">
                <a:solidFill>
                  <a:srgbClr val="1A1A2E"/>
                </a:solidFill>
              </a:rPr>
              <a:t>Training: </a:t>
            </a:r>
            <a:r>
              <a:rPr lang="en-US" sz="950" dirty="0">
                <a:solidFill>
                  <a:srgbClr val="374151"/>
                </a:solidFill>
              </a:rPr>
              <a:t>Vertex AI Custom Training with HPO (Bayesian)</a:t>
            </a:r>
            <a:endParaRPr lang="en-US" sz="950" dirty="0"/>
          </a:p>
          <a:p>
            <a:pPr marL="0" indent="0">
              <a:buNone/>
            </a:pPr>
            <a:r>
              <a:rPr lang="en-US" sz="950" b="1" dirty="0">
                <a:solidFill>
                  <a:srgbClr val="1A1A2E"/>
                </a:solidFill>
              </a:rPr>
              <a:t>Metrics: </a:t>
            </a:r>
            <a:r>
              <a:rPr lang="en-US" sz="950" dirty="0">
                <a:solidFill>
                  <a:srgbClr val="374151"/>
                </a:solidFill>
              </a:rPr>
              <a:t>AUC-ROC 0.89, KS 0.62, Gini 0.78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3291840" y="868680"/>
            <a:ext cx="2651760" cy="38404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8" name="Shape 6"/>
          <p:cNvSpPr/>
          <p:nvPr/>
        </p:nvSpPr>
        <p:spPr>
          <a:xfrm>
            <a:off x="3291840" y="868680"/>
            <a:ext cx="2651760" cy="411480"/>
          </a:xfrm>
          <a:prstGeom prst="roundRect">
            <a:avLst>
              <a:gd name="adj" fmla="val 17778"/>
            </a:avLst>
          </a:prstGeom>
          <a:solidFill>
            <a:srgbClr val="7C3AED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9" name="Text 7"/>
          <p:cNvSpPr/>
          <p:nvPr/>
        </p:nvSpPr>
        <p:spPr>
          <a:xfrm>
            <a:off x="3383280" y="886968"/>
            <a:ext cx="246888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Assessment DNN (TensorFlow)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429000" y="1371600"/>
            <a:ext cx="23774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1A1A2E"/>
                </a:solidFill>
              </a:rPr>
              <a:t>Architecture: </a:t>
            </a:r>
            <a:r>
              <a:rPr lang="en-US" sz="950" dirty="0">
                <a:solidFill>
                  <a:srgbClr val="374151"/>
                </a:solidFill>
              </a:rPr>
              <a:t>4-layer DNN with dropout + batch norm</a:t>
            </a:r>
            <a:endParaRPr lang="en-US" sz="950" dirty="0"/>
          </a:p>
          <a:p>
            <a:pPr marL="0" indent="0">
              <a:buNone/>
            </a:pPr>
            <a:r>
              <a:rPr lang="en-US" sz="950" b="1" dirty="0">
                <a:solidFill>
                  <a:srgbClr val="1A1A2E"/>
                </a:solidFill>
              </a:rPr>
              <a:t>Hardware: </a:t>
            </a:r>
            <a:r>
              <a:rPr lang="en-US" sz="950" dirty="0">
                <a:solidFill>
                  <a:srgbClr val="374151"/>
                </a:solidFill>
              </a:rPr>
              <a:t>TPU v3-8 pods on Vertex AI</a:t>
            </a:r>
            <a:endParaRPr lang="en-US" sz="950" dirty="0"/>
          </a:p>
          <a:p>
            <a:pPr marL="0" indent="0">
              <a:buNone/>
            </a:pPr>
            <a:r>
              <a:rPr lang="en-US" sz="950" b="1" dirty="0">
                <a:solidFill>
                  <a:srgbClr val="1A1A2E"/>
                </a:solidFill>
              </a:rPr>
              <a:t>Features: </a:t>
            </a:r>
            <a:r>
              <a:rPr lang="en-US" sz="950" dirty="0">
                <a:solidFill>
                  <a:srgbClr val="374151"/>
                </a:solidFill>
              </a:rPr>
              <a:t>Tabular + sequential payment history (LSTM branch)</a:t>
            </a:r>
            <a:endParaRPr lang="en-US" sz="950" dirty="0"/>
          </a:p>
          <a:p>
            <a:pPr marL="0" indent="0">
              <a:buNone/>
            </a:pPr>
            <a:r>
              <a:rPr lang="en-US" sz="950" b="1" dirty="0">
                <a:solidFill>
                  <a:srgbClr val="1A1A2E"/>
                </a:solidFill>
              </a:rPr>
              <a:t>Training: </a:t>
            </a:r>
            <a:r>
              <a:rPr lang="en-US" sz="950" dirty="0">
                <a:solidFill>
                  <a:srgbClr val="374151"/>
                </a:solidFill>
              </a:rPr>
              <a:t>Distributed training with tf.distribute.Strategy</a:t>
            </a:r>
            <a:endParaRPr lang="en-US" sz="950" dirty="0"/>
          </a:p>
          <a:p>
            <a:pPr marL="0" indent="0">
              <a:buNone/>
            </a:pPr>
            <a:r>
              <a:rPr lang="en-US" sz="950" b="1" dirty="0">
                <a:solidFill>
                  <a:srgbClr val="1A1A2E"/>
                </a:solidFill>
              </a:rPr>
              <a:t>Metrics: </a:t>
            </a:r>
            <a:r>
              <a:rPr lang="en-US" sz="950" dirty="0">
                <a:solidFill>
                  <a:srgbClr val="374151"/>
                </a:solidFill>
              </a:rPr>
              <a:t>AUC 0.91, calibration error &lt; 2%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6126480" y="868680"/>
            <a:ext cx="2651760" cy="38404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12" name="Shape 10"/>
          <p:cNvSpPr/>
          <p:nvPr/>
        </p:nvSpPr>
        <p:spPr>
          <a:xfrm>
            <a:off x="6126480" y="868680"/>
            <a:ext cx="2651760" cy="411480"/>
          </a:xfrm>
          <a:prstGeom prst="roundRect">
            <a:avLst>
              <a:gd name="adj" fmla="val 17778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3" name="Text 11"/>
          <p:cNvSpPr/>
          <p:nvPr/>
        </p:nvSpPr>
        <p:spPr>
          <a:xfrm>
            <a:off x="6217920" y="886968"/>
            <a:ext cx="246888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Detection (PyTorch)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263640" y="1371600"/>
            <a:ext cx="23774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1A1A2E"/>
                </a:solidFill>
              </a:rPr>
              <a:t>Architecture: </a:t>
            </a:r>
            <a:r>
              <a:rPr lang="en-US" sz="950" dirty="0">
                <a:solidFill>
                  <a:srgbClr val="374151"/>
                </a:solidFill>
              </a:rPr>
              <a:t>Graph Neural Network (GNN) for transaction networks</a:t>
            </a:r>
            <a:endParaRPr lang="en-US" sz="950" dirty="0"/>
          </a:p>
          <a:p>
            <a:pPr marL="0" indent="0">
              <a:buNone/>
            </a:pPr>
            <a:r>
              <a:rPr lang="en-US" sz="950" b="1" dirty="0">
                <a:solidFill>
                  <a:srgbClr val="1A1A2E"/>
                </a:solidFill>
              </a:rPr>
              <a:t>Framework: </a:t>
            </a:r>
            <a:r>
              <a:rPr lang="en-US" sz="950" dirty="0">
                <a:solidFill>
                  <a:srgbClr val="374151"/>
                </a:solidFill>
              </a:rPr>
              <a:t>PyTorch Geometric on GPU (A100)</a:t>
            </a:r>
            <a:endParaRPr lang="en-US" sz="950" dirty="0"/>
          </a:p>
          <a:p>
            <a:pPr marL="0" indent="0">
              <a:buNone/>
            </a:pPr>
            <a:r>
              <a:rPr lang="en-US" sz="950" b="1" dirty="0">
                <a:solidFill>
                  <a:srgbClr val="1A1A2E"/>
                </a:solidFill>
              </a:rPr>
              <a:t>Features: </a:t>
            </a:r>
            <a:r>
              <a:rPr lang="en-US" sz="950" dirty="0">
                <a:solidFill>
                  <a:srgbClr val="374151"/>
                </a:solidFill>
              </a:rPr>
              <a:t>Transaction graph + temporal features</a:t>
            </a:r>
            <a:endParaRPr lang="en-US" sz="950" dirty="0"/>
          </a:p>
          <a:p>
            <a:pPr marL="0" indent="0">
              <a:buNone/>
            </a:pPr>
            <a:r>
              <a:rPr lang="en-US" sz="950" b="1" dirty="0">
                <a:solidFill>
                  <a:srgbClr val="1A1A2E"/>
                </a:solidFill>
              </a:rPr>
              <a:t>Training: </a:t>
            </a:r>
            <a:r>
              <a:rPr lang="en-US" sz="950" dirty="0">
                <a:solidFill>
                  <a:srgbClr val="374151"/>
                </a:solidFill>
              </a:rPr>
              <a:t>Contrastive learning for anomaly detection</a:t>
            </a:r>
            <a:endParaRPr lang="en-US" sz="950" dirty="0"/>
          </a:p>
          <a:p>
            <a:pPr marL="0" indent="0">
              <a:buNone/>
            </a:pPr>
            <a:r>
              <a:rPr lang="en-US" sz="950" b="1" dirty="0">
                <a:solidFill>
                  <a:srgbClr val="1A1A2E"/>
                </a:solidFill>
              </a:rPr>
              <a:t>Metrics: </a:t>
            </a:r>
            <a:r>
              <a:rPr lang="en-US" sz="950" dirty="0">
                <a:solidFill>
                  <a:srgbClr val="374151"/>
                </a:solidFill>
              </a:rPr>
              <a:t>Precision@95%Recall = 0.87, F1 = 0.91</a:t>
            </a: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64592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5. AI Agent &amp; RAG Pipeline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731520" y="283464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8D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Retrieval-Augmented Generation for lending decisions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31520" y="73152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AU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9536" y="859536"/>
            <a:ext cx="384048" cy="384048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RAG Pipeline Architecture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274320" y="59436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Ingestion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1828800" cy="365760"/>
          </a:xfrm>
          <a:prstGeom prst="roundRect">
            <a:avLst>
              <a:gd name="adj" fmla="val 20000"/>
            </a:avLst>
          </a:prstGeom>
          <a:solidFill>
            <a:srgbClr val="065A82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5" name="Text 3"/>
          <p:cNvSpPr/>
          <p:nvPr/>
        </p:nvSpPr>
        <p:spPr>
          <a:xfrm>
            <a:off x="274320" y="8686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Lending Policies &amp; Guidelines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74320" y="1325880"/>
            <a:ext cx="1828800" cy="365760"/>
          </a:xfrm>
          <a:prstGeom prst="roundRect">
            <a:avLst>
              <a:gd name="adj" fmla="val 20000"/>
            </a:avLst>
          </a:prstGeom>
          <a:solidFill>
            <a:srgbClr val="1C7293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7" name="Text 5"/>
          <p:cNvSpPr/>
          <p:nvPr/>
        </p:nvSpPr>
        <p:spPr>
          <a:xfrm>
            <a:off x="274320" y="13258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Documents (APRA)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74320" y="1783080"/>
            <a:ext cx="1828800" cy="365760"/>
          </a:xfrm>
          <a:prstGeom prst="roundRect">
            <a:avLst>
              <a:gd name="adj" fmla="val 20000"/>
            </a:avLst>
          </a:prstGeom>
          <a:solidFill>
            <a:srgbClr val="7C3AED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9" name="Text 7"/>
          <p:cNvSpPr/>
          <p:nvPr/>
        </p:nvSpPr>
        <p:spPr>
          <a:xfrm>
            <a:off x="274320" y="17830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Risk Frameworks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74320" y="2240280"/>
            <a:ext cx="1828800" cy="365760"/>
          </a:xfrm>
          <a:prstGeom prst="roundRect">
            <a:avLst>
              <a:gd name="adj" fmla="val 20000"/>
            </a:avLst>
          </a:prstGeom>
          <a:solidFill>
            <a:srgbClr val="059669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11" name="Text 9"/>
          <p:cNvSpPr/>
          <p:nvPr/>
        </p:nvSpPr>
        <p:spPr>
          <a:xfrm>
            <a:off x="274320" y="22402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Procedures / SOPs</a:t>
            </a:r>
            <a:endParaRPr lang="en-US" sz="900" dirty="0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0" y="1417320"/>
            <a:ext cx="411480" cy="22860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2834640" y="59436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 &amp; Embed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2834640" y="868680"/>
            <a:ext cx="1645920" cy="502920"/>
          </a:xfrm>
          <a:prstGeom prst="roundRect">
            <a:avLst>
              <a:gd name="adj" fmla="val 14545"/>
            </a:avLst>
          </a:prstGeom>
          <a:solidFill>
            <a:srgbClr val="0891B2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15" name="Text 12"/>
          <p:cNvSpPr/>
          <p:nvPr/>
        </p:nvSpPr>
        <p:spPr>
          <a:xfrm>
            <a:off x="2834640" y="86868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Chunking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(Recursive Splitter)</a:t>
            </a:r>
            <a:endParaRPr lang="en-US" sz="900" dirty="0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66160" y="1463040"/>
            <a:ext cx="137160" cy="274320"/>
          </a:xfrm>
          <a:prstGeom prst="rect">
            <a:avLst/>
          </a:prstGeom>
        </p:spPr>
      </p:pic>
      <p:sp>
        <p:nvSpPr>
          <p:cNvPr id="17" name="Shape 13"/>
          <p:cNvSpPr/>
          <p:nvPr/>
        </p:nvSpPr>
        <p:spPr>
          <a:xfrm>
            <a:off x="2834640" y="1783080"/>
            <a:ext cx="1645920" cy="502920"/>
          </a:xfrm>
          <a:prstGeom prst="roundRect">
            <a:avLst>
              <a:gd name="adj" fmla="val 14545"/>
            </a:avLst>
          </a:prstGeom>
          <a:solidFill>
            <a:srgbClr val="7C3AED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18" name="Text 14"/>
          <p:cNvSpPr/>
          <p:nvPr/>
        </p:nvSpPr>
        <p:spPr>
          <a:xfrm>
            <a:off x="2834640" y="178308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Vertex AI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Embeddings API</a:t>
            </a:r>
            <a:endParaRPr lang="en-US" sz="900" dirty="0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66160" y="2377440"/>
            <a:ext cx="137160" cy="274320"/>
          </a:xfrm>
          <a:prstGeom prst="rect">
            <a:avLst/>
          </a:prstGeom>
        </p:spPr>
      </p:pic>
      <p:sp>
        <p:nvSpPr>
          <p:cNvPr id="20" name="Shape 15"/>
          <p:cNvSpPr/>
          <p:nvPr/>
        </p:nvSpPr>
        <p:spPr>
          <a:xfrm>
            <a:off x="2834640" y="2697480"/>
            <a:ext cx="1645920" cy="502920"/>
          </a:xfrm>
          <a:prstGeom prst="roundRect">
            <a:avLst>
              <a:gd name="adj" fmla="val 14545"/>
            </a:avLst>
          </a:prstGeom>
          <a:solidFill>
            <a:srgbClr val="065A82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21" name="Text 16"/>
          <p:cNvSpPr/>
          <p:nvPr/>
        </p:nvSpPr>
        <p:spPr>
          <a:xfrm>
            <a:off x="2834640" y="269748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Store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(Vertex AI Search)</a:t>
            </a:r>
            <a:endParaRPr lang="en-US" sz="900" dirty="0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7720" y="1828800"/>
            <a:ext cx="411480" cy="22860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120640" y="59436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&amp; Retrieval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5120640" y="868680"/>
            <a:ext cx="1828800" cy="457200"/>
          </a:xfrm>
          <a:prstGeom prst="roundRect">
            <a:avLst>
              <a:gd name="adj" fmla="val 16000"/>
            </a:avLst>
          </a:prstGeom>
          <a:solidFill>
            <a:srgbClr val="059669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25" name="Text 19"/>
          <p:cNvSpPr/>
          <p:nvPr/>
        </p:nvSpPr>
        <p:spPr>
          <a:xfrm>
            <a:off x="5120640" y="8686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Query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(Loan Officer)</a:t>
            </a:r>
            <a:endParaRPr lang="en-US" sz="900" dirty="0"/>
          </a:p>
        </p:txBody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0" y="1417320"/>
            <a:ext cx="137160" cy="274320"/>
          </a:xfrm>
          <a:prstGeom prst="rect">
            <a:avLst/>
          </a:prstGeom>
        </p:spPr>
      </p:pic>
      <p:sp>
        <p:nvSpPr>
          <p:cNvPr id="27" name="Shape 20"/>
          <p:cNvSpPr/>
          <p:nvPr/>
        </p:nvSpPr>
        <p:spPr>
          <a:xfrm>
            <a:off x="5120640" y="1737360"/>
            <a:ext cx="1828800" cy="457200"/>
          </a:xfrm>
          <a:prstGeom prst="roundRect">
            <a:avLst>
              <a:gd name="adj" fmla="val 16000"/>
            </a:avLst>
          </a:prstGeom>
          <a:solidFill>
            <a:srgbClr val="0891B2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28" name="Text 21"/>
          <p:cNvSpPr/>
          <p:nvPr/>
        </p:nvSpPr>
        <p:spPr>
          <a:xfrm>
            <a:off x="5120640" y="17373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Embedding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Hybrid Search</a:t>
            </a:r>
            <a:endParaRPr lang="en-US" sz="900" dirty="0"/>
          </a:p>
        </p:txBody>
      </p:sp>
      <p:pic>
        <p:nvPicPr>
          <p:cNvPr id="29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0" y="2286000"/>
            <a:ext cx="137160" cy="274320"/>
          </a:xfrm>
          <a:prstGeom prst="rect">
            <a:avLst/>
          </a:prstGeom>
        </p:spPr>
      </p:pic>
      <p:sp>
        <p:nvSpPr>
          <p:cNvPr id="30" name="Shape 22"/>
          <p:cNvSpPr/>
          <p:nvPr/>
        </p:nvSpPr>
        <p:spPr>
          <a:xfrm>
            <a:off x="5120640" y="2606040"/>
            <a:ext cx="1828800" cy="457200"/>
          </a:xfrm>
          <a:prstGeom prst="roundRect">
            <a:avLst>
              <a:gd name="adj" fmla="val 16000"/>
            </a:avLst>
          </a:prstGeom>
          <a:solidFill>
            <a:srgbClr val="1C7293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31" name="Text 23"/>
          <p:cNvSpPr/>
          <p:nvPr/>
        </p:nvSpPr>
        <p:spPr>
          <a:xfrm>
            <a:off x="5120640" y="26060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Top-K Retrieved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Chunks (MMR)</a:t>
            </a:r>
            <a:endParaRPr lang="en-US" sz="900" dirty="0"/>
          </a:p>
        </p:txBody>
      </p:sp>
      <p:pic>
        <p:nvPicPr>
          <p:cNvPr id="32" name="Image 6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0" y="1417320"/>
            <a:ext cx="411480" cy="228600"/>
          </a:xfrm>
          <a:prstGeom prst="rect">
            <a:avLst/>
          </a:prstGeom>
        </p:spPr>
      </p:pic>
      <p:sp>
        <p:nvSpPr>
          <p:cNvPr id="33" name="Text 24"/>
          <p:cNvSpPr/>
          <p:nvPr/>
        </p:nvSpPr>
        <p:spPr>
          <a:xfrm>
            <a:off x="7315200" y="59436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Generation</a:t>
            </a:r>
            <a:endParaRPr lang="en-US" sz="1000" dirty="0"/>
          </a:p>
        </p:txBody>
      </p:sp>
      <p:sp>
        <p:nvSpPr>
          <p:cNvPr id="34" name="Shape 25"/>
          <p:cNvSpPr/>
          <p:nvPr/>
        </p:nvSpPr>
        <p:spPr>
          <a:xfrm>
            <a:off x="7315200" y="868680"/>
            <a:ext cx="1463040" cy="640080"/>
          </a:xfrm>
          <a:prstGeom prst="roundRect">
            <a:avLst>
              <a:gd name="adj" fmla="val 11429"/>
            </a:avLst>
          </a:prstGeom>
          <a:solidFill>
            <a:srgbClr val="7C3AED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35" name="Text 26"/>
          <p:cNvSpPr/>
          <p:nvPr/>
        </p:nvSpPr>
        <p:spPr>
          <a:xfrm>
            <a:off x="7315200" y="86868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Pro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(Prompt Template)</a:t>
            </a:r>
            <a:endParaRPr lang="en-US" sz="900" dirty="0"/>
          </a:p>
        </p:txBody>
      </p:sp>
      <p:pic>
        <p:nvPicPr>
          <p:cNvPr id="36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55280" y="1600200"/>
            <a:ext cx="137160" cy="274320"/>
          </a:xfrm>
          <a:prstGeom prst="rect">
            <a:avLst/>
          </a:prstGeom>
        </p:spPr>
      </p:pic>
      <p:sp>
        <p:nvSpPr>
          <p:cNvPr id="37" name="Shape 27"/>
          <p:cNvSpPr/>
          <p:nvPr/>
        </p:nvSpPr>
        <p:spPr>
          <a:xfrm>
            <a:off x="7315200" y="1920240"/>
            <a:ext cx="1463040" cy="457200"/>
          </a:xfrm>
          <a:prstGeom prst="roundRect">
            <a:avLst>
              <a:gd name="adj" fmla="val 16000"/>
            </a:avLst>
          </a:prstGeom>
          <a:solidFill>
            <a:srgbClr val="059669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38" name="Text 28"/>
          <p:cNvSpPr/>
          <p:nvPr/>
        </p:nvSpPr>
        <p:spPr>
          <a:xfrm>
            <a:off x="7315200" y="192024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</a:t>
            </a:r>
            <a:endParaRPr lang="en-US" sz="900" dirty="0"/>
          </a:p>
        </p:txBody>
      </p:sp>
      <p:sp>
        <p:nvSpPr>
          <p:cNvPr id="39" name="Text 29"/>
          <p:cNvSpPr/>
          <p:nvPr/>
        </p:nvSpPr>
        <p:spPr>
          <a:xfrm>
            <a:off x="274320" y="33375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Evaluation &amp; Guardrails</a:t>
            </a:r>
            <a:endParaRPr lang="en-US" sz="1000" dirty="0"/>
          </a:p>
        </p:txBody>
      </p:sp>
      <p:sp>
        <p:nvSpPr>
          <p:cNvPr id="40" name="Shape 30"/>
          <p:cNvSpPr/>
          <p:nvPr/>
        </p:nvSpPr>
        <p:spPr>
          <a:xfrm>
            <a:off x="274320" y="3611880"/>
            <a:ext cx="1828800" cy="411480"/>
          </a:xfrm>
          <a:prstGeom prst="roundRect">
            <a:avLst>
              <a:gd name="adj" fmla="val 17778"/>
            </a:avLst>
          </a:prstGeom>
          <a:solidFill>
            <a:srgbClr val="D97706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41" name="Text 31"/>
          <p:cNvSpPr/>
          <p:nvPr/>
        </p:nvSpPr>
        <p:spPr>
          <a:xfrm>
            <a:off x="274320" y="361188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RAGAS Metrics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(Faithfulness, Relevance)</a:t>
            </a:r>
            <a:endParaRPr lang="en-US" sz="900" dirty="0"/>
          </a:p>
        </p:txBody>
      </p:sp>
      <p:sp>
        <p:nvSpPr>
          <p:cNvPr id="42" name="Shape 32"/>
          <p:cNvSpPr/>
          <p:nvPr/>
        </p:nvSpPr>
        <p:spPr>
          <a:xfrm>
            <a:off x="2286000" y="3611880"/>
            <a:ext cx="1828800" cy="411480"/>
          </a:xfrm>
          <a:prstGeom prst="roundRect">
            <a:avLst>
              <a:gd name="adj" fmla="val 17778"/>
            </a:avLst>
          </a:prstGeom>
          <a:solidFill>
            <a:srgbClr val="DC2626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43" name="Text 33"/>
          <p:cNvSpPr/>
          <p:nvPr/>
        </p:nvSpPr>
        <p:spPr>
          <a:xfrm>
            <a:off x="2286000" y="361188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Hallucination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Guards</a:t>
            </a:r>
            <a:endParaRPr lang="en-US" sz="900" dirty="0"/>
          </a:p>
        </p:txBody>
      </p:sp>
      <p:sp>
        <p:nvSpPr>
          <p:cNvPr id="44" name="Shape 34"/>
          <p:cNvSpPr/>
          <p:nvPr/>
        </p:nvSpPr>
        <p:spPr>
          <a:xfrm>
            <a:off x="4297680" y="3611880"/>
            <a:ext cx="1828800" cy="411480"/>
          </a:xfrm>
          <a:prstGeom prst="roundRect">
            <a:avLst>
              <a:gd name="adj" fmla="val 17778"/>
            </a:avLst>
          </a:prstGeom>
          <a:solidFill>
            <a:srgbClr val="065A82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45" name="Text 35"/>
          <p:cNvSpPr/>
          <p:nvPr/>
        </p:nvSpPr>
        <p:spPr>
          <a:xfrm>
            <a:off x="4297680" y="361188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Citation Verification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Source Linking</a:t>
            </a:r>
            <a:endParaRPr lang="en-US" sz="900" dirty="0"/>
          </a:p>
        </p:txBody>
      </p:sp>
      <p:sp>
        <p:nvSpPr>
          <p:cNvPr id="46" name="Shape 36"/>
          <p:cNvSpPr/>
          <p:nvPr/>
        </p:nvSpPr>
        <p:spPr>
          <a:xfrm>
            <a:off x="6309360" y="3611880"/>
            <a:ext cx="1828800" cy="411480"/>
          </a:xfrm>
          <a:prstGeom prst="roundRect">
            <a:avLst>
              <a:gd name="adj" fmla="val 17778"/>
            </a:avLst>
          </a:prstGeom>
          <a:solidFill>
            <a:srgbClr val="1C7293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47" name="Text 37"/>
          <p:cNvSpPr/>
          <p:nvPr/>
        </p:nvSpPr>
        <p:spPr>
          <a:xfrm>
            <a:off x="6309360" y="361188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Human-in-Loop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Queue</a:t>
            </a:r>
            <a:endParaRPr lang="en-US" sz="900" dirty="0"/>
          </a:p>
        </p:txBody>
      </p:sp>
      <p:sp>
        <p:nvSpPr>
          <p:cNvPr id="48" name="Shape 38"/>
          <p:cNvSpPr/>
          <p:nvPr/>
        </p:nvSpPr>
        <p:spPr>
          <a:xfrm>
            <a:off x="274320" y="4206240"/>
            <a:ext cx="8503920" cy="73152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49" name="Text 39"/>
          <p:cNvSpPr/>
          <p:nvPr/>
        </p:nvSpPr>
        <p:spPr>
          <a:xfrm>
            <a:off x="457200" y="4251960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65A82"/>
                </a:solidFill>
              </a:rPr>
              <a:t>Key Metrics:  </a:t>
            </a:r>
            <a:r>
              <a:rPr lang="en-US" sz="1000" dirty="0">
                <a:solidFill>
                  <a:srgbClr val="374151"/>
                </a:solidFill>
              </a:rPr>
              <a:t>Retrieval Precision: 92%  |  Answer Faithfulness: 95%  |  Context Relevance: 89%  |  Latency P95: 1.8s  |  Hallucination Rate: &lt; 3%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Agent Architecture — Multi-Agent Lending System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017520" y="685800"/>
            <a:ext cx="3108960" cy="594360"/>
          </a:xfrm>
          <a:prstGeom prst="roundRect">
            <a:avLst>
              <a:gd name="adj" fmla="val 15385"/>
            </a:avLst>
          </a:prstGeom>
          <a:solidFill>
            <a:srgbClr val="0A1628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4" name="Text 2"/>
          <p:cNvSpPr/>
          <p:nvPr/>
        </p:nvSpPr>
        <p:spPr>
          <a:xfrm>
            <a:off x="3017520" y="68580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Orchestrator Agent (LangGraph + Gemini Pro)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1600200"/>
            <a:ext cx="1463040" cy="685800"/>
          </a:xfrm>
          <a:prstGeom prst="roundRect">
            <a:avLst>
              <a:gd name="adj" fmla="val 10667"/>
            </a:avLst>
          </a:prstGeom>
          <a:solidFill>
            <a:srgbClr val="065A82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6" name="Text 4"/>
          <p:cNvSpPr/>
          <p:nvPr/>
        </p:nvSpPr>
        <p:spPr>
          <a:xfrm>
            <a:off x="274320" y="1600200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005840" y="1298448"/>
            <a:ext cx="0" cy="27432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8" name="Shape 6"/>
          <p:cNvSpPr/>
          <p:nvPr/>
        </p:nvSpPr>
        <p:spPr>
          <a:xfrm>
            <a:off x="1920240" y="1600200"/>
            <a:ext cx="1463040" cy="685800"/>
          </a:xfrm>
          <a:prstGeom prst="roundRect">
            <a:avLst>
              <a:gd name="adj" fmla="val 10667"/>
            </a:avLst>
          </a:prstGeom>
          <a:solidFill>
            <a:srgbClr val="1C7293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9" name="Text 7"/>
          <p:cNvSpPr/>
          <p:nvPr/>
        </p:nvSpPr>
        <p:spPr>
          <a:xfrm>
            <a:off x="1920240" y="1600200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Affordability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651760" y="1298448"/>
            <a:ext cx="0" cy="27432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1" name="Shape 9"/>
          <p:cNvSpPr/>
          <p:nvPr/>
        </p:nvSpPr>
        <p:spPr>
          <a:xfrm>
            <a:off x="3566160" y="1600200"/>
            <a:ext cx="1463040" cy="685800"/>
          </a:xfrm>
          <a:prstGeom prst="roundRect">
            <a:avLst>
              <a:gd name="adj" fmla="val 10667"/>
            </a:avLst>
          </a:prstGeom>
          <a:solidFill>
            <a:srgbClr val="7C3AED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12" name="Text 10"/>
          <p:cNvSpPr/>
          <p:nvPr/>
        </p:nvSpPr>
        <p:spPr>
          <a:xfrm>
            <a:off x="3566160" y="1600200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(RAG)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297680" y="1298448"/>
            <a:ext cx="0" cy="27432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4" name="Shape 12"/>
          <p:cNvSpPr/>
          <p:nvPr/>
        </p:nvSpPr>
        <p:spPr>
          <a:xfrm>
            <a:off x="5212080" y="1600200"/>
            <a:ext cx="1463040" cy="685800"/>
          </a:xfrm>
          <a:prstGeom prst="roundRect">
            <a:avLst>
              <a:gd name="adj" fmla="val 10667"/>
            </a:avLst>
          </a:prstGeom>
          <a:solidFill>
            <a:srgbClr val="DC2626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15" name="Text 13"/>
          <p:cNvSpPr/>
          <p:nvPr/>
        </p:nvSpPr>
        <p:spPr>
          <a:xfrm>
            <a:off x="5212080" y="1600200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943600" y="1298448"/>
            <a:ext cx="0" cy="27432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7" name="Shape 15"/>
          <p:cNvSpPr/>
          <p:nvPr/>
        </p:nvSpPr>
        <p:spPr>
          <a:xfrm>
            <a:off x="6858000" y="1600200"/>
            <a:ext cx="1463040" cy="685800"/>
          </a:xfrm>
          <a:prstGeom prst="roundRect">
            <a:avLst>
              <a:gd name="adj" fmla="val 10667"/>
            </a:avLst>
          </a:prstGeom>
          <a:solidFill>
            <a:srgbClr val="059669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18" name="Text 16"/>
          <p:cNvSpPr/>
          <p:nvPr/>
        </p:nvSpPr>
        <p:spPr>
          <a:xfrm>
            <a:off x="6858000" y="1600200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7589520" y="1298448"/>
            <a:ext cx="0" cy="27432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0" name="Text 18"/>
          <p:cNvSpPr/>
          <p:nvPr/>
        </p:nvSpPr>
        <p:spPr>
          <a:xfrm>
            <a:off x="274320" y="25146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&amp; External Services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74320" y="2788920"/>
            <a:ext cx="1097280" cy="502920"/>
          </a:xfrm>
          <a:prstGeom prst="roundRect">
            <a:avLst>
              <a:gd name="adj" fmla="val 14545"/>
            </a:avLst>
          </a:prstGeom>
          <a:solidFill>
            <a:srgbClr val="0891B2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22" name="Text 20"/>
          <p:cNvSpPr/>
          <p:nvPr/>
        </p:nvSpPr>
        <p:spPr>
          <a:xfrm>
            <a:off x="274320" y="278892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Model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Endpoints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822960" y="2304288"/>
            <a:ext cx="0" cy="457200"/>
          </a:xfrm>
          <a:prstGeom prst="line">
            <a:avLst/>
          </a:prstGeom>
          <a:noFill/>
          <a:ln w="12700">
            <a:solidFill>
              <a:srgbClr val="6B7280"/>
            </a:solidFill>
            <a:prstDash val="dash"/>
          </a:ln>
        </p:spPr>
        <p:txBody>
          <a:bodyPr/>
          <a:lstStyle/>
          <a:p>
            <a:endParaRPr lang="en-AU"/>
          </a:p>
        </p:txBody>
      </p:sp>
      <p:sp>
        <p:nvSpPr>
          <p:cNvPr id="24" name="Shape 22"/>
          <p:cNvSpPr/>
          <p:nvPr/>
        </p:nvSpPr>
        <p:spPr>
          <a:xfrm>
            <a:off x="1554480" y="2788920"/>
            <a:ext cx="1097280" cy="502920"/>
          </a:xfrm>
          <a:prstGeom prst="roundRect">
            <a:avLst>
              <a:gd name="adj" fmla="val 14545"/>
            </a:avLst>
          </a:prstGeom>
          <a:solidFill>
            <a:srgbClr val="0891B2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25" name="Text 23"/>
          <p:cNvSpPr/>
          <p:nvPr/>
        </p:nvSpPr>
        <p:spPr>
          <a:xfrm>
            <a:off x="1554480" y="278892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Bureau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2103120" y="2304288"/>
            <a:ext cx="0" cy="457200"/>
          </a:xfrm>
          <a:prstGeom prst="line">
            <a:avLst/>
          </a:prstGeom>
          <a:noFill/>
          <a:ln w="12700">
            <a:solidFill>
              <a:srgbClr val="6B7280"/>
            </a:solidFill>
            <a:prstDash val="dash"/>
          </a:ln>
        </p:spPr>
        <p:txBody>
          <a:bodyPr/>
          <a:lstStyle/>
          <a:p>
            <a:endParaRPr lang="en-AU"/>
          </a:p>
        </p:txBody>
      </p:sp>
      <p:sp>
        <p:nvSpPr>
          <p:cNvPr id="27" name="Shape 25"/>
          <p:cNvSpPr/>
          <p:nvPr/>
        </p:nvSpPr>
        <p:spPr>
          <a:xfrm>
            <a:off x="2834640" y="2788920"/>
            <a:ext cx="1097280" cy="502920"/>
          </a:xfrm>
          <a:prstGeom prst="roundRect">
            <a:avLst>
              <a:gd name="adj" fmla="val 14545"/>
            </a:avLst>
          </a:prstGeom>
          <a:solidFill>
            <a:srgbClr val="0891B2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28" name="Text 26"/>
          <p:cNvSpPr/>
          <p:nvPr/>
        </p:nvSpPr>
        <p:spPr>
          <a:xfrm>
            <a:off x="2834640" y="278892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Vertex AI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(RAG)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383280" y="2304288"/>
            <a:ext cx="0" cy="457200"/>
          </a:xfrm>
          <a:prstGeom prst="line">
            <a:avLst/>
          </a:prstGeom>
          <a:noFill/>
          <a:ln w="12700">
            <a:solidFill>
              <a:srgbClr val="6B7280"/>
            </a:solidFill>
            <a:prstDash val="dash"/>
          </a:ln>
        </p:spPr>
        <p:txBody>
          <a:bodyPr/>
          <a:lstStyle/>
          <a:p>
            <a:endParaRPr lang="en-AU"/>
          </a:p>
        </p:txBody>
      </p:sp>
      <p:sp>
        <p:nvSpPr>
          <p:cNvPr id="30" name="Shape 28"/>
          <p:cNvSpPr/>
          <p:nvPr/>
        </p:nvSpPr>
        <p:spPr>
          <a:xfrm>
            <a:off x="4114800" y="2788920"/>
            <a:ext cx="1097280" cy="502920"/>
          </a:xfrm>
          <a:prstGeom prst="roundRect">
            <a:avLst>
              <a:gd name="adj" fmla="val 14545"/>
            </a:avLst>
          </a:prstGeom>
          <a:solidFill>
            <a:srgbClr val="0891B2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31" name="Text 29"/>
          <p:cNvSpPr/>
          <p:nvPr/>
        </p:nvSpPr>
        <p:spPr>
          <a:xfrm>
            <a:off x="4114800" y="278892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BigQuery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(Data Lookup)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663440" y="2304288"/>
            <a:ext cx="0" cy="457200"/>
          </a:xfrm>
          <a:prstGeom prst="line">
            <a:avLst/>
          </a:prstGeom>
          <a:noFill/>
          <a:ln w="12700">
            <a:solidFill>
              <a:srgbClr val="6B7280"/>
            </a:solidFill>
            <a:prstDash val="dash"/>
          </a:ln>
        </p:spPr>
        <p:txBody>
          <a:bodyPr/>
          <a:lstStyle/>
          <a:p>
            <a:endParaRPr lang="en-AU"/>
          </a:p>
        </p:txBody>
      </p:sp>
      <p:sp>
        <p:nvSpPr>
          <p:cNvPr id="33" name="Shape 31"/>
          <p:cNvSpPr/>
          <p:nvPr/>
        </p:nvSpPr>
        <p:spPr>
          <a:xfrm>
            <a:off x="5394960" y="2788920"/>
            <a:ext cx="1097280" cy="502920"/>
          </a:xfrm>
          <a:prstGeom prst="roundRect">
            <a:avLst>
              <a:gd name="adj" fmla="val 14545"/>
            </a:avLst>
          </a:prstGeom>
          <a:solidFill>
            <a:srgbClr val="0891B2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34" name="Text 32"/>
          <p:cNvSpPr/>
          <p:nvPr/>
        </p:nvSpPr>
        <p:spPr>
          <a:xfrm>
            <a:off x="5394960" y="278892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AI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(OCR)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5943600" y="2304288"/>
            <a:ext cx="0" cy="457200"/>
          </a:xfrm>
          <a:prstGeom prst="line">
            <a:avLst/>
          </a:prstGeom>
          <a:noFill/>
          <a:ln w="12700">
            <a:solidFill>
              <a:srgbClr val="6B7280"/>
            </a:solidFill>
            <a:prstDash val="dash"/>
          </a:ln>
        </p:spPr>
        <p:txBody>
          <a:bodyPr/>
          <a:lstStyle/>
          <a:p>
            <a:endParaRPr lang="en-AU"/>
          </a:p>
        </p:txBody>
      </p:sp>
      <p:sp>
        <p:nvSpPr>
          <p:cNvPr id="36" name="Shape 34"/>
          <p:cNvSpPr/>
          <p:nvPr/>
        </p:nvSpPr>
        <p:spPr>
          <a:xfrm>
            <a:off x="6675120" y="2788920"/>
            <a:ext cx="1097280" cy="502920"/>
          </a:xfrm>
          <a:prstGeom prst="roundRect">
            <a:avLst>
              <a:gd name="adj" fmla="val 14545"/>
            </a:avLst>
          </a:prstGeom>
          <a:solidFill>
            <a:srgbClr val="0891B2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37" name="Text 35"/>
          <p:cNvSpPr/>
          <p:nvPr/>
        </p:nvSpPr>
        <p:spPr>
          <a:xfrm>
            <a:off x="6675120" y="278892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Calculator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7223760" y="2304288"/>
            <a:ext cx="0" cy="457200"/>
          </a:xfrm>
          <a:prstGeom prst="line">
            <a:avLst/>
          </a:prstGeom>
          <a:noFill/>
          <a:ln w="12700">
            <a:solidFill>
              <a:srgbClr val="6B7280"/>
            </a:solidFill>
            <a:prstDash val="dash"/>
          </a:ln>
        </p:spPr>
        <p:txBody>
          <a:bodyPr/>
          <a:lstStyle/>
          <a:p>
            <a:endParaRPr lang="en-AU"/>
          </a:p>
        </p:txBody>
      </p:sp>
      <p:sp>
        <p:nvSpPr>
          <p:cNvPr id="39" name="Text 37"/>
          <p:cNvSpPr/>
          <p:nvPr/>
        </p:nvSpPr>
        <p:spPr>
          <a:xfrm>
            <a:off x="274320" y="352044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State &amp; Memory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274320" y="3794760"/>
            <a:ext cx="2011680" cy="457200"/>
          </a:xfrm>
          <a:prstGeom prst="roundRect">
            <a:avLst>
              <a:gd name="adj" fmla="val 16000"/>
            </a:avLst>
          </a:prstGeom>
          <a:solidFill>
            <a:srgbClr val="065A82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41" name="Text 39"/>
          <p:cNvSpPr/>
          <p:nvPr/>
        </p:nvSpPr>
        <p:spPr>
          <a:xfrm>
            <a:off x="274320" y="379476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 Memory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(Redis / Firestore)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2468880" y="3794760"/>
            <a:ext cx="2011680" cy="457200"/>
          </a:xfrm>
          <a:prstGeom prst="roundRect">
            <a:avLst>
              <a:gd name="adj" fmla="val 16000"/>
            </a:avLst>
          </a:prstGeom>
          <a:solidFill>
            <a:srgbClr val="7C3AED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43" name="Text 41"/>
          <p:cNvSpPr/>
          <p:nvPr/>
        </p:nvSpPr>
        <p:spPr>
          <a:xfrm>
            <a:off x="2468880" y="379476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State Machine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(LangGraph Checkpoints)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4663440" y="3794760"/>
            <a:ext cx="2011680" cy="457200"/>
          </a:xfrm>
          <a:prstGeom prst="roundRect">
            <a:avLst>
              <a:gd name="adj" fmla="val 16000"/>
            </a:avLst>
          </a:prstGeom>
          <a:solidFill>
            <a:srgbClr val="1C7293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45" name="Text 43"/>
          <p:cNvSpPr/>
          <p:nvPr/>
        </p:nvSpPr>
        <p:spPr>
          <a:xfrm>
            <a:off x="4663440" y="379476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Trail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(Cloud Logging + BQ)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6858000" y="3794760"/>
            <a:ext cx="2011680" cy="457200"/>
          </a:xfrm>
          <a:prstGeom prst="roundRect">
            <a:avLst>
              <a:gd name="adj" fmla="val 16000"/>
            </a:avLst>
          </a:prstGeom>
          <a:solidFill>
            <a:srgbClr val="D97706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47" name="Text 45"/>
          <p:cNvSpPr/>
          <p:nvPr/>
        </p:nvSpPr>
        <p:spPr>
          <a:xfrm>
            <a:off x="6858000" y="379476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Guardrails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(NeMo + Custom)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2286000" y="4480560"/>
            <a:ext cx="4572000" cy="457200"/>
          </a:xfrm>
          <a:prstGeom prst="roundRect">
            <a:avLst>
              <a:gd name="adj" fmla="val 16000"/>
            </a:avLst>
          </a:prstGeom>
          <a:solidFill>
            <a:srgbClr val="059669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49" name="Text 47"/>
          <p:cNvSpPr/>
          <p:nvPr/>
        </p:nvSpPr>
        <p:spPr>
          <a:xfrm>
            <a:off x="2286000" y="44805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Output: Approve / Decline / Refer  +  Explanation (SHAP + RAG)  +  Confidence Score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64592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6. MLOps &amp; Release Management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731520" y="283464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8D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experiment to production — fast, safe, and measured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31520" y="73152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AU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9536" y="859536"/>
            <a:ext cx="384048" cy="384048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Release Management Cycle — ML Model Lifecycle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274320" y="640080"/>
            <a:ext cx="1234440" cy="457200"/>
          </a:xfrm>
          <a:prstGeom prst="roundRect">
            <a:avLst>
              <a:gd name="adj" fmla="val 16000"/>
            </a:avLst>
          </a:prstGeom>
          <a:solidFill>
            <a:srgbClr val="7C3AED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4" name="Text 2"/>
          <p:cNvSpPr/>
          <p:nvPr/>
        </p:nvSpPr>
        <p:spPr>
          <a:xfrm>
            <a:off x="274320" y="64008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74320" y="1188720"/>
            <a:ext cx="1234440" cy="640080"/>
          </a:xfrm>
          <a:prstGeom prst="roundRect">
            <a:avLst>
              <a:gd name="adj" fmla="val 8571"/>
            </a:avLst>
          </a:prstGeom>
          <a:solidFill>
            <a:srgbClr val="F8FAFC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6" name="Text 4"/>
          <p:cNvSpPr/>
          <p:nvPr/>
        </p:nvSpPr>
        <p:spPr>
          <a:xfrm>
            <a:off x="274320" y="1188720"/>
            <a:ext cx="1234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MLflow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Jupyter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Vertex Workbench</a:t>
            </a:r>
          </a:p>
          <a:p>
            <a:pPr marL="0" indent="0" algn="ctr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Databricks</a:t>
            </a:r>
            <a:endParaRPr lang="en-US" sz="85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36192" y="731520"/>
            <a:ext cx="182880" cy="109728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1737360" y="640080"/>
            <a:ext cx="1234440" cy="457200"/>
          </a:xfrm>
          <a:prstGeom prst="roundRect">
            <a:avLst>
              <a:gd name="adj" fmla="val 16000"/>
            </a:avLst>
          </a:prstGeom>
          <a:solidFill>
            <a:srgbClr val="065A82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9" name="Text 6"/>
          <p:cNvSpPr/>
          <p:nvPr/>
        </p:nvSpPr>
        <p:spPr>
          <a:xfrm>
            <a:off x="1737360" y="64008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1737360" y="1188720"/>
            <a:ext cx="1234440" cy="640080"/>
          </a:xfrm>
          <a:prstGeom prst="roundRect">
            <a:avLst>
              <a:gd name="adj" fmla="val 8571"/>
            </a:avLst>
          </a:prstGeom>
          <a:solidFill>
            <a:srgbClr val="F8FAFC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1" name="Text 8"/>
          <p:cNvSpPr/>
          <p:nvPr/>
        </p:nvSpPr>
        <p:spPr>
          <a:xfrm>
            <a:off x="1737360" y="1188720"/>
            <a:ext cx="1234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Branch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Tests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Review</a:t>
            </a:r>
            <a:endParaRPr lang="en-US" sz="850" dirty="0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99232" y="731520"/>
            <a:ext cx="182880" cy="109728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3200400" y="640080"/>
            <a:ext cx="1234440" cy="457200"/>
          </a:xfrm>
          <a:prstGeom prst="roundRect">
            <a:avLst>
              <a:gd name="adj" fmla="val 16000"/>
            </a:avLst>
          </a:prstGeom>
          <a:solidFill>
            <a:srgbClr val="1C7293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14" name="Text 10"/>
          <p:cNvSpPr/>
          <p:nvPr/>
        </p:nvSpPr>
        <p:spPr>
          <a:xfrm>
            <a:off x="3200400" y="64008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</a:t>
            </a:r>
            <a:endParaRPr lang="en-US" sz="900" dirty="0"/>
          </a:p>
        </p:txBody>
      </p:sp>
      <p:sp>
        <p:nvSpPr>
          <p:cNvPr id="15" name="Shape 11"/>
          <p:cNvSpPr/>
          <p:nvPr/>
        </p:nvSpPr>
        <p:spPr>
          <a:xfrm>
            <a:off x="3200400" y="1188720"/>
            <a:ext cx="1234440" cy="640080"/>
          </a:xfrm>
          <a:prstGeom prst="roundRect">
            <a:avLst>
              <a:gd name="adj" fmla="val 8571"/>
            </a:avLst>
          </a:prstGeom>
          <a:solidFill>
            <a:srgbClr val="F8FAFC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6" name="Text 12"/>
          <p:cNvSpPr/>
          <p:nvPr/>
        </p:nvSpPr>
        <p:spPr>
          <a:xfrm>
            <a:off x="3200400" y="1188720"/>
            <a:ext cx="1234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 Pipeline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Tests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Fairness Audit</a:t>
            </a:r>
            <a:endParaRPr lang="en-US" sz="850" dirty="0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62272" y="731520"/>
            <a:ext cx="182880" cy="109728"/>
          </a:xfrm>
          <a:prstGeom prst="rect">
            <a:avLst/>
          </a:prstGeom>
        </p:spPr>
      </p:pic>
      <p:sp>
        <p:nvSpPr>
          <p:cNvPr id="18" name="Shape 13"/>
          <p:cNvSpPr/>
          <p:nvPr/>
        </p:nvSpPr>
        <p:spPr>
          <a:xfrm>
            <a:off x="4663440" y="640080"/>
            <a:ext cx="1234440" cy="457200"/>
          </a:xfrm>
          <a:prstGeom prst="roundRect">
            <a:avLst>
              <a:gd name="adj" fmla="val 16000"/>
            </a:avLst>
          </a:prstGeom>
          <a:solidFill>
            <a:srgbClr val="0891B2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19" name="Text 14"/>
          <p:cNvSpPr/>
          <p:nvPr/>
        </p:nvSpPr>
        <p:spPr>
          <a:xfrm>
            <a:off x="4663440" y="64008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</a:t>
            </a:r>
            <a:endParaRPr lang="en-US" sz="900" dirty="0"/>
          </a:p>
        </p:txBody>
      </p:sp>
      <p:sp>
        <p:nvSpPr>
          <p:cNvPr id="20" name="Shape 15"/>
          <p:cNvSpPr/>
          <p:nvPr/>
        </p:nvSpPr>
        <p:spPr>
          <a:xfrm>
            <a:off x="4663440" y="1188720"/>
            <a:ext cx="1234440" cy="640080"/>
          </a:xfrm>
          <a:prstGeom prst="roundRect">
            <a:avLst>
              <a:gd name="adj" fmla="val 8571"/>
            </a:avLst>
          </a:prstGeom>
          <a:solidFill>
            <a:srgbClr val="F8FAFC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21" name="Text 16"/>
          <p:cNvSpPr/>
          <p:nvPr/>
        </p:nvSpPr>
        <p:spPr>
          <a:xfrm>
            <a:off x="4663440" y="1188720"/>
            <a:ext cx="1234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Shadow Mode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A/B Test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Canary Deploy</a:t>
            </a:r>
            <a:endParaRPr lang="en-US" sz="850" dirty="0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25312" y="731520"/>
            <a:ext cx="182880" cy="109728"/>
          </a:xfrm>
          <a:prstGeom prst="rect">
            <a:avLst/>
          </a:prstGeom>
        </p:spPr>
      </p:pic>
      <p:sp>
        <p:nvSpPr>
          <p:cNvPr id="23" name="Shape 17"/>
          <p:cNvSpPr/>
          <p:nvPr/>
        </p:nvSpPr>
        <p:spPr>
          <a:xfrm>
            <a:off x="6126480" y="640080"/>
            <a:ext cx="1234440" cy="457200"/>
          </a:xfrm>
          <a:prstGeom prst="roundRect">
            <a:avLst>
              <a:gd name="adj" fmla="val 16000"/>
            </a:avLst>
          </a:prstGeom>
          <a:solidFill>
            <a:srgbClr val="059669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24" name="Text 18"/>
          <p:cNvSpPr/>
          <p:nvPr/>
        </p:nvSpPr>
        <p:spPr>
          <a:xfrm>
            <a:off x="6126480" y="64008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</a:t>
            </a:r>
            <a:endParaRPr lang="en-US" sz="900" dirty="0"/>
          </a:p>
        </p:txBody>
      </p:sp>
      <p:sp>
        <p:nvSpPr>
          <p:cNvPr id="25" name="Shape 19"/>
          <p:cNvSpPr/>
          <p:nvPr/>
        </p:nvSpPr>
        <p:spPr>
          <a:xfrm>
            <a:off x="6126480" y="1188720"/>
            <a:ext cx="1234440" cy="640080"/>
          </a:xfrm>
          <a:prstGeom prst="roundRect">
            <a:avLst>
              <a:gd name="adj" fmla="val 8571"/>
            </a:avLst>
          </a:prstGeom>
          <a:solidFill>
            <a:srgbClr val="F8FAFC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26" name="Text 20"/>
          <p:cNvSpPr/>
          <p:nvPr/>
        </p:nvSpPr>
        <p:spPr>
          <a:xfrm>
            <a:off x="6126480" y="1188720"/>
            <a:ext cx="1234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Blue-Green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GKE / Vertex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Traffic</a:t>
            </a:r>
            <a:endParaRPr lang="en-US" sz="850" dirty="0"/>
          </a:p>
        </p:txBody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88352" y="731520"/>
            <a:ext cx="182880" cy="109728"/>
          </a:xfrm>
          <a:prstGeom prst="rect">
            <a:avLst/>
          </a:prstGeom>
        </p:spPr>
      </p:pic>
      <p:sp>
        <p:nvSpPr>
          <p:cNvPr id="28" name="Shape 21"/>
          <p:cNvSpPr/>
          <p:nvPr/>
        </p:nvSpPr>
        <p:spPr>
          <a:xfrm>
            <a:off x="7589520" y="640080"/>
            <a:ext cx="1234440" cy="457200"/>
          </a:xfrm>
          <a:prstGeom prst="roundRect">
            <a:avLst>
              <a:gd name="adj" fmla="val 16000"/>
            </a:avLst>
          </a:prstGeom>
          <a:solidFill>
            <a:srgbClr val="D97706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29" name="Text 22"/>
          <p:cNvSpPr/>
          <p:nvPr/>
        </p:nvSpPr>
        <p:spPr>
          <a:xfrm>
            <a:off x="7589520" y="64008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</a:t>
            </a:r>
            <a:endParaRPr lang="en-US" sz="900" dirty="0"/>
          </a:p>
        </p:txBody>
      </p:sp>
      <p:sp>
        <p:nvSpPr>
          <p:cNvPr id="30" name="Shape 23"/>
          <p:cNvSpPr/>
          <p:nvPr/>
        </p:nvSpPr>
        <p:spPr>
          <a:xfrm>
            <a:off x="7589520" y="1188720"/>
            <a:ext cx="1234440" cy="640080"/>
          </a:xfrm>
          <a:prstGeom prst="roundRect">
            <a:avLst>
              <a:gd name="adj" fmla="val 8571"/>
            </a:avLst>
          </a:prstGeom>
          <a:solidFill>
            <a:srgbClr val="F8FAFC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31" name="Text 24"/>
          <p:cNvSpPr/>
          <p:nvPr/>
        </p:nvSpPr>
        <p:spPr>
          <a:xfrm>
            <a:off x="7589520" y="1188720"/>
            <a:ext cx="1234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Drift Detection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 Alerts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 Tracking</a:t>
            </a:r>
            <a:endParaRPr lang="en-US" sz="850" dirty="0"/>
          </a:p>
        </p:txBody>
      </p:sp>
      <p:sp>
        <p:nvSpPr>
          <p:cNvPr id="32" name="Shape 25"/>
          <p:cNvSpPr/>
          <p:nvPr/>
        </p:nvSpPr>
        <p:spPr>
          <a:xfrm>
            <a:off x="274320" y="1965960"/>
            <a:ext cx="8503920" cy="320040"/>
          </a:xfrm>
          <a:prstGeom prst="roundRect">
            <a:avLst>
              <a:gd name="adj" fmla="val 17143"/>
            </a:avLst>
          </a:prstGeom>
          <a:solidFill>
            <a:srgbClr val="E0F7FA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33" name="Text 26"/>
          <p:cNvSpPr/>
          <p:nvPr/>
        </p:nvSpPr>
        <p:spPr>
          <a:xfrm>
            <a:off x="457200" y="1965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Loop:  Monitor → Retrain Trigger → Experiment (Continuous ML Improvement Cycle)</a:t>
            </a:r>
            <a:endParaRPr lang="en-US" sz="1000" dirty="0"/>
          </a:p>
        </p:txBody>
      </p:sp>
      <p:sp>
        <p:nvSpPr>
          <p:cNvPr id="34" name="Text 27"/>
          <p:cNvSpPr/>
          <p:nvPr/>
        </p:nvSpPr>
        <p:spPr>
          <a:xfrm>
            <a:off x="365760" y="24688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Safeguards for Production</a:t>
            </a:r>
            <a:endParaRPr lang="en-US" sz="1400" dirty="0"/>
          </a:p>
        </p:txBody>
      </p:sp>
      <p:sp>
        <p:nvSpPr>
          <p:cNvPr id="35" name="Shape 28"/>
          <p:cNvSpPr/>
          <p:nvPr/>
        </p:nvSpPr>
        <p:spPr>
          <a:xfrm>
            <a:off x="365760" y="2834640"/>
            <a:ext cx="411480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36" name="Text 29"/>
          <p:cNvSpPr/>
          <p:nvPr/>
        </p:nvSpPr>
        <p:spPr>
          <a:xfrm>
            <a:off x="502920" y="28803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Shadow Deployment</a:t>
            </a:r>
            <a:endParaRPr lang="en-US" sz="1200" dirty="0"/>
          </a:p>
        </p:txBody>
      </p:sp>
      <p:sp>
        <p:nvSpPr>
          <p:cNvPr id="37" name="Text 30"/>
          <p:cNvSpPr/>
          <p:nvPr/>
        </p:nvSpPr>
        <p:spPr>
          <a:xfrm>
            <a:off x="502920" y="3182112"/>
            <a:ext cx="3840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models run in parallel receiving real traffic but not serving decisions. Compare predictions against champion model for 2-4 weeks.</a:t>
            </a:r>
            <a:endParaRPr lang="en-US" sz="900" dirty="0"/>
          </a:p>
        </p:txBody>
      </p:sp>
      <p:sp>
        <p:nvSpPr>
          <p:cNvPr id="38" name="Shape 31"/>
          <p:cNvSpPr/>
          <p:nvPr/>
        </p:nvSpPr>
        <p:spPr>
          <a:xfrm>
            <a:off x="365760" y="3840480"/>
            <a:ext cx="411480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39" name="Text 32"/>
          <p:cNvSpPr/>
          <p:nvPr/>
        </p:nvSpPr>
        <p:spPr>
          <a:xfrm>
            <a:off x="502920" y="38862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Canary Releases</a:t>
            </a:r>
            <a:endParaRPr lang="en-US" sz="1200" dirty="0"/>
          </a:p>
        </p:txBody>
      </p:sp>
      <p:sp>
        <p:nvSpPr>
          <p:cNvPr id="40" name="Text 33"/>
          <p:cNvSpPr/>
          <p:nvPr/>
        </p:nvSpPr>
        <p:spPr>
          <a:xfrm>
            <a:off x="502920" y="4187952"/>
            <a:ext cx="3840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5% → 10% → 25% → 50% → 100% of traffic. Automated rollback if KS statistic drops &gt; 5% or latency P99 &gt; 500ms.</a:t>
            </a:r>
            <a:endParaRPr lang="en-US" sz="900" dirty="0"/>
          </a:p>
        </p:txBody>
      </p:sp>
      <p:sp>
        <p:nvSpPr>
          <p:cNvPr id="41" name="Shape 34"/>
          <p:cNvSpPr/>
          <p:nvPr/>
        </p:nvSpPr>
        <p:spPr>
          <a:xfrm>
            <a:off x="4663440" y="2834640"/>
            <a:ext cx="411480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42" name="Text 35"/>
          <p:cNvSpPr/>
          <p:nvPr/>
        </p:nvSpPr>
        <p:spPr>
          <a:xfrm>
            <a:off x="4800600" y="28803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Blue-Green on GKE</a:t>
            </a:r>
            <a:endParaRPr lang="en-US" sz="1200" dirty="0"/>
          </a:p>
        </p:txBody>
      </p:sp>
      <p:sp>
        <p:nvSpPr>
          <p:cNvPr id="43" name="Text 36"/>
          <p:cNvSpPr/>
          <p:nvPr/>
        </p:nvSpPr>
        <p:spPr>
          <a:xfrm>
            <a:off x="4800600" y="3182112"/>
            <a:ext cx="3840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identical GKE deployments. Traffic switches via Istio service mesh. Instant rollback by flipping the virtual service.</a:t>
            </a:r>
            <a:endParaRPr lang="en-US" sz="900" dirty="0"/>
          </a:p>
        </p:txBody>
      </p:sp>
      <p:sp>
        <p:nvSpPr>
          <p:cNvPr id="44" name="Shape 37"/>
          <p:cNvSpPr/>
          <p:nvPr/>
        </p:nvSpPr>
        <p:spPr>
          <a:xfrm>
            <a:off x="4663440" y="3840480"/>
            <a:ext cx="411480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45" name="Text 38"/>
          <p:cNvSpPr/>
          <p:nvPr/>
        </p:nvSpPr>
        <p:spPr>
          <a:xfrm>
            <a:off x="4800600" y="38862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Flags</a:t>
            </a:r>
            <a:endParaRPr lang="en-US" sz="1200" dirty="0"/>
          </a:p>
        </p:txBody>
      </p:sp>
      <p:sp>
        <p:nvSpPr>
          <p:cNvPr id="46" name="Text 39"/>
          <p:cNvSpPr/>
          <p:nvPr/>
        </p:nvSpPr>
        <p:spPr>
          <a:xfrm>
            <a:off x="4800600" y="4187952"/>
            <a:ext cx="3840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LaunchDarkly integration for model version toggles. Kill-switch per model component. Region-specific rollouts.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ML Framework Strategies &amp; Experiment Workflow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393192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3931920" cy="365760"/>
          </a:xfrm>
          <a:prstGeom prst="roundRect">
            <a:avLst>
              <a:gd name="adj" fmla="val 20000"/>
            </a:avLst>
          </a:prstGeom>
          <a:solidFill>
            <a:srgbClr val="D97706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5" name="Text 3"/>
          <p:cNvSpPr/>
          <p:nvPr/>
        </p:nvSpPr>
        <p:spPr>
          <a:xfrm>
            <a:off x="594360" y="886968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MLflow — Experiment Tracking &amp; Registry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94360" y="1325880"/>
            <a:ext cx="3611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374151"/>
                </a:solidFill>
              </a:rPr>
              <a:t>Experiment Tracking: </a:t>
            </a:r>
            <a:r>
              <a:rPr lang="en-US" sz="1000" dirty="0">
                <a:solidFill>
                  <a:srgbClr val="374151"/>
                </a:solidFill>
              </a:rPr>
              <a:t>Log params, metrics (AUC, KS, Gini), artifacts per run</a:t>
            </a: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374151"/>
                </a:solidFill>
              </a:rPr>
              <a:t>Model Registry: </a:t>
            </a:r>
            <a:r>
              <a:rPr lang="en-US" sz="1000" dirty="0">
                <a:solidFill>
                  <a:srgbClr val="374151"/>
                </a:solidFill>
              </a:rPr>
              <a:t>Staging → Production promotion with approval gates</a:t>
            </a: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374151"/>
                </a:solidFill>
              </a:rPr>
              <a:t>Autologging: </a:t>
            </a:r>
            <a:r>
              <a:rPr lang="en-US" sz="1000" dirty="0">
                <a:solidFill>
                  <a:srgbClr val="374151"/>
                </a:solidFill>
              </a:rPr>
              <a:t>XGBoost, TF, PyTorch auto-capture via mlflow.autolog()</a:t>
            </a: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374151"/>
                </a:solidFill>
              </a:rPr>
              <a:t>Serving: </a:t>
            </a:r>
            <a:r>
              <a:rPr lang="en-US" sz="1000" dirty="0">
                <a:solidFill>
                  <a:srgbClr val="374151"/>
                </a:solidFill>
              </a:rPr>
              <a:t>MLflow models deployed to Vertex AI Endpoints via CI/CD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754880" y="868680"/>
            <a:ext cx="393192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8" name="Shape 6"/>
          <p:cNvSpPr/>
          <p:nvPr/>
        </p:nvSpPr>
        <p:spPr>
          <a:xfrm>
            <a:off x="4754880" y="868680"/>
            <a:ext cx="3931920" cy="365760"/>
          </a:xfrm>
          <a:prstGeom prst="roundRect">
            <a:avLst>
              <a:gd name="adj" fmla="val 20000"/>
            </a:avLst>
          </a:prstGeom>
          <a:solidFill>
            <a:srgbClr val="7C3AED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9" name="Text 7"/>
          <p:cNvSpPr/>
          <p:nvPr/>
        </p:nvSpPr>
        <p:spPr>
          <a:xfrm>
            <a:off x="4892040" y="886968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TensorFlow — Deep Learning Models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892040" y="1325880"/>
            <a:ext cx="3611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374151"/>
                </a:solidFill>
              </a:rPr>
              <a:t>Training: </a:t>
            </a:r>
            <a:r>
              <a:rPr lang="en-US" sz="1000" dirty="0">
                <a:solidFill>
                  <a:srgbClr val="374151"/>
                </a:solidFill>
              </a:rPr>
              <a:t>Distributed on TPU v3 via tf.distribute.TPUStrategy</a:t>
            </a: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374151"/>
                </a:solidFill>
              </a:rPr>
              <a:t>Architecture: </a:t>
            </a:r>
            <a:r>
              <a:rPr lang="en-US" sz="1000" dirty="0">
                <a:solidFill>
                  <a:srgbClr val="374151"/>
                </a:solidFill>
              </a:rPr>
              <a:t>Keras Functional API — DNN + LSTM hybrid for sequential data</a:t>
            </a: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374151"/>
                </a:solidFill>
              </a:rPr>
              <a:t>Serving: </a:t>
            </a:r>
            <a:r>
              <a:rPr lang="en-US" sz="1000" dirty="0">
                <a:solidFill>
                  <a:srgbClr val="374151"/>
                </a:solidFill>
              </a:rPr>
              <a:t>TensorFlow Serving on GKE with GPU autoscaling</a:t>
            </a: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374151"/>
                </a:solidFill>
              </a:rPr>
              <a:t>Export: </a:t>
            </a:r>
            <a:r>
              <a:rPr lang="en-US" sz="1000" dirty="0">
                <a:solidFill>
                  <a:srgbClr val="374151"/>
                </a:solidFill>
              </a:rPr>
              <a:t>SavedModel format → Vertex AI Endpoint + TFLite for edge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2926080"/>
            <a:ext cx="393192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12" name="Shape 10"/>
          <p:cNvSpPr/>
          <p:nvPr/>
        </p:nvSpPr>
        <p:spPr>
          <a:xfrm>
            <a:off x="457200" y="2926080"/>
            <a:ext cx="3931920" cy="365760"/>
          </a:xfrm>
          <a:prstGeom prst="roundRect">
            <a:avLst>
              <a:gd name="adj" fmla="val 20000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3" name="Text 11"/>
          <p:cNvSpPr/>
          <p:nvPr/>
        </p:nvSpPr>
        <p:spPr>
          <a:xfrm>
            <a:off x="594360" y="2944368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PyTorch — Fraud &amp; Graph Models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94360" y="3383280"/>
            <a:ext cx="3611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374151"/>
                </a:solidFill>
              </a:rPr>
              <a:t>Training: </a:t>
            </a:r>
            <a:r>
              <a:rPr lang="en-US" sz="1000" dirty="0">
                <a:solidFill>
                  <a:srgbClr val="374151"/>
                </a:solidFill>
              </a:rPr>
              <a:t>PyTorch Lightning + DDP on multi-GPU (A100) Vertex AI</a:t>
            </a: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374151"/>
                </a:solidFill>
              </a:rPr>
              <a:t>Architecture: </a:t>
            </a:r>
            <a:r>
              <a:rPr lang="en-US" sz="1000" dirty="0">
                <a:solidFill>
                  <a:srgbClr val="374151"/>
                </a:solidFill>
              </a:rPr>
              <a:t>GNN (PyTorch Geometric) for transaction network fraud</a:t>
            </a: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374151"/>
                </a:solidFill>
              </a:rPr>
              <a:t>Export: </a:t>
            </a:r>
            <a:r>
              <a:rPr lang="en-US" sz="1000" dirty="0">
                <a:solidFill>
                  <a:srgbClr val="374151"/>
                </a:solidFill>
              </a:rPr>
              <a:t>TorchScript → ONNX → Triton Inference Server on GKE</a:t>
            </a: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374151"/>
                </a:solidFill>
              </a:rPr>
              <a:t>Innovation: </a:t>
            </a:r>
            <a:r>
              <a:rPr lang="en-US" sz="1000" dirty="0">
                <a:solidFill>
                  <a:srgbClr val="374151"/>
                </a:solidFill>
              </a:rPr>
              <a:t>Faster R&amp;D iteration — notebook → script → container pipeline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754880" y="2926080"/>
            <a:ext cx="393192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16" name="Shape 14"/>
          <p:cNvSpPr/>
          <p:nvPr/>
        </p:nvSpPr>
        <p:spPr>
          <a:xfrm>
            <a:off x="4754880" y="2926080"/>
            <a:ext cx="3931920" cy="365760"/>
          </a:xfrm>
          <a:prstGeom prst="roundRect">
            <a:avLst>
              <a:gd name="adj" fmla="val 20000"/>
            </a:avLst>
          </a:prstGeom>
          <a:solidFill>
            <a:srgbClr val="059669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7" name="Text 15"/>
          <p:cNvSpPr/>
          <p:nvPr/>
        </p:nvSpPr>
        <p:spPr>
          <a:xfrm>
            <a:off x="4892040" y="2944368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 → Production Workflow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892040" y="3383280"/>
            <a:ext cx="3611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374151"/>
                </a:solidFill>
              </a:rPr>
              <a:t>1. </a:t>
            </a:r>
            <a:r>
              <a:rPr lang="en-US" sz="1000" dirty="0">
                <a:solidFill>
                  <a:srgbClr val="374151"/>
                </a:solidFill>
              </a:rPr>
              <a:t>Notebook exploration (Vertex Workbench) and Databricks notebook with </a:t>
            </a:r>
            <a:r>
              <a:rPr lang="en-US" sz="1000" dirty="0" err="1">
                <a:solidFill>
                  <a:srgbClr val="374151"/>
                </a:solidFill>
              </a:rPr>
              <a:t>MLflow</a:t>
            </a: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374151"/>
                </a:solidFill>
              </a:rPr>
              <a:t>2. </a:t>
            </a:r>
            <a:r>
              <a:rPr lang="en-US" sz="1000" dirty="0">
                <a:solidFill>
                  <a:srgbClr val="374151"/>
                </a:solidFill>
              </a:rPr>
              <a:t>Refactor to training script + MLflow logging</a:t>
            </a: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374151"/>
                </a:solidFill>
              </a:rPr>
              <a:t>3. </a:t>
            </a:r>
            <a:r>
              <a:rPr lang="en-US" sz="1000" dirty="0">
                <a:solidFill>
                  <a:srgbClr val="374151"/>
                </a:solidFill>
              </a:rPr>
              <a:t>Containerize → Vertex AI Custom Training Job</a:t>
            </a: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374151"/>
                </a:solidFill>
              </a:rPr>
              <a:t>4. </a:t>
            </a:r>
            <a:r>
              <a:rPr lang="en-US" sz="1000" dirty="0">
                <a:solidFill>
                  <a:srgbClr val="374151"/>
                </a:solidFill>
              </a:rPr>
              <a:t>Register best model in MLflow / Vertex Model Registry</a:t>
            </a: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374151"/>
                </a:solidFill>
              </a:rPr>
              <a:t>5. </a:t>
            </a:r>
            <a:r>
              <a:rPr lang="en-US" sz="1000" dirty="0">
                <a:solidFill>
                  <a:srgbClr val="374151"/>
                </a:solidFill>
              </a:rPr>
              <a:t>CI/CD: Cloud Build → Deploy to Staging → Shadow → Prod</a:t>
            </a: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374151"/>
                </a:solidFill>
              </a:rPr>
              <a:t>6. </a:t>
            </a:r>
            <a:r>
              <a:rPr lang="en-US" sz="1000" dirty="0">
                <a:solidFill>
                  <a:srgbClr val="374151"/>
                </a:solidFill>
              </a:rPr>
              <a:t>Monitor + auto-retrain on drift detection trigger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Monitoring &amp; Accuracy Measurement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8229600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4" name="Text 2"/>
          <p:cNvSpPr/>
          <p:nvPr/>
        </p:nvSpPr>
        <p:spPr>
          <a:xfrm>
            <a:off x="640080" y="86868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Model Monitoring Dashboard (Cloud Monitoring + Splunk + </a:t>
            </a:r>
            <a:r>
              <a:rPr lang="en-US" sz="1200" b="1" dirty="0" err="1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SignalFX</a:t>
            </a: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+ Evidently AI)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80" y="1234440"/>
            <a:ext cx="1417320" cy="91440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6" name="Text 4"/>
          <p:cNvSpPr/>
          <p:nvPr/>
        </p:nvSpPr>
        <p:spPr>
          <a:xfrm>
            <a:off x="640080" y="1261872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AUC-ROC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40080" y="146304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0.89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914400" y="1874520"/>
            <a:ext cx="868680" cy="201168"/>
          </a:xfrm>
          <a:prstGeom prst="roundRect">
            <a:avLst>
              <a:gd name="adj" fmla="val 22727"/>
            </a:avLst>
          </a:prstGeom>
          <a:solidFill>
            <a:srgbClr val="059669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9" name="Text 7"/>
          <p:cNvSpPr/>
          <p:nvPr/>
        </p:nvSpPr>
        <p:spPr>
          <a:xfrm>
            <a:off x="914400" y="1874520"/>
            <a:ext cx="868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Healthy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2240280" y="1234440"/>
            <a:ext cx="1417320" cy="91440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1" name="Text 9"/>
          <p:cNvSpPr/>
          <p:nvPr/>
        </p:nvSpPr>
        <p:spPr>
          <a:xfrm>
            <a:off x="2240280" y="1261872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KS Statistic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240280" y="146304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0.62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2514600" y="1874520"/>
            <a:ext cx="868680" cy="201168"/>
          </a:xfrm>
          <a:prstGeom prst="roundRect">
            <a:avLst>
              <a:gd name="adj" fmla="val 22727"/>
            </a:avLst>
          </a:prstGeom>
          <a:solidFill>
            <a:srgbClr val="059669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4" name="Text 12"/>
          <p:cNvSpPr/>
          <p:nvPr/>
        </p:nvSpPr>
        <p:spPr>
          <a:xfrm>
            <a:off x="2514600" y="1874520"/>
            <a:ext cx="868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Healthy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3840480" y="1234440"/>
            <a:ext cx="1417320" cy="91440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6" name="Text 14"/>
          <p:cNvSpPr/>
          <p:nvPr/>
        </p:nvSpPr>
        <p:spPr>
          <a:xfrm>
            <a:off x="3840480" y="1261872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PSI (Stability)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840480" y="146304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0.08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4114800" y="1874520"/>
            <a:ext cx="868680" cy="201168"/>
          </a:xfrm>
          <a:prstGeom prst="roundRect">
            <a:avLst>
              <a:gd name="adj" fmla="val 22727"/>
            </a:avLst>
          </a:prstGeom>
          <a:solidFill>
            <a:srgbClr val="D97706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9" name="Text 17"/>
          <p:cNvSpPr/>
          <p:nvPr/>
        </p:nvSpPr>
        <p:spPr>
          <a:xfrm>
            <a:off x="4114800" y="1874520"/>
            <a:ext cx="868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5440680" y="1234440"/>
            <a:ext cx="1417320" cy="91440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21" name="Text 19"/>
          <p:cNvSpPr/>
          <p:nvPr/>
        </p:nvSpPr>
        <p:spPr>
          <a:xfrm>
            <a:off x="5440680" y="1261872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Gini Coeff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440680" y="146304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0.78</a:t>
            </a:r>
            <a:endParaRPr lang="en-US" sz="2200" dirty="0"/>
          </a:p>
        </p:txBody>
      </p:sp>
      <p:sp>
        <p:nvSpPr>
          <p:cNvPr id="23" name="Shape 21"/>
          <p:cNvSpPr/>
          <p:nvPr/>
        </p:nvSpPr>
        <p:spPr>
          <a:xfrm>
            <a:off x="5715000" y="1874520"/>
            <a:ext cx="868680" cy="201168"/>
          </a:xfrm>
          <a:prstGeom prst="roundRect">
            <a:avLst>
              <a:gd name="adj" fmla="val 22727"/>
            </a:avLst>
          </a:prstGeom>
          <a:solidFill>
            <a:srgbClr val="059669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24" name="Text 22"/>
          <p:cNvSpPr/>
          <p:nvPr/>
        </p:nvSpPr>
        <p:spPr>
          <a:xfrm>
            <a:off x="5715000" y="1874520"/>
            <a:ext cx="868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Healthy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7040880" y="1234440"/>
            <a:ext cx="1417320" cy="91440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26" name="Text 24"/>
          <p:cNvSpPr/>
          <p:nvPr/>
        </p:nvSpPr>
        <p:spPr>
          <a:xfrm>
            <a:off x="7040880" y="1261872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 P95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7040880" y="146304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142ms</a:t>
            </a:r>
            <a:endParaRPr lang="en-US" sz="2200" dirty="0"/>
          </a:p>
        </p:txBody>
      </p:sp>
      <p:sp>
        <p:nvSpPr>
          <p:cNvPr id="28" name="Shape 26"/>
          <p:cNvSpPr/>
          <p:nvPr/>
        </p:nvSpPr>
        <p:spPr>
          <a:xfrm>
            <a:off x="7315200" y="1874520"/>
            <a:ext cx="868680" cy="201168"/>
          </a:xfrm>
          <a:prstGeom prst="roundRect">
            <a:avLst>
              <a:gd name="adj" fmla="val 22727"/>
            </a:avLst>
          </a:prstGeom>
          <a:solidFill>
            <a:srgbClr val="059669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29" name="Text 27"/>
          <p:cNvSpPr/>
          <p:nvPr/>
        </p:nvSpPr>
        <p:spPr>
          <a:xfrm>
            <a:off x="7315200" y="1874520"/>
            <a:ext cx="868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Healthy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457200" y="2468880"/>
            <a:ext cx="265176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31" name="Text 29"/>
          <p:cNvSpPr/>
          <p:nvPr/>
        </p:nvSpPr>
        <p:spPr>
          <a:xfrm>
            <a:off x="548640" y="256032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Drift Detection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48640" y="2926080"/>
            <a:ext cx="24688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Evidently AI monitors feature distributions hourly. PSI &gt; 0.2 triggers alert. Kolmogorov-Smirnov test for continuous features; Chi-squared for categorical.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3291840" y="2468880"/>
            <a:ext cx="265176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34" name="Text 32"/>
          <p:cNvSpPr/>
          <p:nvPr/>
        </p:nvSpPr>
        <p:spPr>
          <a:xfrm>
            <a:off x="3383280" y="256032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Drift Detection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3383280" y="2926080"/>
            <a:ext cx="24688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ADWIN algorithm tracks prediction distribution shifts. Ground truth labels joined after 90-day observation window. Model retrain triggered on AUC drop &gt; 3%.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6126480" y="2468880"/>
            <a:ext cx="265176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37" name="Text 35"/>
          <p:cNvSpPr/>
          <p:nvPr/>
        </p:nvSpPr>
        <p:spPr>
          <a:xfrm>
            <a:off x="6217920" y="256032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 Monitoring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6217920" y="2926080"/>
            <a:ext cx="24688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Latency: P95 &lt; 200ms, P99 &lt; 500ms. Availability: 99.9%. Error rate &lt; 0.1%. Monitored via Cloud Monitoring with PagerDuty escalation.</a:t>
            </a:r>
            <a:endParaRPr lang="en-US" sz="9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64592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7. Failure Handling &amp; Resilience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731520" y="283464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8D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hallucination, data/ML drift, and system failures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31520" y="731520"/>
            <a:ext cx="640080" cy="640080"/>
          </a:xfrm>
          <a:prstGeom prst="ellipse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en-AU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9536" y="859536"/>
            <a:ext cx="384048" cy="384048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Agent Failure Modes &amp; Mitigations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8229600" cy="1298448"/>
          </a:xfrm>
          <a:prstGeom prst="roundRect">
            <a:avLst>
              <a:gd name="adj" fmla="val 8451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73152" cy="1298448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5" name="Text 3"/>
          <p:cNvSpPr/>
          <p:nvPr/>
        </p:nvSpPr>
        <p:spPr>
          <a:xfrm>
            <a:off x="685800" y="84124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Hallucination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85800" y="1115568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generates fabricated policy rules, invents credit criteria, or provides inaccurate regulatory guidance that could lead to non-compliant lending decisions.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85800" y="1444752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1) RAG grounding — every response must cite retrieved chunks with source IDs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2) Confidence thresholds — responses below 0.7 confidence routed to human review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3) NeMo Guardrails — topical rails prevent off-topic generation; fact-checking rail validates against known policies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4) Output validation — structured output schema enforced via Pydantic; regex checks for numerical claims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57200" y="2240280"/>
            <a:ext cx="8229600" cy="1298448"/>
          </a:xfrm>
          <a:prstGeom prst="roundRect">
            <a:avLst>
              <a:gd name="adj" fmla="val 8451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9" name="Shape 7"/>
          <p:cNvSpPr/>
          <p:nvPr/>
        </p:nvSpPr>
        <p:spPr>
          <a:xfrm>
            <a:off x="457200" y="2240280"/>
            <a:ext cx="73152" cy="1298448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0" name="Text 8"/>
          <p:cNvSpPr/>
          <p:nvPr/>
        </p:nvSpPr>
        <p:spPr>
          <a:xfrm>
            <a:off x="685800" y="225856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 Tool Arguments / Wrong Tool Selection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85800" y="2532888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passes malformed arguments to credit bureau API (wrong ID format), selects affordability tool when fraud check was needed, or chains tools in wrong order.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85800" y="2862072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1) Tool schemas with Pydantic validation — reject malformed args before execution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2) ReAct prompting with few-shot examples for each tool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3) Tool selection guardrails — decision tree pre-filter before LLM tool choice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4) Retry with reflection — on tool error, agent receives error + self-corrects (max 3 retries)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57200" y="3657600"/>
            <a:ext cx="8229600" cy="1298448"/>
          </a:xfrm>
          <a:prstGeom prst="roundRect">
            <a:avLst>
              <a:gd name="adj" fmla="val 8451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14" name="Shape 12"/>
          <p:cNvSpPr/>
          <p:nvPr/>
        </p:nvSpPr>
        <p:spPr>
          <a:xfrm>
            <a:off x="457200" y="3657600"/>
            <a:ext cx="73152" cy="1298448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5" name="Text 13"/>
          <p:cNvSpPr/>
          <p:nvPr/>
        </p:nvSpPr>
        <p:spPr>
          <a:xfrm>
            <a:off x="685800" y="36758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Overload / Window Exhaustion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85800" y="3950208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 loan applications with 20+ documents exceed context window. Agent loses track of earlier information, contradicts itself, or drops critical data.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85800" y="4279392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1) Hierarchical summarization — pre-summarize each document, load full text only on-demand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2) Sliding window with memory — key facts extracted to structured state (LangGraph)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3) Multi-turn decomposition — break complex assessments into sub-tasks with checkpoints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4) Token budget management — monitor usage, trigger summarization at 80% capacity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Data/ML Failures &amp; System Failures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3931920" cy="393192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3931920" cy="411480"/>
          </a:xfrm>
          <a:prstGeom prst="roundRect">
            <a:avLst>
              <a:gd name="adj" fmla="val 17778"/>
            </a:avLst>
          </a:prstGeom>
          <a:solidFill>
            <a:srgbClr val="DC2626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5" name="Text 3"/>
          <p:cNvSpPr/>
          <p:nvPr/>
        </p:nvSpPr>
        <p:spPr>
          <a:xfrm>
            <a:off x="594360" y="841248"/>
            <a:ext cx="365760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/ ML Failures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94360" y="1325880"/>
            <a:ext cx="36118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065A82"/>
                </a:solidFill>
              </a:rPr>
              <a:t>Quality Drift</a:t>
            </a:r>
            <a:endParaRPr lang="en-US" sz="1100" dirty="0"/>
          </a:p>
          <a:p>
            <a:pPr marL="0" indent="0">
              <a:buNone/>
            </a:pPr>
            <a:r>
              <a:rPr lang="en-US" sz="900" dirty="0">
                <a:solidFill>
                  <a:srgbClr val="374151"/>
                </a:solidFill>
              </a:rPr>
              <a:t>Upstream schema changes, missing fields, new categorical values. Mitigation: Great Expectations data contracts with automated alerts. Feature store validates schema on write. Fallback to last-known-good feature snapshot.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065A82"/>
                </a:solidFill>
              </a:rPr>
              <a:t>Concept Drift</a:t>
            </a:r>
            <a:endParaRPr lang="en-US" sz="1100" dirty="0"/>
          </a:p>
          <a:p>
            <a:pPr marL="0" indent="0">
              <a:buNone/>
            </a:pPr>
            <a:r>
              <a:rPr lang="en-US" sz="900" dirty="0">
                <a:solidFill>
                  <a:srgbClr val="374151"/>
                </a:solidFill>
              </a:rPr>
              <a:t>Economic shifts (e.g., rate changes) alter default patterns. Mitigation: ADWIN detector on prediction distributions. Retrain pipeline auto-triggered when PSI &gt; 0.2. Champion-challenger evaluation before promotion.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065A82"/>
                </a:solidFill>
              </a:rPr>
              <a:t>Missing Feature Values</a:t>
            </a:r>
            <a:endParaRPr lang="en-US" sz="1100" dirty="0"/>
          </a:p>
          <a:p>
            <a:pPr marL="0" indent="0">
              <a:buNone/>
            </a:pPr>
            <a:r>
              <a:rPr lang="en-US" sz="900" dirty="0">
                <a:solidFill>
                  <a:srgbClr val="374151"/>
                </a:solidFill>
              </a:rPr>
              <a:t>Bureau data unavailable, employment API timeout. Mitigation: Feature importance ranking — if top-5 feature missing, route to manual. Imputation with MICE for non-critical features. Graceful degradation to simpler model.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754880" y="822960"/>
            <a:ext cx="3931920" cy="393192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8" name="Shape 6"/>
          <p:cNvSpPr/>
          <p:nvPr/>
        </p:nvSpPr>
        <p:spPr>
          <a:xfrm>
            <a:off x="4754880" y="822960"/>
            <a:ext cx="3931920" cy="411480"/>
          </a:xfrm>
          <a:prstGeom prst="roundRect">
            <a:avLst>
              <a:gd name="adj" fmla="val 17778"/>
            </a:avLst>
          </a:prstGeom>
          <a:solidFill>
            <a:srgbClr val="D97706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9" name="Text 7"/>
          <p:cNvSpPr/>
          <p:nvPr/>
        </p:nvSpPr>
        <p:spPr>
          <a:xfrm>
            <a:off x="4892040" y="841248"/>
            <a:ext cx="365760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/ Tool Failures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892040" y="1325880"/>
            <a:ext cx="36118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065A82"/>
                </a:solidFill>
              </a:rPr>
              <a:t>API Timeouts</a:t>
            </a:r>
            <a:endParaRPr lang="en-US" sz="1100" dirty="0"/>
          </a:p>
          <a:p>
            <a:pPr marL="0" indent="0">
              <a:buNone/>
            </a:pPr>
            <a:r>
              <a:rPr lang="en-US" sz="900" dirty="0">
                <a:solidFill>
                  <a:srgbClr val="374151"/>
                </a:solidFill>
              </a:rPr>
              <a:t>Credit bureau or external API exceeds SLA. Mitigation: Circuit breaker pattern (Istio). Exponential backoff with jitter (max 3 retries). Cached last-known response with staleness flag. Fallback to async processing with callback.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065A82"/>
                </a:solidFill>
              </a:rPr>
              <a:t>Schema Mismatches</a:t>
            </a:r>
            <a:endParaRPr lang="en-US" sz="1100" dirty="0"/>
          </a:p>
          <a:p>
            <a:pPr marL="0" indent="0">
              <a:buNone/>
            </a:pPr>
            <a:r>
              <a:rPr lang="en-US" sz="900" dirty="0">
                <a:solidFill>
                  <a:srgbClr val="374151"/>
                </a:solidFill>
              </a:rPr>
              <a:t>External API changes payload structure without notice. Mitigation: Contract testing (Pact) in CI/CD. Schema registry for internal events (Pub/Sub + Protobuf). Versioned API adapters with backward compatibility layer.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065A82"/>
                </a:solidFill>
              </a:rPr>
              <a:t>Multi-Agent Orchestration Bottlenecks</a:t>
            </a:r>
            <a:endParaRPr lang="en-US" sz="1100" dirty="0"/>
          </a:p>
          <a:p>
            <a:pPr marL="0" indent="0">
              <a:buNone/>
            </a:pPr>
            <a:r>
              <a:rPr lang="en-US" sz="900" dirty="0">
                <a:solidFill>
                  <a:srgbClr val="374151"/>
                </a:solidFill>
              </a:rPr>
              <a:t>Agent deadlocks, circular tool calls, cascading failures. Mitigation: Timeout per agent step (30s default). LangGraph state machine prevents cycles. Dead letter queue for failed orchestrations. Async fan-out with Pub/Sub for independent sub-agents.</a:t>
            </a:r>
            <a:endParaRPr lang="en-US" sz="11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023360" y="365760"/>
            <a:ext cx="640080" cy="640080"/>
          </a:xfrm>
          <a:prstGeom prst="ellipse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en-AU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51376" y="493776"/>
            <a:ext cx="384048" cy="3840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109728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3400" dirty="0"/>
          </a:p>
        </p:txBody>
      </p:sp>
      <p:sp>
        <p:nvSpPr>
          <p:cNvPr id="5" name="Shape 2"/>
          <p:cNvSpPr/>
          <p:nvPr/>
        </p:nvSpPr>
        <p:spPr>
          <a:xfrm>
            <a:off x="731520" y="1965960"/>
            <a:ext cx="7680960" cy="43891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680" y="2039112"/>
            <a:ext cx="292608" cy="29260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280160" y="1965960"/>
            <a:ext cx="6949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ML platform on GCP: from data ingestion to real-time lending decisions in &lt; 200ms</a:t>
            </a:r>
            <a:endParaRPr lang="en-US" sz="1200" dirty="0"/>
          </a:p>
        </p:txBody>
      </p:sp>
      <p:sp>
        <p:nvSpPr>
          <p:cNvPr id="8" name="Shape 4"/>
          <p:cNvSpPr/>
          <p:nvPr/>
        </p:nvSpPr>
        <p:spPr>
          <a:xfrm>
            <a:off x="731520" y="2514600"/>
            <a:ext cx="7680960" cy="43891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680" y="2587752"/>
            <a:ext cx="292608" cy="29260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280160" y="2514600"/>
            <a:ext cx="6949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Multi-model architecture: XGBoost + TensorFlow + PyTorch serving different lending domain needs</a:t>
            </a:r>
            <a:endParaRPr lang="en-US" sz="1200" dirty="0"/>
          </a:p>
        </p:txBody>
      </p:sp>
      <p:sp>
        <p:nvSpPr>
          <p:cNvPr id="11" name="Shape 6"/>
          <p:cNvSpPr/>
          <p:nvPr/>
        </p:nvSpPr>
        <p:spPr>
          <a:xfrm>
            <a:off x="731520" y="3063240"/>
            <a:ext cx="7680960" cy="43891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680" y="3136392"/>
            <a:ext cx="292608" cy="292608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280160" y="3063240"/>
            <a:ext cx="6949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RAG-powered AI agents: grounded, explainable decisions with regulatory compliance built-in</a:t>
            </a:r>
            <a:endParaRPr lang="en-US" sz="1200" dirty="0"/>
          </a:p>
        </p:txBody>
      </p:sp>
      <p:sp>
        <p:nvSpPr>
          <p:cNvPr id="14" name="Shape 8"/>
          <p:cNvSpPr/>
          <p:nvPr/>
        </p:nvSpPr>
        <p:spPr>
          <a:xfrm>
            <a:off x="731520" y="3611880"/>
            <a:ext cx="7680960" cy="43891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680" y="3685032"/>
            <a:ext cx="292608" cy="292608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1280160" y="3611880"/>
            <a:ext cx="6949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MLOps maturity: automated retraining, drift detection, shadow deployment, and canary releases</a:t>
            </a:r>
            <a:endParaRPr lang="en-US" sz="1200" dirty="0"/>
          </a:p>
        </p:txBody>
      </p:sp>
      <p:sp>
        <p:nvSpPr>
          <p:cNvPr id="17" name="Shape 10"/>
          <p:cNvSpPr/>
          <p:nvPr/>
        </p:nvSpPr>
        <p:spPr>
          <a:xfrm>
            <a:off x="731520" y="4160520"/>
            <a:ext cx="7680960" cy="43891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pic>
        <p:nvPicPr>
          <p:cNvPr id="18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680" y="4233672"/>
            <a:ext cx="292608" cy="292608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1280160" y="4160520"/>
            <a:ext cx="6949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Resilience-first design: circuit breakers, graceful degradation, and comprehensive guardrails</a:t>
            </a:r>
            <a:endParaRPr lang="en-US" sz="1200" dirty="0"/>
          </a:p>
        </p:txBody>
      </p:sp>
      <p:sp>
        <p:nvSpPr>
          <p:cNvPr id="20" name="Text 12"/>
          <p:cNvSpPr/>
          <p:nvPr/>
        </p:nvSpPr>
        <p:spPr>
          <a:xfrm>
            <a:off x="731520" y="457200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DFBCE16-2393-D841-106A-953D359787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4" name="Rectangle 53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E8D032F5-7892-986F-ECAF-5D0F1FCFEAB1}"/>
              </a:ext>
            </a:extLst>
          </p:cNvPr>
          <p:cNvSpPr/>
          <p:nvPr/>
        </p:nvSpPr>
        <p:spPr>
          <a:xfrm>
            <a:off x="617581" y="691286"/>
            <a:ext cx="3872267" cy="197699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marL="0" inden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6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Thank You</a:t>
            </a:r>
            <a:endParaRPr lang="en-US" sz="3600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BC05CA36-AD6A-4ABF-9A05-52E5A143D2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3016660"/>
            <a:ext cx="9144000" cy="2126840"/>
          </a:xfrm>
          <a:prstGeom prst="rect">
            <a:avLst/>
          </a:prstGeom>
          <a:gradFill>
            <a:gsLst>
              <a:gs pos="0">
                <a:schemeClr val="accent1"/>
              </a:gs>
              <a:gs pos="78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D4331EE8-85A4-4588-8D9E-70E534D477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028950" y="3016665"/>
            <a:ext cx="6115048" cy="2126835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100000">
                <a:schemeClr val="accent1">
                  <a:lumMod val="75000"/>
                </a:schemeClr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49D6C862-61CC-4B46-8080-96583D653B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3016664"/>
            <a:ext cx="9190104" cy="2126836"/>
          </a:xfrm>
          <a:prstGeom prst="rect">
            <a:avLst/>
          </a:prstGeom>
          <a:gradFill>
            <a:gsLst>
              <a:gs pos="3900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72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2" name="Graphic 21" descr="Questions with solid fill">
            <a:extLst>
              <a:ext uri="{FF2B5EF4-FFF2-40B4-BE49-F238E27FC236}">
                <a16:creationId xmlns:a16="http://schemas.microsoft.com/office/drawing/2014/main" id="{DD358384-FABC-0B5A-E8E9-F783FED8107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30430" y="493867"/>
            <a:ext cx="3872266" cy="3872266"/>
          </a:xfrm>
          <a:prstGeom prst="rect">
            <a:avLst/>
          </a:prstGeom>
        </p:spPr>
      </p:pic>
      <p:sp>
        <p:nvSpPr>
          <p:cNvPr id="62" name="Rectangle 61">
            <a:extLst>
              <a:ext uri="{FF2B5EF4-FFF2-40B4-BE49-F238E27FC236}">
                <a16:creationId xmlns:a16="http://schemas.microsoft.com/office/drawing/2014/main" id="{E37EECFC-A684-4391-AE85-4CDAF5565F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4800597"/>
            <a:ext cx="9143998" cy="342903"/>
          </a:xfrm>
          <a:prstGeom prst="rect">
            <a:avLst/>
          </a:prstGeom>
          <a:gradFill>
            <a:gsLst>
              <a:gs pos="0">
                <a:srgbClr val="000000">
                  <a:alpha val="43000"/>
                </a:srgbClr>
              </a:gs>
              <a:gs pos="79000">
                <a:schemeClr val="accent1">
                  <a:lumMod val="75000"/>
                  <a:alpha val="22000"/>
                </a:schemeClr>
              </a:gs>
            </a:gsLst>
            <a:lin ang="21594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 12">
            <a:extLst>
              <a:ext uri="{FF2B5EF4-FFF2-40B4-BE49-F238E27FC236}">
                <a16:creationId xmlns:a16="http://schemas.microsoft.com/office/drawing/2014/main" id="{18C3AD10-BB5F-24BB-3C93-6D8BF0777C91}"/>
              </a:ext>
            </a:extLst>
          </p:cNvPr>
          <p:cNvSpPr/>
          <p:nvPr/>
        </p:nvSpPr>
        <p:spPr>
          <a:xfrm>
            <a:off x="4943224" y="2571749"/>
            <a:ext cx="3604268" cy="62912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</a:pPr>
            <a:endParaRPr lang="en-US" sz="1500" kern="1200" dirty="0">
              <a:solidFill>
                <a:schemeClr val="tx2"/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72640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2759</Words>
  <Application>Microsoft Office PowerPoint</Application>
  <PresentationFormat>On-screen Show (16:9)</PresentationFormat>
  <Paragraphs>464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1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Lending Decision Platform - GCP Project Journey</dc:title>
  <dc:subject>PptxGenJS Presentation</dc:subject>
  <dc:creator>Lending Decision Platform Team</dc:creator>
  <cp:lastModifiedBy>Kartik Patel</cp:lastModifiedBy>
  <cp:revision>19</cp:revision>
  <dcterms:created xsi:type="dcterms:W3CDTF">2026-06-21T05:14:22Z</dcterms:created>
  <dcterms:modified xsi:type="dcterms:W3CDTF">2026-06-21T05:45:04Z</dcterms:modified>
</cp:coreProperties>
</file>