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 autoAdjust="0"/>
    <p:restoredTop sz="94610"/>
  </p:normalViewPr>
  <p:slideViewPr>
    <p:cSldViewPr snapToGrid="0" snapToObjects="1">
      <p:cViewPr>
        <p:scale>
          <a:sx n="70" d="100"/>
          <a:sy n="70" d="100"/>
        </p:scale>
        <p:origin x="460" y="-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6754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business pain before the tech. The explainability requirement shaped most of the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Discovery is where I earned trust with Risk/Compliance by translating obligations into technical guardrails.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top to bottom. Call out the Argo pipeline + Vertex Feature Store (kills train-serve skew) and the task-routed Gemini/Claude agents as mine.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which GCP services explicitly, grouped by capability so it reads as deliberate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point-in-time correctness, fairness gating, and calibration.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LLM errors are retrieval failures — the RAG strip is the real engineering. Agents reason; the calibrated model decides; a human signs off the big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Lifecycle and environment promotion (Dev to Staging to Prod) with immutable, traceable artifacts. Free experimentation in Dev, hardened gates into Prod.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layers, one alerting brain (Splunk). Key line: thresholds tied to business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Strategy over preference: framework follows lifecycle stage, MLflow makes them interoperable, GBMs win on tabular.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about Staff distinction: I set the patterns and reviewed against them; the team built within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Stakeholder management is a Staff signal. The Model Risk Review board is the standout.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trade-off column is the point — it shows judgement. The model-class choice is strongest.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deep on explainability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Proves I treat agents as systems engineered for failure. Every mode has a concrete, testable containment.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Split Data/ML vs System/Tool to show I distinguish model failures from engineering failures.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9875520" y="3840480"/>
            <a:ext cx="4572000" cy="4572000"/>
          </a:xfrm>
          <a:prstGeom prst="ellipse">
            <a:avLst/>
          </a:prstGeom>
          <a:solidFill>
            <a:srgbClr val="06B6D4">
              <a:alpha val="10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DECISION PLATFORM  ·  GOOGLE CLOUD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01168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Lending Decision Platform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credit decisioning on Google Cloud — with explainability, fairness and compliance built in.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949147" cy="420624"/>
          </a:xfrm>
          <a:prstGeom prst="roundRect">
            <a:avLst>
              <a:gd name="adj" fmla="val 50000"/>
            </a:avLst>
          </a:prstGeom>
          <a:solidFill>
            <a:srgbClr val="172033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822960" y="4892040"/>
            <a:ext cx="94914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36699" y="4892040"/>
            <a:ext cx="499262" cy="420624"/>
          </a:xfrm>
          <a:prstGeom prst="roundRect">
            <a:avLst>
              <a:gd name="adj" fmla="val 50000"/>
            </a:avLst>
          </a:prstGeom>
          <a:solidFill>
            <a:srgbClr val="172033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1936699" y="4892040"/>
            <a:ext cx="49926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00554" y="4892040"/>
            <a:ext cx="1324051" cy="420624"/>
          </a:xfrm>
          <a:prstGeom prst="roundRect">
            <a:avLst>
              <a:gd name="adj" fmla="val 50000"/>
            </a:avLst>
          </a:prstGeom>
          <a:solidFill>
            <a:srgbClr val="172033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2600554" y="4892040"/>
            <a:ext cx="132405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 Workflows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89197" y="4892040"/>
            <a:ext cx="1399032" cy="420624"/>
          </a:xfrm>
          <a:prstGeom prst="roundRect">
            <a:avLst>
              <a:gd name="adj" fmla="val 50000"/>
            </a:avLst>
          </a:prstGeom>
          <a:solidFill>
            <a:srgbClr val="172033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4089197" y="4892040"/>
            <a:ext cx="1399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+ Claude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52821" y="4892040"/>
            <a:ext cx="1698955" cy="420624"/>
          </a:xfrm>
          <a:prstGeom prst="roundRect">
            <a:avLst>
              <a:gd name="adj" fmla="val 50000"/>
            </a:avLst>
          </a:prstGeom>
          <a:solidFill>
            <a:srgbClr val="172033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5652821" y="4892040"/>
            <a:ext cx="16989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· MLflow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58521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ML Engineer — project deep-dive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DECISION PLATFORM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this deck covers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593592" cy="1389888"/>
          </a:xfrm>
          <a:prstGeom prst="roundRect">
            <a:avLst>
              <a:gd name="adj" fmla="val 460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749808" y="1636776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749808" y="1636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16736" y="1600200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journey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68096" y="2167128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to delivery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1417320"/>
            <a:ext cx="3593592" cy="1389888"/>
          </a:xfrm>
          <a:prstGeom prst="roundRect">
            <a:avLst>
              <a:gd name="adj" fmla="val 460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4590288" y="1636776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4590288" y="1636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57216" y="1600200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Architecture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08576" y="2167128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GCP stack + cloud services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0" y="1417320"/>
            <a:ext cx="3593592" cy="1389888"/>
          </a:xfrm>
          <a:prstGeom prst="roundRect">
            <a:avLst>
              <a:gd name="adj" fmla="val 460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6" name="Shape 14"/>
          <p:cNvSpPr/>
          <p:nvPr/>
        </p:nvSpPr>
        <p:spPr>
          <a:xfrm>
            <a:off x="8430768" y="1636776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8430768" y="1636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97696" y="1600200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ML training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449056" y="2167128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 pipeline, Vertex AI, MLflow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2990088"/>
            <a:ext cx="3593592" cy="1389888"/>
          </a:xfrm>
          <a:prstGeom prst="roundRect">
            <a:avLst>
              <a:gd name="adj" fmla="val 460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" name="Shape 19"/>
          <p:cNvSpPr/>
          <p:nvPr/>
        </p:nvSpPr>
        <p:spPr>
          <a:xfrm>
            <a:off x="749808" y="3209544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749808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16736" y="3172968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Agents + RAG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68096" y="3739896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agents, Vertex Vector Search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89120" y="2990088"/>
            <a:ext cx="3593592" cy="1389888"/>
          </a:xfrm>
          <a:prstGeom prst="roundRect">
            <a:avLst>
              <a:gd name="adj" fmla="val 460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" name="Shape 24"/>
          <p:cNvSpPr/>
          <p:nvPr/>
        </p:nvSpPr>
        <p:spPr>
          <a:xfrm>
            <a:off x="4590288" y="3209544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4590288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57216" y="3172968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Lifecycle &amp; release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608576" y="3739896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to prod, safely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29600" y="2990088"/>
            <a:ext cx="3593592" cy="1389888"/>
          </a:xfrm>
          <a:prstGeom prst="roundRect">
            <a:avLst>
              <a:gd name="adj" fmla="val 460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1" name="Shape 29"/>
          <p:cNvSpPr/>
          <p:nvPr/>
        </p:nvSpPr>
        <p:spPr>
          <a:xfrm>
            <a:off x="8430768" y="3209544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2" name="Text 30"/>
          <p:cNvSpPr/>
          <p:nvPr/>
        </p:nvSpPr>
        <p:spPr>
          <a:xfrm>
            <a:off x="8430768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997696" y="3172968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Reliability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449056" y="3739896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Agent, data/ML &amp; system failures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Decision Platform · Google Cloud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DECISION PLATFORM · CONTEXT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problem we set out to solve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5852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
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underwriting was slow, inconsistent between officers, and hard to audit. We needed automated credit decisioning that is fast, consistent, explainable, and compliant with responsible-lending obligations.
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of the solution
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calibrated ML lending-decision model at the core, wrapped in four specialised AI agents (application intake, KYC/AML, financial analysis, security audit), grounded in current lending policy via RAG, with a human in the loop on high-value / low-confidence cases — all on Google Cloud.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75120" y="1508760"/>
            <a:ext cx="4937760" cy="1325880"/>
          </a:xfrm>
          <a:prstGeom prst="roundRect">
            <a:avLst>
              <a:gd name="adj" fmla="val 482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6903720" y="163677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6B6D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minutes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6903720" y="222199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turnaround vs. hours of manual review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675120" y="2990088"/>
            <a:ext cx="4937760" cy="1325880"/>
          </a:xfrm>
          <a:prstGeom prst="roundRect">
            <a:avLst>
              <a:gd name="adj" fmla="val 482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6903720" y="311810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8B5C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Reason codes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903720" y="37033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decision — adverse-action ready &amp; auditable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675120" y="4471416"/>
            <a:ext cx="4937760" cy="1325880"/>
          </a:xfrm>
          <a:prstGeom prst="roundRect">
            <a:avLst>
              <a:gd name="adj" fmla="val 482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6903720" y="459943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0B98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HITL gate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903720" y="518464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review high-value &amp; low-confidence cases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Decision Platform · Google Cloud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DECISION PLATFORM · JOURNEY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it unfolded: discovery to delivery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70048" cy="3977640"/>
          </a:xfrm>
          <a:prstGeom prst="roundRect">
            <a:avLst>
              <a:gd name="adj" fmla="val 239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749808" y="1892808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749808" y="1892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256032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Discovery &amp; framing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68096" y="3246120"/>
            <a:ext cx="22494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Workshops with Lending, Risk &amp; Compliance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decision policy &amp; data sources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success metrics + guardrails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spike on GCP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36976" y="3680460"/>
            <a:ext cx="210312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3465576" y="1691640"/>
            <a:ext cx="2670048" cy="3977640"/>
          </a:xfrm>
          <a:prstGeom prst="roundRect">
            <a:avLst>
              <a:gd name="adj" fmla="val 239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3666744" y="1892808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3666744" y="1892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66744" y="256032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Design &amp; architecture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685032" y="3246120"/>
            <a:ext cx="22494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 GCP-native stack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decomposition (4 agents)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 training DAGs + feature store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&amp; audit by design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53912" y="3680460"/>
            <a:ext cx="210312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6382512" y="1691640"/>
            <a:ext cx="2670048" cy="3977640"/>
          </a:xfrm>
          <a:prstGeom prst="roundRect">
            <a:avLst>
              <a:gd name="adj" fmla="val 239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6583680" y="1892808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6583680" y="1892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256032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Development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601968" y="3246120"/>
            <a:ext cx="22494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pipelines + Vertex Feature Store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model + calibration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agents + RAG over policy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via Cloud Build + Terraform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070848" y="3680460"/>
            <a:ext cx="210312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3" name="Shape 21"/>
          <p:cNvSpPr/>
          <p:nvPr/>
        </p:nvSpPr>
        <p:spPr>
          <a:xfrm>
            <a:off x="9299448" y="1691640"/>
            <a:ext cx="2670048" cy="3977640"/>
          </a:xfrm>
          <a:prstGeom prst="roundRect">
            <a:avLst>
              <a:gd name="adj" fmla="val 239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4" name="Shape 22"/>
          <p:cNvSpPr/>
          <p:nvPr/>
        </p:nvSpPr>
        <p:spPr>
          <a:xfrm>
            <a:off x="9500616" y="1892808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9500616" y="1892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500616" y="256032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Delivery &amp; rollout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518904" y="3246120"/>
            <a:ext cx="22494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to canary to progressive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integration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Model-risk review sign-off</a:t>
            </a:r>
            <a:endParaRPr lang="en-US" sz="1050" dirty="0"/>
          </a:p>
          <a:p>
            <a:pPr marL="152400" indent="-1524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+ reason-code audit trail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Decision Platform · Google Cloud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DECISION PLATFORM ·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Solution architecture — end to end with cloud services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732520" cy="877824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658368" y="1508760"/>
            <a:ext cx="1481328" cy="274320"/>
          </a:xfrm>
          <a:prstGeom prst="roundRect">
            <a:avLst>
              <a:gd name="adj" fmla="val 13333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658368" y="150876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286000" y="1563624"/>
            <a:ext cx="160248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2322576" y="1563624"/>
            <a:ext cx="1529334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93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</a:t>
            </a:r>
            <a:endParaRPr lang="en-US" sz="93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SQL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4053078" y="1563624"/>
            <a:ext cx="160248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4089654" y="1563624"/>
            <a:ext cx="1529334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93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bureau</a:t>
            </a:r>
            <a:endParaRPr lang="en-US" sz="93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· history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5820156" y="1563624"/>
            <a:ext cx="160248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5856732" y="1563624"/>
            <a:ext cx="1529334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93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93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7587234" y="1563624"/>
            <a:ext cx="160248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7623810" y="1563624"/>
            <a:ext cx="1529334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93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93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 to GCS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1417320" y="2299716"/>
            <a:ext cx="0" cy="114300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548640" y="2418588"/>
            <a:ext cx="8732520" cy="877824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658368" y="2510028"/>
            <a:ext cx="1481328" cy="274320"/>
          </a:xfrm>
          <a:prstGeom prst="roundRect">
            <a:avLst>
              <a:gd name="adj" fmla="val 13333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658368" y="251002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FEATURES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286000" y="2564892"/>
            <a:ext cx="1602486" cy="585216"/>
          </a:xfrm>
          <a:prstGeom prst="roundRect">
            <a:avLst>
              <a:gd name="adj" fmla="val 9375"/>
            </a:avLst>
          </a:prstGeom>
          <a:solidFill>
            <a:srgbClr val="E0F2F7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2322576" y="2564892"/>
            <a:ext cx="1529334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93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 Workflows</a:t>
            </a:r>
            <a:endParaRPr lang="en-US" sz="93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DAGs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4053078" y="2564892"/>
            <a:ext cx="160248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4089654" y="2564892"/>
            <a:ext cx="1529334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93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Dataproc (Spark)</a:t>
            </a:r>
            <a:endParaRPr lang="en-US" sz="93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transform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5820156" y="2564892"/>
            <a:ext cx="160248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5856732" y="2564892"/>
            <a:ext cx="1529334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93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3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data-quality gates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7587234" y="2564892"/>
            <a:ext cx="160248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7623810" y="2564892"/>
            <a:ext cx="1529334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93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Feature Store</a:t>
            </a:r>
            <a:endParaRPr lang="en-US" sz="93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1417320" y="3300984"/>
            <a:ext cx="0" cy="114300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9" name="Shape 27"/>
          <p:cNvSpPr/>
          <p:nvPr/>
        </p:nvSpPr>
        <p:spPr>
          <a:xfrm>
            <a:off x="548640" y="3419856"/>
            <a:ext cx="8732520" cy="877824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Shape 28"/>
          <p:cNvSpPr/>
          <p:nvPr/>
        </p:nvSpPr>
        <p:spPr>
          <a:xfrm>
            <a:off x="658368" y="3511296"/>
            <a:ext cx="1481328" cy="274320"/>
          </a:xfrm>
          <a:prstGeom prst="roundRect">
            <a:avLst>
              <a:gd name="adj" fmla="val 13333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1" name="Text 29"/>
          <p:cNvSpPr/>
          <p:nvPr/>
        </p:nvSpPr>
        <p:spPr>
          <a:xfrm>
            <a:off x="658368" y="351129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+ TRAIN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286000" y="3566160"/>
            <a:ext cx="1602486" cy="585216"/>
          </a:xfrm>
          <a:prstGeom prst="roundRect">
            <a:avLst>
              <a:gd name="adj" fmla="val 9375"/>
            </a:avLst>
          </a:prstGeom>
          <a:solidFill>
            <a:srgbClr val="EDE7FB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3" name="Text 31"/>
          <p:cNvSpPr/>
          <p:nvPr/>
        </p:nvSpPr>
        <p:spPr>
          <a:xfrm>
            <a:off x="2322576" y="3566160"/>
            <a:ext cx="1529334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93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(GCP)</a:t>
            </a:r>
            <a:endParaRPr lang="en-US" sz="93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4053078" y="3566160"/>
            <a:ext cx="1602486" cy="585216"/>
          </a:xfrm>
          <a:prstGeom prst="roundRect">
            <a:avLst>
              <a:gd name="adj" fmla="val 9375"/>
            </a:avLst>
          </a:prstGeom>
          <a:solidFill>
            <a:srgbClr val="EDE7FB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" name="Text 33"/>
          <p:cNvSpPr/>
          <p:nvPr/>
        </p:nvSpPr>
        <p:spPr>
          <a:xfrm>
            <a:off x="4089654" y="3566160"/>
            <a:ext cx="1529334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93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93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+ registry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5820156" y="3566160"/>
            <a:ext cx="160248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7" name="Text 35"/>
          <p:cNvSpPr/>
          <p:nvPr/>
        </p:nvSpPr>
        <p:spPr>
          <a:xfrm>
            <a:off x="5856732" y="3566160"/>
            <a:ext cx="1529334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93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Training</a:t>
            </a:r>
            <a:endParaRPr lang="en-US" sz="93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model</a:t>
            </a:r>
            <a:endParaRPr lang="en-US" sz="930" dirty="0"/>
          </a:p>
        </p:txBody>
      </p:sp>
      <p:sp>
        <p:nvSpPr>
          <p:cNvPr id="38" name="Shape 36"/>
          <p:cNvSpPr/>
          <p:nvPr/>
        </p:nvSpPr>
        <p:spPr>
          <a:xfrm>
            <a:off x="7587234" y="3566160"/>
            <a:ext cx="160248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9" name="Text 37"/>
          <p:cNvSpPr/>
          <p:nvPr/>
        </p:nvSpPr>
        <p:spPr>
          <a:xfrm>
            <a:off x="7623810" y="3566160"/>
            <a:ext cx="1529334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93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Registry</a:t>
            </a:r>
            <a:endParaRPr lang="en-US" sz="93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gates</a:t>
            </a:r>
            <a:endParaRPr lang="en-US" sz="930" dirty="0"/>
          </a:p>
        </p:txBody>
      </p:sp>
      <p:sp>
        <p:nvSpPr>
          <p:cNvPr id="40" name="Shape 38"/>
          <p:cNvSpPr/>
          <p:nvPr/>
        </p:nvSpPr>
        <p:spPr>
          <a:xfrm>
            <a:off x="1417320" y="4302252"/>
            <a:ext cx="0" cy="114300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41" name="Shape 39"/>
          <p:cNvSpPr/>
          <p:nvPr/>
        </p:nvSpPr>
        <p:spPr>
          <a:xfrm>
            <a:off x="548640" y="4421124"/>
            <a:ext cx="8732520" cy="877824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2" name="Shape 40"/>
          <p:cNvSpPr/>
          <p:nvPr/>
        </p:nvSpPr>
        <p:spPr>
          <a:xfrm>
            <a:off x="658368" y="4512564"/>
            <a:ext cx="1481328" cy="274320"/>
          </a:xfrm>
          <a:prstGeom prst="roundRect">
            <a:avLst>
              <a:gd name="adj" fmla="val 13333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3" name="Text 41"/>
          <p:cNvSpPr/>
          <p:nvPr/>
        </p:nvSpPr>
        <p:spPr>
          <a:xfrm>
            <a:off x="658368" y="451256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LAYER (GKE)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286000" y="4567428"/>
            <a:ext cx="1602486" cy="585216"/>
          </a:xfrm>
          <a:prstGeom prst="roundRect">
            <a:avLst>
              <a:gd name="adj" fmla="val 9375"/>
            </a:avLst>
          </a:prstGeom>
          <a:solidFill>
            <a:srgbClr val="E0F2F7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5" name="Text 43"/>
          <p:cNvSpPr/>
          <p:nvPr/>
        </p:nvSpPr>
        <p:spPr>
          <a:xfrm>
            <a:off x="2322576" y="4567428"/>
            <a:ext cx="1529334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93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Orch.</a:t>
            </a:r>
            <a:endParaRPr lang="en-US" sz="93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agents</a:t>
            </a:r>
            <a:endParaRPr lang="en-US" sz="930" dirty="0"/>
          </a:p>
        </p:txBody>
      </p:sp>
      <p:sp>
        <p:nvSpPr>
          <p:cNvPr id="46" name="Shape 44"/>
          <p:cNvSpPr/>
          <p:nvPr/>
        </p:nvSpPr>
        <p:spPr>
          <a:xfrm>
            <a:off x="4053078" y="4567428"/>
            <a:ext cx="1602486" cy="585216"/>
          </a:xfrm>
          <a:prstGeom prst="roundRect">
            <a:avLst>
              <a:gd name="adj" fmla="val 9375"/>
            </a:avLst>
          </a:prstGeom>
          <a:solidFill>
            <a:srgbClr val="EDE7FB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7" name="Text 45"/>
          <p:cNvSpPr/>
          <p:nvPr/>
        </p:nvSpPr>
        <p:spPr>
          <a:xfrm>
            <a:off x="4089654" y="4567428"/>
            <a:ext cx="1529334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93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+ Claude</a:t>
            </a:r>
            <a:endParaRPr lang="en-US" sz="93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/ Model Garden</a:t>
            </a:r>
            <a:endParaRPr lang="en-US" sz="930" dirty="0"/>
          </a:p>
        </p:txBody>
      </p:sp>
      <p:sp>
        <p:nvSpPr>
          <p:cNvPr id="48" name="Shape 46"/>
          <p:cNvSpPr/>
          <p:nvPr/>
        </p:nvSpPr>
        <p:spPr>
          <a:xfrm>
            <a:off x="5820156" y="4567428"/>
            <a:ext cx="160248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9" name="Text 47"/>
          <p:cNvSpPr/>
          <p:nvPr/>
        </p:nvSpPr>
        <p:spPr>
          <a:xfrm>
            <a:off x="5856732" y="4567428"/>
            <a:ext cx="1529334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93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Vector Search</a:t>
            </a:r>
            <a:endParaRPr lang="en-US" sz="93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policy</a:t>
            </a:r>
            <a:endParaRPr lang="en-US" sz="930" dirty="0"/>
          </a:p>
        </p:txBody>
      </p:sp>
      <p:sp>
        <p:nvSpPr>
          <p:cNvPr id="50" name="Shape 48"/>
          <p:cNvSpPr/>
          <p:nvPr/>
        </p:nvSpPr>
        <p:spPr>
          <a:xfrm>
            <a:off x="7587234" y="4567428"/>
            <a:ext cx="160248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1" name="Text 49"/>
          <p:cNvSpPr/>
          <p:nvPr/>
        </p:nvSpPr>
        <p:spPr>
          <a:xfrm>
            <a:off x="7623810" y="4567428"/>
            <a:ext cx="1529334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93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Endpoint</a:t>
            </a:r>
            <a:endParaRPr lang="en-US" sz="93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prediction</a:t>
            </a:r>
            <a:endParaRPr lang="en-US" sz="930" dirty="0"/>
          </a:p>
        </p:txBody>
      </p:sp>
      <p:sp>
        <p:nvSpPr>
          <p:cNvPr id="52" name="Shape 50"/>
          <p:cNvSpPr/>
          <p:nvPr/>
        </p:nvSpPr>
        <p:spPr>
          <a:xfrm>
            <a:off x="1417320" y="5303520"/>
            <a:ext cx="0" cy="114300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53" name="Shape 51"/>
          <p:cNvSpPr/>
          <p:nvPr/>
        </p:nvSpPr>
        <p:spPr>
          <a:xfrm>
            <a:off x="548640" y="5422392"/>
            <a:ext cx="8732520" cy="877824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4" name="Shape 52"/>
          <p:cNvSpPr/>
          <p:nvPr/>
        </p:nvSpPr>
        <p:spPr>
          <a:xfrm>
            <a:off x="658368" y="5513832"/>
            <a:ext cx="1481328" cy="274320"/>
          </a:xfrm>
          <a:prstGeom prst="roundRect">
            <a:avLst>
              <a:gd name="adj" fmla="val 13333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5" name="Text 53"/>
          <p:cNvSpPr/>
          <p:nvPr/>
        </p:nvSpPr>
        <p:spPr>
          <a:xfrm>
            <a:off x="658368" y="551383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+ DECISION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2286000" y="5568696"/>
            <a:ext cx="160248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7" name="Text 55"/>
          <p:cNvSpPr/>
          <p:nvPr/>
        </p:nvSpPr>
        <p:spPr>
          <a:xfrm>
            <a:off x="2322576" y="5568696"/>
            <a:ext cx="1529334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93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Apigee API GW</a:t>
            </a:r>
            <a:endParaRPr lang="en-US" sz="93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API</a:t>
            </a:r>
            <a:endParaRPr lang="en-US" sz="930" dirty="0"/>
          </a:p>
        </p:txBody>
      </p:sp>
      <p:sp>
        <p:nvSpPr>
          <p:cNvPr id="58" name="Shape 56"/>
          <p:cNvSpPr/>
          <p:nvPr/>
        </p:nvSpPr>
        <p:spPr>
          <a:xfrm>
            <a:off x="4053078" y="5568696"/>
            <a:ext cx="160248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9" name="Text 57"/>
          <p:cNvSpPr/>
          <p:nvPr/>
        </p:nvSpPr>
        <p:spPr>
          <a:xfrm>
            <a:off x="4089654" y="5568696"/>
            <a:ext cx="1529334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93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codes</a:t>
            </a:r>
            <a:endParaRPr lang="en-US" sz="93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930" dirty="0"/>
          </a:p>
        </p:txBody>
      </p:sp>
      <p:sp>
        <p:nvSpPr>
          <p:cNvPr id="60" name="Shape 58"/>
          <p:cNvSpPr/>
          <p:nvPr/>
        </p:nvSpPr>
        <p:spPr>
          <a:xfrm>
            <a:off x="5820156" y="5568696"/>
            <a:ext cx="1602486" cy="585216"/>
          </a:xfrm>
          <a:prstGeom prst="roundRect">
            <a:avLst>
              <a:gd name="adj" fmla="val 9375"/>
            </a:avLst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1" name="Text 59"/>
          <p:cNvSpPr/>
          <p:nvPr/>
        </p:nvSpPr>
        <p:spPr>
          <a:xfrm>
            <a:off x="5856732" y="5568696"/>
            <a:ext cx="1529334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93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93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queue</a:t>
            </a:r>
            <a:endParaRPr lang="en-US" sz="930" dirty="0"/>
          </a:p>
        </p:txBody>
      </p:sp>
      <p:sp>
        <p:nvSpPr>
          <p:cNvPr id="62" name="Shape 60"/>
          <p:cNvSpPr/>
          <p:nvPr/>
        </p:nvSpPr>
        <p:spPr>
          <a:xfrm>
            <a:off x="7587234" y="5568696"/>
            <a:ext cx="1602486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3" name="Text 61"/>
          <p:cNvSpPr/>
          <p:nvPr/>
        </p:nvSpPr>
        <p:spPr>
          <a:xfrm>
            <a:off x="7623810" y="5568696"/>
            <a:ext cx="1529334" cy="58521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93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system</a:t>
            </a:r>
            <a:endParaRPr lang="en-US" sz="93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write-back</a:t>
            </a:r>
            <a:endParaRPr lang="en-US" sz="930" dirty="0"/>
          </a:p>
        </p:txBody>
      </p:sp>
      <p:sp>
        <p:nvSpPr>
          <p:cNvPr id="64" name="Shape 62"/>
          <p:cNvSpPr/>
          <p:nvPr/>
        </p:nvSpPr>
        <p:spPr>
          <a:xfrm>
            <a:off x="9464040" y="1417320"/>
            <a:ext cx="2176272" cy="4882896"/>
          </a:xfrm>
          <a:prstGeom prst="roundRect">
            <a:avLst>
              <a:gd name="adj" fmla="val 2941"/>
            </a:avLst>
          </a:prstGeom>
          <a:solidFill>
            <a:srgbClr val="0F172A"/>
          </a:solidFill>
          <a:ln/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5" name="Text 63"/>
          <p:cNvSpPr/>
          <p:nvPr/>
        </p:nvSpPr>
        <p:spPr>
          <a:xfrm>
            <a:off x="9464040" y="1527048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b="1" kern="0" spc="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00" b="1" kern="0" spc="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GOVERNANCE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9628632" y="2203704"/>
            <a:ext cx="1847088" cy="45720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7" name="Text 65"/>
          <p:cNvSpPr/>
          <p:nvPr/>
        </p:nvSpPr>
        <p:spPr>
          <a:xfrm>
            <a:off x="9665208" y="2203704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Monitoring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628632" y="2752344"/>
            <a:ext cx="1847088" cy="45720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9" name="Text 67"/>
          <p:cNvSpPr/>
          <p:nvPr/>
        </p:nvSpPr>
        <p:spPr>
          <a:xfrm>
            <a:off x="9665208" y="2752344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9628632" y="3300984"/>
            <a:ext cx="1847088" cy="45720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1" name="Text 69"/>
          <p:cNvSpPr/>
          <p:nvPr/>
        </p:nvSpPr>
        <p:spPr>
          <a:xfrm>
            <a:off x="9665208" y="3300984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9628632" y="3849624"/>
            <a:ext cx="1847088" cy="45720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3" name="Text 71"/>
          <p:cNvSpPr/>
          <p:nvPr/>
        </p:nvSpPr>
        <p:spPr>
          <a:xfrm>
            <a:off x="9665208" y="3849624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AI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9628632" y="4398264"/>
            <a:ext cx="1847088" cy="45720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5" name="Text 73"/>
          <p:cNvSpPr/>
          <p:nvPr/>
        </p:nvSpPr>
        <p:spPr>
          <a:xfrm>
            <a:off x="9665208" y="4398264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 · DLP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628632" y="4946904"/>
            <a:ext cx="1847088" cy="45720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7" name="Text 75"/>
          <p:cNvSpPr/>
          <p:nvPr/>
        </p:nvSpPr>
        <p:spPr>
          <a:xfrm>
            <a:off x="9665208" y="4946904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· KMS · TF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Decision Platform · Google Cloud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DECISION PLATFORM · GOOGLE CLOUD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Google Cloud services used across the platform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615184" cy="2121408"/>
          </a:xfrm>
          <a:prstGeom prst="roundRect">
            <a:avLst>
              <a:gd name="adj" fmla="val 301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146304" cy="14630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969264" y="1527048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Compute &amp; Orchestration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49808" y="1965960"/>
            <a:ext cx="22311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Kubernetes Engine (GKE)</a:t>
            </a:r>
            <a:endParaRPr lang="en-US" sz="980" dirty="0"/>
          </a:p>
          <a:p>
            <a:pPr marL="0" indent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 Workflows on GKE</a:t>
            </a:r>
            <a:endParaRPr lang="en-US" sz="980" dirty="0"/>
          </a:p>
          <a:p>
            <a:pPr marL="0" indent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3346704" y="1417320"/>
            <a:ext cx="2615184" cy="2121408"/>
          </a:xfrm>
          <a:prstGeom prst="roundRect">
            <a:avLst>
              <a:gd name="adj" fmla="val 301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3529584" y="1600200"/>
            <a:ext cx="146304" cy="14630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3767328" y="1527048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 &amp; Analytics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547872" y="1965960"/>
            <a:ext cx="22311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endParaRPr lang="en-US" sz="980" dirty="0"/>
          </a:p>
          <a:p>
            <a:pPr marL="0" indent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(GCS)</a:t>
            </a:r>
            <a:endParaRPr lang="en-US" sz="980" dirty="0"/>
          </a:p>
          <a:p>
            <a:pPr marL="0" indent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</a:t>
            </a:r>
            <a:endParaRPr lang="en-US" sz="980" dirty="0"/>
          </a:p>
          <a:p>
            <a:pPr marL="0" indent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Dataproc (Spark) · Dataflow</a:t>
            </a:r>
            <a:endParaRPr lang="en-US" sz="980" dirty="0"/>
          </a:p>
          <a:p>
            <a:pPr marL="0" indent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AlloyDB / Cloud SQL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6144768" y="1417320"/>
            <a:ext cx="2615184" cy="2121408"/>
          </a:xfrm>
          <a:prstGeom prst="roundRect">
            <a:avLst>
              <a:gd name="adj" fmla="val 301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6327648" y="1600200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6565392" y="1527048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ML Platform — Vertex AI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45936" y="1965960"/>
            <a:ext cx="22311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Training</a:t>
            </a:r>
            <a:endParaRPr lang="en-US" sz="980" dirty="0"/>
          </a:p>
          <a:p>
            <a:pPr marL="0" indent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Endpoints</a:t>
            </a:r>
            <a:endParaRPr lang="en-US" sz="980" dirty="0"/>
          </a:p>
          <a:p>
            <a:pPr marL="0" indent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Feature Store</a:t>
            </a:r>
            <a:endParaRPr lang="en-US" sz="980" dirty="0"/>
          </a:p>
          <a:p>
            <a:pPr marL="0" indent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Model Registry</a:t>
            </a:r>
            <a:endParaRPr lang="en-US" sz="980" dirty="0"/>
          </a:p>
          <a:p>
            <a:pPr marL="0" indent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Pipelines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8942832" y="1417320"/>
            <a:ext cx="2615184" cy="2121408"/>
          </a:xfrm>
          <a:prstGeom prst="roundRect">
            <a:avLst>
              <a:gd name="adj" fmla="val 301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9125712" y="1600200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9363456" y="1527048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LLM &amp; RAG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144000" y="1965960"/>
            <a:ext cx="22311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(Vertex AI)</a:t>
            </a:r>
            <a:endParaRPr lang="en-US" sz="980" dirty="0"/>
          </a:p>
          <a:p>
            <a:pPr marL="0" indent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(Model Garden)</a:t>
            </a:r>
            <a:endParaRPr lang="en-US" sz="980" dirty="0"/>
          </a:p>
          <a:p>
            <a:pPr marL="0" indent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Vector Search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548640" y="3758184"/>
            <a:ext cx="2615184" cy="2121408"/>
          </a:xfrm>
          <a:prstGeom prst="roundRect">
            <a:avLst>
              <a:gd name="adj" fmla="val 301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" name="Shape 20"/>
          <p:cNvSpPr/>
          <p:nvPr/>
        </p:nvSpPr>
        <p:spPr>
          <a:xfrm>
            <a:off x="731520" y="3941064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969264" y="3867912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CI/CD &amp; IaC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49808" y="4306824"/>
            <a:ext cx="22311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Build</a:t>
            </a:r>
            <a:endParaRPr lang="en-US" sz="980" dirty="0"/>
          </a:p>
          <a:p>
            <a:pPr marL="0" indent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Registry</a:t>
            </a:r>
            <a:endParaRPr lang="en-US" sz="980" dirty="0"/>
          </a:p>
          <a:p>
            <a:pPr marL="0" indent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3346704" y="3758184"/>
            <a:ext cx="2615184" cy="2121408"/>
          </a:xfrm>
          <a:prstGeom prst="roundRect">
            <a:avLst>
              <a:gd name="adj" fmla="val 301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" name="Shape 24"/>
          <p:cNvSpPr/>
          <p:nvPr/>
        </p:nvSpPr>
        <p:spPr>
          <a:xfrm>
            <a:off x="3529584" y="3941064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3767328" y="3867912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Security &amp; Governance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547872" y="4306824"/>
            <a:ext cx="22311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· Cloud KMS</a:t>
            </a:r>
            <a:endParaRPr lang="en-US" sz="980" dirty="0"/>
          </a:p>
          <a:p>
            <a:pPr marL="0" indent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VPC-SC · DLP</a:t>
            </a:r>
            <a:endParaRPr lang="en-US" sz="980" dirty="0"/>
          </a:p>
          <a:p>
            <a:pPr marL="0" indent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Manager</a:t>
            </a:r>
            <a:endParaRPr lang="en-US" sz="980" dirty="0"/>
          </a:p>
          <a:p>
            <a:pPr marL="0" indent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Audit Logs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6144768" y="3758184"/>
            <a:ext cx="2615184" cy="2121408"/>
          </a:xfrm>
          <a:prstGeom prst="roundRect">
            <a:avLst>
              <a:gd name="adj" fmla="val 301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0" name="Shape 28"/>
          <p:cNvSpPr/>
          <p:nvPr/>
        </p:nvSpPr>
        <p:spPr>
          <a:xfrm>
            <a:off x="6327648" y="3941064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1" name="Text 29"/>
          <p:cNvSpPr/>
          <p:nvPr/>
        </p:nvSpPr>
        <p:spPr>
          <a:xfrm>
            <a:off x="6565392" y="3867912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Monitoring &amp; Alerting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345936" y="4306824"/>
            <a:ext cx="22311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Monitoring / Logging</a:t>
            </a:r>
            <a:endParaRPr lang="en-US" sz="980" dirty="0"/>
          </a:p>
          <a:p>
            <a:pPr marL="0" indent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· Datadog</a:t>
            </a:r>
            <a:endParaRPr lang="en-US" sz="980" dirty="0"/>
          </a:p>
          <a:p>
            <a:pPr marL="0" indent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AI (LLM eval)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Decision Platform · Google Cloud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DECISION PLATFORM · TRAINING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model training works — with cloud services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449324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585216" y="1965960"/>
            <a:ext cx="1376172" cy="1051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+ bureau</a:t>
            </a:r>
            <a:endParaRPr lang="en-US" sz="100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BigQuery/GCS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02536" y="2491740"/>
            <a:ext cx="137160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2144268" y="1965960"/>
            <a:ext cx="1449324" cy="1051560"/>
          </a:xfrm>
          <a:prstGeom prst="roundRect">
            <a:avLst>
              <a:gd name="adj" fmla="val 5217"/>
            </a:avLst>
          </a:prstGeom>
          <a:solidFill>
            <a:srgbClr val="E0F2F7"/>
          </a:solidFill>
          <a:ln w="12700">
            <a:solidFill>
              <a:srgbClr val="0E7490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2180844" y="1965960"/>
            <a:ext cx="1376172" cy="1051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00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98164" y="2491740"/>
            <a:ext cx="137160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3739896" y="1965960"/>
            <a:ext cx="1449324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3776472" y="1965960"/>
            <a:ext cx="1376172" cy="1051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build</a:t>
            </a:r>
            <a:endParaRPr lang="en-US" sz="100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Dataproc·Spark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93792" y="2491740"/>
            <a:ext cx="137160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5335524" y="1965960"/>
            <a:ext cx="1449324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5372100" y="1965960"/>
            <a:ext cx="1376172" cy="1051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</a:t>
            </a:r>
            <a:endParaRPr lang="en-US" sz="100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89420" y="2491740"/>
            <a:ext cx="137160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6931152" y="1965960"/>
            <a:ext cx="1449324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6967728" y="1965960"/>
            <a:ext cx="1376172" cy="1051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385048" y="2491740"/>
            <a:ext cx="137160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0" name="Shape 18"/>
          <p:cNvSpPr/>
          <p:nvPr/>
        </p:nvSpPr>
        <p:spPr>
          <a:xfrm>
            <a:off x="8526780" y="1965960"/>
            <a:ext cx="1449324" cy="1051560"/>
          </a:xfrm>
          <a:prstGeom prst="roundRect">
            <a:avLst>
              <a:gd name="adj" fmla="val 5217"/>
            </a:avLst>
          </a:prstGeom>
          <a:solidFill>
            <a:srgbClr val="EDE7FB"/>
          </a:solidFill>
          <a:ln w="12700">
            <a:solidFill>
              <a:srgbClr val="6D28D9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8563356" y="1965960"/>
            <a:ext cx="1376172" cy="1051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00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metrics+fairness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980676" y="2491740"/>
            <a:ext cx="137160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3" name="Shape 21"/>
          <p:cNvSpPr/>
          <p:nvPr/>
        </p:nvSpPr>
        <p:spPr>
          <a:xfrm>
            <a:off x="10122408" y="1965960"/>
            <a:ext cx="1449324" cy="1051560"/>
          </a:xfrm>
          <a:prstGeom prst="roundRect">
            <a:avLst>
              <a:gd name="adj" fmla="val 5217"/>
            </a:avLst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10158984" y="1965960"/>
            <a:ext cx="1376172" cy="1051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00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Reg.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1371600"/>
            <a:ext cx="3044952" cy="457200"/>
          </a:xfrm>
          <a:prstGeom prst="roundRect">
            <a:avLst>
              <a:gd name="adj" fmla="val 10000"/>
            </a:avLst>
          </a:prstGeom>
          <a:solidFill>
            <a:srgbClr val="EDE7FB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548640" y="137160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(GCP) experiments + MLflow tracking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071116" y="1847088"/>
            <a:ext cx="0" cy="100584"/>
          </a:xfrm>
          <a:prstGeom prst="line">
            <a:avLst/>
          </a:prstGeom>
          <a:noFill/>
          <a:ln w="20320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8" name="Shape 26"/>
          <p:cNvSpPr/>
          <p:nvPr/>
        </p:nvSpPr>
        <p:spPr>
          <a:xfrm>
            <a:off x="548640" y="3337560"/>
            <a:ext cx="11023092" cy="384048"/>
          </a:xfrm>
          <a:prstGeom prst="roundRect">
            <a:avLst>
              <a:gd name="adj" fmla="val 11905"/>
            </a:avLst>
          </a:prstGeom>
          <a:solidFill>
            <a:srgbClr val="0E74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9" name="Text 27"/>
          <p:cNvSpPr/>
          <p:nvPr/>
        </p:nvSpPr>
        <p:spPr>
          <a:xfrm>
            <a:off x="548640" y="3337560"/>
            <a:ext cx="110230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 by Argo Workflows on GKE  —  every run idempotent, versioned, reproducible (MLflow)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3977640"/>
            <a:ext cx="11023092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" name="Text 29"/>
          <p:cNvSpPr/>
          <p:nvPr/>
        </p:nvSpPr>
        <p:spPr>
          <a:xfrm>
            <a:off x="777240" y="3977640"/>
            <a:ext cx="105658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is triggered, not scheduled by habit.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monitors or accumulated label corrections fire a run; the gate blocks promotion unless metric, fairness and calibration checks pass.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4983480"/>
            <a:ext cx="3552444" cy="841248"/>
          </a:xfrm>
          <a:prstGeom prst="roundRect">
            <a:avLst>
              <a:gd name="adj" fmla="val 543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3" name="Text 31"/>
          <p:cNvSpPr/>
          <p:nvPr/>
        </p:nvSpPr>
        <p:spPr>
          <a:xfrm>
            <a:off x="685800" y="5056632"/>
            <a:ext cx="32781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features
</a:t>
            </a:r>
            <a:endParaRPr lang="en-US" sz="105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Vertex Feature Store definition serves training and the live endpoint — no skew, no leakage.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283964" y="4983480"/>
            <a:ext cx="3552444" cy="841248"/>
          </a:xfrm>
          <a:prstGeom prst="roundRect">
            <a:avLst>
              <a:gd name="adj" fmla="val 543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" name="Text 33"/>
          <p:cNvSpPr/>
          <p:nvPr/>
        </p:nvSpPr>
        <p:spPr>
          <a:xfrm>
            <a:off x="4421124" y="5056632"/>
            <a:ext cx="32781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as a gate
</a:t>
            </a:r>
            <a:endParaRPr lang="en-US" sz="105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Sliced error + adverse-impact checks run in CI, not as a post-hoc audit.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019288" y="4983480"/>
            <a:ext cx="3552444" cy="841248"/>
          </a:xfrm>
          <a:prstGeom prst="roundRect">
            <a:avLst>
              <a:gd name="adj" fmla="val 543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7" name="Text 35"/>
          <p:cNvSpPr/>
          <p:nvPr/>
        </p:nvSpPr>
        <p:spPr>
          <a:xfrm>
            <a:off x="8156448" y="5056632"/>
            <a:ext cx="32781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probabilities
</a:t>
            </a:r>
            <a:endParaRPr lang="en-US" sz="105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ride on probabilities, so isotonic/Platt calibration is mandatory.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Decision Platform · Google Cloud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DECISION PLATFORM · AGENTS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 agents + RAG pipeline — with cloud services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41732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585216" y="1874520"/>
            <a:ext cx="1344168" cy="914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0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00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+ docs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93392" y="2331720"/>
            <a:ext cx="384048" cy="0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2423160" y="1828800"/>
            <a:ext cx="1783080" cy="1051560"/>
          </a:xfrm>
          <a:prstGeom prst="roundRect">
            <a:avLst>
              <a:gd name="adj" fmla="val 6087"/>
            </a:avLst>
          </a:prstGeom>
          <a:solidFill>
            <a:srgbClr val="0E7490"/>
          </a:solidFill>
          <a:ln/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2423160" y="182880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
</a:t>
            </a:r>
            <a:endParaRPr lang="en-US" sz="12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on GKE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24528" y="2350008"/>
            <a:ext cx="329184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4572000" y="1417320"/>
            <a:ext cx="2286000" cy="841248"/>
          </a:xfrm>
          <a:prstGeom prst="roundRect">
            <a:avLst>
              <a:gd name="adj" fmla="val 6522"/>
            </a:avLst>
          </a:prstGeom>
          <a:solidFill>
            <a:srgbClr val="EDE7FB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4608576" y="1417320"/>
            <a:ext cx="2212848" cy="8412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Agent</a:t>
            </a:r>
            <a:endParaRPr lang="en-US" sz="105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040880" y="1417320"/>
            <a:ext cx="2286000" cy="841248"/>
          </a:xfrm>
          <a:prstGeom prst="roundRect">
            <a:avLst>
              <a:gd name="adj" fmla="val 6522"/>
            </a:avLst>
          </a:prstGeom>
          <a:solidFill>
            <a:srgbClr val="EDE7FB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7077456" y="1417320"/>
            <a:ext cx="2212848" cy="8412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/ AML Agent</a:t>
            </a:r>
            <a:endParaRPr lang="en-US" sz="105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0" y="2441448"/>
            <a:ext cx="2286000" cy="841248"/>
          </a:xfrm>
          <a:prstGeom prst="roundRect">
            <a:avLst>
              <a:gd name="adj" fmla="val 6522"/>
            </a:avLst>
          </a:prstGeom>
          <a:solidFill>
            <a:srgbClr val="EDE7FB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4608576" y="2441448"/>
            <a:ext cx="2212848" cy="8412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Analysis Agent</a:t>
            </a:r>
            <a:endParaRPr lang="en-US" sz="105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040880" y="2441448"/>
            <a:ext cx="2286000" cy="841248"/>
          </a:xfrm>
          <a:prstGeom prst="roundRect">
            <a:avLst>
              <a:gd name="adj" fmla="val 6522"/>
            </a:avLst>
          </a:prstGeom>
          <a:solidFill>
            <a:srgbClr val="EDE7FB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7077456" y="2441448"/>
            <a:ext cx="2212848" cy="84124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 Agent</a:t>
            </a:r>
            <a:endParaRPr lang="en-US" sz="105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345168" y="2350008"/>
            <a:ext cx="310896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0" name="Shape 18"/>
          <p:cNvSpPr/>
          <p:nvPr/>
        </p:nvSpPr>
        <p:spPr>
          <a:xfrm>
            <a:off x="10012680" y="1828800"/>
            <a:ext cx="1600200" cy="1051560"/>
          </a:xfrm>
          <a:prstGeom prst="roundRect">
            <a:avLst>
              <a:gd name="adj" fmla="val 5217"/>
            </a:avLst>
          </a:prstGeom>
          <a:solidFill>
            <a:srgbClr val="E0F2F7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10049256" y="1828800"/>
            <a:ext cx="1527048" cy="1051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5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05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086600" y="3310128"/>
            <a:ext cx="0" cy="502920"/>
          </a:xfrm>
          <a:prstGeom prst="line">
            <a:avLst/>
          </a:prstGeom>
          <a:noFill/>
          <a:ln w="20320">
            <a:solidFill>
              <a:srgbClr val="0E7490"/>
            </a:solidFill>
            <a:prstDash val="dash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3" name="Shape 21"/>
          <p:cNvSpPr/>
          <p:nvPr/>
        </p:nvSpPr>
        <p:spPr>
          <a:xfrm>
            <a:off x="4096512" y="3867912"/>
            <a:ext cx="7315200" cy="1344168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4206240" y="388620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· Vertex AI Vector Search over lending policy &amp; regulation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51960" y="4178808"/>
            <a:ext cx="1097280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4288536" y="4178808"/>
            <a:ext cx="1024128" cy="7406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90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7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349240" y="4549140"/>
            <a:ext cx="91440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8" name="Shape 26"/>
          <p:cNvSpPr/>
          <p:nvPr/>
        </p:nvSpPr>
        <p:spPr>
          <a:xfrm>
            <a:off x="5440680" y="4178808"/>
            <a:ext cx="1097280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Text 27"/>
          <p:cNvSpPr/>
          <p:nvPr/>
        </p:nvSpPr>
        <p:spPr>
          <a:xfrm>
            <a:off x="5477256" y="4178808"/>
            <a:ext cx="1024128" cy="7406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90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7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Vector Search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537960" y="4549140"/>
            <a:ext cx="91440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31" name="Shape 29"/>
          <p:cNvSpPr/>
          <p:nvPr/>
        </p:nvSpPr>
        <p:spPr>
          <a:xfrm>
            <a:off x="6629400" y="4178808"/>
            <a:ext cx="1097280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" name="Text 30"/>
          <p:cNvSpPr/>
          <p:nvPr/>
        </p:nvSpPr>
        <p:spPr>
          <a:xfrm>
            <a:off x="6665976" y="4178808"/>
            <a:ext cx="1024128" cy="7406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</a:t>
            </a:r>
            <a:endParaRPr lang="en-US" sz="90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7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726680" y="4549140"/>
            <a:ext cx="91440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34" name="Shape 32"/>
          <p:cNvSpPr/>
          <p:nvPr/>
        </p:nvSpPr>
        <p:spPr>
          <a:xfrm>
            <a:off x="7818120" y="4178808"/>
            <a:ext cx="1097280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" name="Text 33"/>
          <p:cNvSpPr/>
          <p:nvPr/>
        </p:nvSpPr>
        <p:spPr>
          <a:xfrm>
            <a:off x="7854696" y="4178808"/>
            <a:ext cx="1024128" cy="7406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prompt</a:t>
            </a:r>
            <a:endParaRPr lang="en-US" sz="90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7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citations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915400" y="4549140"/>
            <a:ext cx="91440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37" name="Shape 35"/>
          <p:cNvSpPr/>
          <p:nvPr/>
        </p:nvSpPr>
        <p:spPr>
          <a:xfrm>
            <a:off x="9006840" y="4178808"/>
            <a:ext cx="1097280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8" name="Text 36"/>
          <p:cNvSpPr/>
          <p:nvPr/>
        </p:nvSpPr>
        <p:spPr>
          <a:xfrm>
            <a:off x="9043416" y="4178808"/>
            <a:ext cx="1024128" cy="7406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0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7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/ Claude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0104120" y="4549140"/>
            <a:ext cx="91440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40" name="Shape 38"/>
          <p:cNvSpPr/>
          <p:nvPr/>
        </p:nvSpPr>
        <p:spPr>
          <a:xfrm>
            <a:off x="10195560" y="4178808"/>
            <a:ext cx="1097280" cy="74066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1" name="Text 39"/>
          <p:cNvSpPr/>
          <p:nvPr/>
        </p:nvSpPr>
        <p:spPr>
          <a:xfrm>
            <a:off x="10232136" y="4178808"/>
            <a:ext cx="1024128" cy="7406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90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7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AI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call the ML scoring endpoint + data tools, then return a grounded, cited recommendation -&gt; reason codes -&gt; human-in-the-loop for the edge cases.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Decision Platform · Google Cloud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DECISION PLATFORM · LIFECYCLE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Experiments -&gt; development -&gt; deployment -&gt; production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481328" cy="914400"/>
          </a:xfrm>
          <a:prstGeom prst="roundRect">
            <a:avLst>
              <a:gd name="adj" fmla="val 6000"/>
            </a:avLst>
          </a:prstGeom>
          <a:solidFill>
            <a:srgbClr val="EDE7FB"/>
          </a:solidFill>
          <a:ln w="12700">
            <a:solidFill>
              <a:srgbClr val="6D28D9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585216" y="1783080"/>
            <a:ext cx="1408176" cy="914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</a:t>
            </a:r>
            <a:endParaRPr lang="en-US" sz="105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Databricks+MLflow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032711" y="2240280"/>
            <a:ext cx="145390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2180844" y="1783080"/>
            <a:ext cx="1481328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2217420" y="1783080"/>
            <a:ext cx="1408176" cy="914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</a:t>
            </a:r>
            <a:endParaRPr lang="en-US" sz="105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· review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64915" y="2240280"/>
            <a:ext cx="145390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3813048" y="1783080"/>
            <a:ext cx="1481328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3849624" y="1783080"/>
            <a:ext cx="1408176" cy="914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05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tests + gates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297119" y="2240280"/>
            <a:ext cx="145390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5445252" y="1783080"/>
            <a:ext cx="1481328" cy="9144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5481828" y="1783080"/>
            <a:ext cx="1408176" cy="914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05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promote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29323" y="2240280"/>
            <a:ext cx="145390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7077456" y="1783080"/>
            <a:ext cx="1481328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7114032" y="1783080"/>
            <a:ext cx="1408176" cy="914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5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· canary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561527" y="2240280"/>
            <a:ext cx="145390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0" name="Shape 18"/>
          <p:cNvSpPr/>
          <p:nvPr/>
        </p:nvSpPr>
        <p:spPr>
          <a:xfrm>
            <a:off x="8709660" y="1783080"/>
            <a:ext cx="1481328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8746236" y="1783080"/>
            <a:ext cx="1408176" cy="914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05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at scale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193731" y="2240280"/>
            <a:ext cx="145390" cy="0"/>
          </a:xfrm>
          <a:prstGeom prst="line">
            <a:avLst/>
          </a:prstGeom>
          <a:noFill/>
          <a:ln w="20320">
            <a:solidFill>
              <a:srgbClr val="0E7490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3" name="Shape 21"/>
          <p:cNvSpPr/>
          <p:nvPr/>
        </p:nvSpPr>
        <p:spPr>
          <a:xfrm>
            <a:off x="10341864" y="1783080"/>
            <a:ext cx="1481328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10378440" y="1783080"/>
            <a:ext cx="1408176" cy="914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05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+ drift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1091672" y="2971800"/>
            <a:ext cx="0" cy="0"/>
          </a:xfrm>
          <a:prstGeom prst="line">
            <a:avLst/>
          </a:prstGeom>
          <a:noFill/>
          <a:ln w="20320">
            <a:solidFill>
              <a:srgbClr val="6D28D9"/>
            </a:solidFill>
            <a:prstDash val="dash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548640" y="30632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closes the loop — drift / decay opens the next experiment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35661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ACROSS ENVIRONMENTS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3877056"/>
            <a:ext cx="3453384" cy="1325880"/>
          </a:xfrm>
          <a:prstGeom prst="roundRect">
            <a:avLst>
              <a:gd name="adj" fmla="val 482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9" name="Text 27"/>
          <p:cNvSpPr/>
          <p:nvPr/>
        </p:nvSpPr>
        <p:spPr>
          <a:xfrm>
            <a:off x="731520" y="4005072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Dev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1520" y="4407408"/>
            <a:ext cx="3087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experimentation · synthetic &amp; sampled data · no prod access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056888" y="4535424"/>
            <a:ext cx="347472" cy="0"/>
          </a:xfrm>
          <a:prstGeom prst="line">
            <a:avLst/>
          </a:prstGeom>
          <a:noFill/>
          <a:ln w="20320">
            <a:solidFill>
              <a:srgbClr val="047857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32" name="Text 30"/>
          <p:cNvSpPr/>
          <p:nvPr/>
        </p:nvSpPr>
        <p:spPr>
          <a:xfrm>
            <a:off x="4002024" y="4206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59224" y="3877056"/>
            <a:ext cx="3453384" cy="1325880"/>
          </a:xfrm>
          <a:prstGeom prst="roundRect">
            <a:avLst>
              <a:gd name="adj" fmla="val 482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4" name="Text 32"/>
          <p:cNvSpPr/>
          <p:nvPr/>
        </p:nvSpPr>
        <p:spPr>
          <a:xfrm>
            <a:off x="4642104" y="4005072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Staging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642104" y="4407408"/>
            <a:ext cx="3087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Prod-like data · full CI gates · shadow eval · sign-off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967472" y="4535424"/>
            <a:ext cx="347472" cy="0"/>
          </a:xfrm>
          <a:prstGeom prst="line">
            <a:avLst/>
          </a:prstGeom>
          <a:noFill/>
          <a:ln w="20320">
            <a:solidFill>
              <a:srgbClr val="047857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37" name="Text 35"/>
          <p:cNvSpPr/>
          <p:nvPr/>
        </p:nvSpPr>
        <p:spPr>
          <a:xfrm>
            <a:off x="7912608" y="4206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8369808" y="3877056"/>
            <a:ext cx="3453384" cy="1325880"/>
          </a:xfrm>
          <a:prstGeom prst="roundRect">
            <a:avLst>
              <a:gd name="adj" fmla="val 4828"/>
            </a:avLst>
          </a:prstGeom>
          <a:solidFill>
            <a:srgbClr val="E0F2F7"/>
          </a:solidFill>
          <a:ln w="15875">
            <a:solidFill>
              <a:srgbClr val="0E7490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9" name="Text 37"/>
          <p:cNvSpPr/>
          <p:nvPr/>
        </p:nvSpPr>
        <p:spPr>
          <a:xfrm>
            <a:off x="8552688" y="4005072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49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Production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552688" y="4407408"/>
            <a:ext cx="3087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rollout · live traffic · HITL · full monitoring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48640" y="53035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promotion is gated; artifacts (code, data snapshot, feature &amp; model versions) are immutable and traceable end to end via MLflow + the model registry.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Decision Platform · Google Cloud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DECISION PLATFORM · RELEASE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Shipping fast without compromising production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481328" cy="914400"/>
          </a:xfrm>
          <a:prstGeom prst="roundRect">
            <a:avLst>
              <a:gd name="adj" fmla="val 6000"/>
            </a:avLst>
          </a:prstGeom>
          <a:solidFill>
            <a:srgbClr val="EDE7FB"/>
          </a:solidFill>
          <a:ln w="12700">
            <a:solidFill>
              <a:srgbClr val="6D28D9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585216" y="1828800"/>
            <a:ext cx="1408176" cy="914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</a:t>
            </a:r>
            <a:endParaRPr lang="en-US" sz="105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Databricks+MLflow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032711" y="2286000"/>
            <a:ext cx="145390" cy="0"/>
          </a:xfrm>
          <a:prstGeom prst="line">
            <a:avLst/>
          </a:prstGeom>
          <a:noFill/>
          <a:ln w="20320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2180844" y="1828800"/>
            <a:ext cx="1481328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2217420" y="1828800"/>
            <a:ext cx="1408176" cy="914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checks</a:t>
            </a:r>
            <a:endParaRPr lang="en-US" sz="105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code+data+model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64915" y="2286000"/>
            <a:ext cx="145390" cy="0"/>
          </a:xfrm>
          <a:prstGeom prst="line">
            <a:avLst/>
          </a:prstGeom>
          <a:noFill/>
          <a:ln w="20320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3813048" y="1828800"/>
            <a:ext cx="1481328" cy="9144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3849624" y="1828800"/>
            <a:ext cx="1408176" cy="914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05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gate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297119" y="2286000"/>
            <a:ext cx="145390" cy="0"/>
          </a:xfrm>
          <a:prstGeom prst="line">
            <a:avLst/>
          </a:prstGeom>
          <a:noFill/>
          <a:ln w="20320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5445252" y="1828800"/>
            <a:ext cx="1481328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5481828" y="1828800"/>
            <a:ext cx="1408176" cy="914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</a:t>
            </a:r>
            <a:endParaRPr lang="en-US" sz="105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traffic, 0 impact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29323" y="2286000"/>
            <a:ext cx="145390" cy="0"/>
          </a:xfrm>
          <a:prstGeom prst="line">
            <a:avLst/>
          </a:prstGeom>
          <a:noFill/>
          <a:ln w="20320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7077456" y="1828800"/>
            <a:ext cx="1481328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7114032" y="1828800"/>
            <a:ext cx="1408176" cy="914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</a:t>
            </a:r>
            <a:endParaRPr lang="en-US" sz="105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% live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561527" y="2286000"/>
            <a:ext cx="145390" cy="0"/>
          </a:xfrm>
          <a:prstGeom prst="line">
            <a:avLst/>
          </a:prstGeom>
          <a:noFill/>
          <a:ln w="20320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0" name="Shape 18"/>
          <p:cNvSpPr/>
          <p:nvPr/>
        </p:nvSpPr>
        <p:spPr>
          <a:xfrm>
            <a:off x="8709660" y="1828800"/>
            <a:ext cx="1481328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8746236" y="1828800"/>
            <a:ext cx="1408176" cy="914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</a:t>
            </a:r>
            <a:endParaRPr lang="en-US" sz="105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 to 100%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193731" y="2286000"/>
            <a:ext cx="145390" cy="0"/>
          </a:xfrm>
          <a:prstGeom prst="line">
            <a:avLst/>
          </a:prstGeom>
          <a:noFill/>
          <a:ln w="20320">
            <a:solidFill>
              <a:srgbClr val="6D28D9"/>
            </a:solidFill>
            <a:prstDash val="solid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3" name="Shape 21"/>
          <p:cNvSpPr/>
          <p:nvPr/>
        </p:nvSpPr>
        <p:spPr>
          <a:xfrm>
            <a:off x="10341864" y="1828800"/>
            <a:ext cx="1481328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10378440" y="1828800"/>
            <a:ext cx="1408176" cy="914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050" dirty="0"/>
          </a:p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+ drift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371600" y="1508760"/>
            <a:ext cx="8257032" cy="0"/>
          </a:xfrm>
          <a:prstGeom prst="line">
            <a:avLst/>
          </a:prstGeom>
          <a:noFill/>
          <a:ln w="20320">
            <a:solidFill>
              <a:srgbClr val="B91C1C"/>
            </a:solidFill>
            <a:prstDash val="solid"/>
            <a:head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548640" y="11887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rollback — previous version stays warm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1091672" y="3035808"/>
            <a:ext cx="0" cy="0"/>
          </a:xfrm>
          <a:prstGeom prst="line">
            <a:avLst/>
          </a:prstGeom>
          <a:noFill/>
          <a:ln w="20320">
            <a:solidFill>
              <a:srgbClr val="6D28D9"/>
            </a:solidFill>
            <a:prstDash val="dash"/>
            <a:tailEnd type="triangle"/>
          </a:ln>
        </p:spPr>
        <p:txBody>
          <a:bodyPr/>
          <a:lstStyle/>
          <a:p>
            <a:endParaRPr lang="en-AU"/>
          </a:p>
        </p:txBody>
      </p:sp>
      <p:sp>
        <p:nvSpPr>
          <p:cNvPr id="28" name="Text 26"/>
          <p:cNvSpPr/>
          <p:nvPr/>
        </p:nvSpPr>
        <p:spPr>
          <a:xfrm>
            <a:off x="548640" y="312724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/ decay -&gt; triggers a new experiment (closed loop)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3703320"/>
            <a:ext cx="2667762" cy="13716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0" name="Text 28"/>
          <p:cNvSpPr/>
          <p:nvPr/>
        </p:nvSpPr>
        <p:spPr>
          <a:xfrm>
            <a:off x="713232" y="3831336"/>
            <a:ext cx="23385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gate is a quality bar
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blocked unless metric, fairness, calibration &amp; guardrail checks all pass.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417570" y="3703320"/>
            <a:ext cx="2667762" cy="13716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Text 30"/>
          <p:cNvSpPr/>
          <p:nvPr/>
        </p:nvSpPr>
        <p:spPr>
          <a:xfrm>
            <a:off x="3582162" y="3831336"/>
            <a:ext cx="23385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Progressive, never big-bang
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-&gt; canary -&gt; ramp catches a bad model on a sliver of traffic, not all of it.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86500" y="3703320"/>
            <a:ext cx="2667762" cy="13716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4" name="Text 32"/>
          <p:cNvSpPr/>
          <p:nvPr/>
        </p:nvSpPr>
        <p:spPr>
          <a:xfrm>
            <a:off x="6451092" y="3831336"/>
            <a:ext cx="23385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&amp; traceable
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prediction maps to a model, data &amp; feature version — auditable &amp; reversible.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155430" y="3703320"/>
            <a:ext cx="2667762" cy="13716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6" name="Text 34"/>
          <p:cNvSpPr/>
          <p:nvPr/>
        </p:nvSpPr>
        <p:spPr>
          <a:xfrm>
            <a:off x="9320022" y="3831336"/>
            <a:ext cx="23385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Champion-challenger
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models prove themselves against the incumbent in shadow before taking traffic.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Decision Platform · Google Cloud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DECISION PLATFORM · MONITORING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Monitoring &amp; measuring ML metrics and accuracy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2715768" cy="2743200"/>
          </a:xfrm>
          <a:prstGeom prst="roundRect">
            <a:avLst>
              <a:gd name="adj" fmla="val 2357"/>
            </a:avLst>
          </a:prstGeom>
          <a:solidFill>
            <a:srgbClr val="E0F2F7"/>
          </a:solidFill>
          <a:ln w="13970">
            <a:solidFill>
              <a:srgbClr val="0E7490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749808" y="1728216"/>
            <a:ext cx="420624" cy="42062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749808" y="2258568"/>
            <a:ext cx="2313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0E749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Operational health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288036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Monitoring + Datadog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3200400"/>
            <a:ext cx="2313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p50/p99, throughput, error rate, saturation, cost per 1k predictions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47288" y="1508760"/>
            <a:ext cx="2715768" cy="2743200"/>
          </a:xfrm>
          <a:prstGeom prst="roundRect">
            <a:avLst>
              <a:gd name="adj" fmla="val 2357"/>
            </a:avLst>
          </a:prstGeom>
          <a:solidFill>
            <a:srgbClr val="FDF1DC"/>
          </a:solidFill>
          <a:ln w="13970">
            <a:solidFill>
              <a:srgbClr val="B45309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3648456" y="1728216"/>
            <a:ext cx="420624" cy="42062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3648456" y="2258568"/>
            <a:ext cx="2313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B4530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 &amp; feature drift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48456" y="288036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/ KS monitors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48456" y="3200400"/>
            <a:ext cx="2313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&amp; prediction-distribution shift, feature freshness &amp; null spikes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45936" y="1508760"/>
            <a:ext cx="2715768" cy="2743200"/>
          </a:xfrm>
          <a:prstGeom prst="roundRect">
            <a:avLst>
              <a:gd name="adj" fmla="val 2357"/>
            </a:avLst>
          </a:prstGeom>
          <a:solidFill>
            <a:srgbClr val="EDE7FB"/>
          </a:solidFill>
          <a:ln w="13970">
            <a:solidFill>
              <a:srgbClr val="6D28D9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6" name="Shape 14"/>
          <p:cNvSpPr/>
          <p:nvPr/>
        </p:nvSpPr>
        <p:spPr>
          <a:xfrm>
            <a:off x="6547104" y="1728216"/>
            <a:ext cx="420624" cy="420624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6547104" y="2258568"/>
            <a:ext cx="2313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6D28D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Model performance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47104" y="288036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Sliced metrics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47104" y="3200400"/>
            <a:ext cx="2313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AUC, calibration, override rate and fairness by segment — tracked as labels arrive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244584" y="1508760"/>
            <a:ext cx="2715768" cy="2743200"/>
          </a:xfrm>
          <a:prstGeom prst="roundRect">
            <a:avLst>
              <a:gd name="adj" fmla="val 2357"/>
            </a:avLst>
          </a:prstGeom>
          <a:solidFill>
            <a:srgbClr val="ECFDF5"/>
          </a:solidFill>
          <a:ln w="13970">
            <a:solidFill>
              <a:srgbClr val="047857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" name="Shape 19"/>
          <p:cNvSpPr/>
          <p:nvPr/>
        </p:nvSpPr>
        <p:spPr>
          <a:xfrm>
            <a:off x="9445752" y="1728216"/>
            <a:ext cx="420624" cy="420624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9445752" y="2258568"/>
            <a:ext cx="2313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04785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LLM / agent quality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445752" y="288036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AI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445752" y="3200400"/>
            <a:ext cx="2313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Faithfulness, citation validity, refusal / leak checks on every agent output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526280"/>
            <a:ext cx="11091672" cy="1325880"/>
          </a:xfrm>
          <a:prstGeom prst="roundRect">
            <a:avLst>
              <a:gd name="adj" fmla="val 4828"/>
            </a:avLst>
          </a:prstGeom>
          <a:solidFill>
            <a:srgbClr val="0F172A"/>
          </a:solidFill>
          <a:ln/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868680" y="4663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aggregates logs &amp; fires alerts across all four layers. 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thresholds are tied to business impact, not arbitrary statistics — minor drift logs &amp; watches, sustained decay triggers retraining, a sharp break rolls back. Ground-truth lending performance is tracked as repayment labels arrive, so we measure real accuracy, not just proxies.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Decision Platform · Google Cloud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DECISION PLATFORM · FRAMEWORKS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ML development strategy — MLflow, TensorFlow &amp; PyTorch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91672" cy="960120"/>
          </a:xfrm>
          <a:prstGeom prst="roundRect">
            <a:avLst>
              <a:gd name="adj" fmla="val 6667"/>
            </a:avLst>
          </a:prstGeom>
          <a:solidFill>
            <a:srgbClr val="EDE7FB"/>
          </a:solidFill>
          <a:ln w="15875">
            <a:solidFill>
              <a:srgbClr val="6D28D9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822960" y="15727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6D28D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MLflow — the connective tissue.  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tracking + registry layer across frameworks and clouds: every run's params, data &amp; feature versions, metrics and artifacts are logged; the registry governs Staging-to-Production promotion with the release gates. Runs on Databricks; models serve on Vertex AI.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F8FAFC"/>
          </a:solidFill>
          <a:ln w="15875">
            <a:solidFill>
              <a:srgbClr val="B45309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777240" y="286207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PyTorch  ·  research &amp; iteration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300984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flexible experimentation — default for research &amp; rapid iteration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fine-tune transformer / LLM components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graphs make debugging &amp; custom logic easy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via TorchServe or exported to ONNX / Vertex endpoints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55080" y="269748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F8FAFC"/>
          </a:solidFill>
          <a:ln w="15875">
            <a:solidFill>
              <a:srgbClr val="0E7490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6583680" y="286207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49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TensorFlow  ·  production serving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75120" y="3300984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serving &amp; lifecycle ecosystem (TF Serving, TFX)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for a hardened, high-throughput serving path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fit for managed Vertex AI endpoints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optimisation &amp; quantisation for low-latency inference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5212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strategy in one line:  </a:t>
            </a:r>
            <a:r>
              <a:rPr lang="en-US" sz="12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freely in PyTorch, standardise artifacts &amp; metrics through MLflow, then serve on Vertex AI — and for tabular credit decisioning a calibrated gradient-boosted model still wins, which is a feature, not a compromise.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Decision Platform · Google Cloud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DECISION PLATFORM · MY ROLE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I owned vs. what the team delivered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532120" cy="3886200"/>
          </a:xfrm>
          <a:prstGeom prst="roundRect">
            <a:avLst>
              <a:gd name="adj" fmla="val 1882"/>
            </a:avLst>
          </a:prstGeom>
          <a:solidFill>
            <a:srgbClr val="F8FAFC"/>
          </a:solidFill>
          <a:ln w="15875">
            <a:solidFill>
              <a:srgbClr val="0E7490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777240" y="162763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personally owned  ·  Staff scope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029968"/>
            <a:ext cx="5029200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3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technical direction &amp; full solution architecture</a:t>
            </a:r>
            <a:endParaRPr lang="en-US" sz="113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3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development &amp; deployment: model, calibration, evaluation, Vertex serving</a:t>
            </a:r>
            <a:endParaRPr lang="en-US" sz="113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3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AI/agent development &amp; deployment: orchestration, tool contracts, guardrails</a:t>
            </a:r>
            <a:endParaRPr lang="en-US" sz="113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3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Argo training pipeline + Vertex Feature Store (train=serve)</a:t>
            </a:r>
            <a:endParaRPr lang="en-US" sz="113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3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RAG grounding + Evaluate AI faithfulness gating</a:t>
            </a:r>
            <a:endParaRPr lang="en-US" sz="113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3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MLOps standards: MLflow registry, CI/CD, progressive release gates</a:t>
            </a:r>
            <a:endParaRPr lang="en-US" sz="113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3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Mentored 5 engineers; ran the design reviews that set the bar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6355080" y="1463040"/>
            <a:ext cx="5532120" cy="3886200"/>
          </a:xfrm>
          <a:prstGeom prst="roundRect">
            <a:avLst>
              <a:gd name="adj" fmla="val 1882"/>
            </a:avLst>
          </a:prstGeom>
          <a:solidFill>
            <a:srgbClr val="F1F5F9"/>
          </a:solidFill>
          <a:ln w="15875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6583680" y="162763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team delivered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75120" y="2029968"/>
            <a:ext cx="5029200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3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source-system ingestion connectors &amp; data contracts</a:t>
            </a:r>
            <a:endParaRPr lang="en-US" sz="113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3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individual agent logic against the framework I defined</a:t>
            </a:r>
            <a:endParaRPr lang="en-US" sz="113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3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model training code from the pipeline templates</a:t>
            </a:r>
            <a:endParaRPr lang="en-US" sz="113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3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GKE platform / SRE &amp; on-call operations</a:t>
            </a:r>
            <a:endParaRPr lang="en-US" sz="113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3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analysts validated decision quality &amp; reason codes</a:t>
            </a:r>
            <a:endParaRPr lang="en-US" sz="113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3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compliance executed UAT and sign-off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548640" y="55138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the role: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94560" y="5532120"/>
            <a:ext cx="936346" cy="329184"/>
          </a:xfrm>
          <a:prstGeom prst="roundRect">
            <a:avLst>
              <a:gd name="adj" fmla="val 50000"/>
            </a:avLst>
          </a:prstGeom>
          <a:solidFill>
            <a:srgbClr val="EDE7FB"/>
          </a:solidFill>
          <a:ln w="9525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2194560" y="5532120"/>
            <a:ext cx="9363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58922" y="5532120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EDE7FB"/>
          </a:solidFill>
          <a:ln w="9525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3258922" y="5532120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dev &amp; deploy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20794" y="5532120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EDE7FB"/>
          </a:solidFill>
          <a:ln w="9525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4520794" y="5532120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dev &amp; deploy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782666" y="5532120"/>
            <a:ext cx="1002182" cy="329184"/>
          </a:xfrm>
          <a:prstGeom prst="roundRect">
            <a:avLst>
              <a:gd name="adj" fmla="val 50000"/>
            </a:avLst>
          </a:prstGeom>
          <a:solidFill>
            <a:srgbClr val="EDE7FB"/>
          </a:solidFill>
          <a:ln w="9525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5782666" y="5532120"/>
            <a:ext cx="10021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912864" y="5532120"/>
            <a:ext cx="738835" cy="329184"/>
          </a:xfrm>
          <a:prstGeom prst="roundRect">
            <a:avLst>
              <a:gd name="adj" fmla="val 50000"/>
            </a:avLst>
          </a:prstGeom>
          <a:solidFill>
            <a:srgbClr val="EDE7FB"/>
          </a:solidFill>
          <a:ln w="9525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6912864" y="5532120"/>
            <a:ext cx="7388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779715" y="5532120"/>
            <a:ext cx="738835" cy="329184"/>
          </a:xfrm>
          <a:prstGeom prst="roundRect">
            <a:avLst>
              <a:gd name="adj" fmla="val 50000"/>
            </a:avLst>
          </a:prstGeom>
          <a:solidFill>
            <a:srgbClr val="EDE7FB"/>
          </a:solidFill>
          <a:ln w="9525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7779715" y="5532120"/>
            <a:ext cx="7388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Decision Platform · Google Cloud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DECISION PLATFORM · STAKEHOLDERS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Client &amp; stakeholder intersection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593592" cy="1783080"/>
          </a:xfrm>
          <a:prstGeom prst="roundRect">
            <a:avLst>
              <a:gd name="adj" fmla="val 359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749808" y="1664208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1225296" y="1645920"/>
            <a:ext cx="2770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Lending &amp; Credit Risk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68096" y="2121408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Co-owned the decision policy; I translated their rules into model logic, thresholds &amp; reason codes.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1463040"/>
            <a:ext cx="3593592" cy="1783080"/>
          </a:xfrm>
          <a:prstGeom prst="roundRect">
            <a:avLst>
              <a:gd name="adj" fmla="val 359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4590288" y="1664208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5065776" y="1645920"/>
            <a:ext cx="2770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Compliance &amp; Legal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08576" y="2121408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Responsible-lending obligations to explainability, fairness testing &amp; audit requirements I designed to.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0" y="1463040"/>
            <a:ext cx="3593592" cy="1783080"/>
          </a:xfrm>
          <a:prstGeom prst="roundRect">
            <a:avLst>
              <a:gd name="adj" fmla="val 359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8430768" y="1664208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8906256" y="1645920"/>
            <a:ext cx="2770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Model Risk Review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49056" y="2121408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model methodology &amp; validation for formal sign-off before each promotion.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3593592" cy="1783080"/>
          </a:xfrm>
          <a:prstGeom prst="roundRect">
            <a:avLst>
              <a:gd name="adj" fmla="val 359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749808" y="3675888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1225296" y="3657600"/>
            <a:ext cx="2770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Product &amp; Underwriters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68096" y="4133088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human-in-the-loop review flow with the people who'd use it.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89120" y="3474720"/>
            <a:ext cx="3593592" cy="1783080"/>
          </a:xfrm>
          <a:prstGeom prst="roundRect">
            <a:avLst>
              <a:gd name="adj" fmla="val 359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" name="Shape 20"/>
          <p:cNvSpPr/>
          <p:nvPr/>
        </p:nvSpPr>
        <p:spPr>
          <a:xfrm>
            <a:off x="4590288" y="3675888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5065776" y="3657600"/>
            <a:ext cx="2770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 Governance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608576" y="4133088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data lineage, access controls &amp; retention for regulated financial data.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29600" y="3474720"/>
            <a:ext cx="3593592" cy="1783080"/>
          </a:xfrm>
          <a:prstGeom prst="roundRect">
            <a:avLst>
              <a:gd name="adj" fmla="val 359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" name="Shape 24"/>
          <p:cNvSpPr/>
          <p:nvPr/>
        </p:nvSpPr>
        <p:spPr>
          <a:xfrm>
            <a:off x="8430768" y="3675888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8906256" y="3657600"/>
            <a:ext cx="2770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Cloud / Google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49056" y="4133088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reviews on Vertex AI &amp; GKE; negotiated managed-service trade-offs.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Decision Platform · Google Cloud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DECISION PLATFORM · DECISIONS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Technology decisions &amp; trade-offs</a:t>
            </a:r>
            <a:endParaRPr lang="en-US" sz="27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5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 chose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Trade-off I accepted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model 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Calibrated gradient-boosted trees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cutting-edge than deep nets — but explainable, fast, regulator-friendly on tabular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Vertex AI managed endpoints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 GCP lock-in, in exchange for built-in monitoring &amp; faster, safer delivery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orchestration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Argo Workflows on GKE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ops than Vertex Pipelines, bought portability &amp; k8s-native flexibility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knowledge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over fine-tuning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moving parts, but fresh, citable policy — essential for compliance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+ Claude, task-routed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Multi-vendor complexity, in exchange for best-fit quality/cost &amp; no lock-in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Decision Platform · Google Cloud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DECISION PLATFORM · CHALLENGES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Challenges &amp; how I worked through them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532120" cy="1801368"/>
          </a:xfrm>
          <a:prstGeom prst="roundRect">
            <a:avLst>
              <a:gd name="adj" fmla="val 355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749808" y="1591056"/>
            <a:ext cx="512978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had to be explainable &amp; fair
</a:t>
            </a:r>
            <a:endParaRPr lang="en-US" sz="120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model + SHAP reason codes + adverse-action notices; fairness tested across protected attributes with a full audit trail.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91072" y="1463040"/>
            <a:ext cx="5532120" cy="1801368"/>
          </a:xfrm>
          <a:prstGeom prst="roundRect">
            <a:avLst>
              <a:gd name="adj" fmla="val 355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6492240" y="1591056"/>
            <a:ext cx="512978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hallucination in financial analysis
</a:t>
            </a:r>
            <a:endParaRPr lang="en-US" sz="120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every agent via RAG, verified numeric claims against source data, and gated outputs through the Evaluate AI faithfulness harness.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465576"/>
            <a:ext cx="5532120" cy="1801368"/>
          </a:xfrm>
          <a:prstGeom prst="roundRect">
            <a:avLst>
              <a:gd name="adj" fmla="val 355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749808" y="3593592"/>
            <a:ext cx="512978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latency vs thoroughness
</a:t>
            </a:r>
            <a:endParaRPr lang="en-US" sz="120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agents in parallel, cached retrievals &amp; embeddings, held a strict SLA budget with graceful degradation.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3465576"/>
            <a:ext cx="5532120" cy="1801368"/>
          </a:xfrm>
          <a:prstGeom prst="roundRect">
            <a:avLst>
              <a:gd name="adj" fmla="val 355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6492240" y="3593592"/>
            <a:ext cx="512978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Disparate, messy source data
</a:t>
            </a:r>
            <a:endParaRPr lang="en-US" sz="120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Data-quality gates at every boundary + a feature store as the single source of truth.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Decision Platform · Google Cloud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DECISION PLATFORM · RELIABILITY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Addressing AI &amp; agent failure modes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532120" cy="2084832"/>
          </a:xfrm>
          <a:prstGeom prst="roundRect">
            <a:avLst>
              <a:gd name="adj" fmla="val 307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749808" y="1682496"/>
            <a:ext cx="146304" cy="146304"/>
          </a:xfrm>
          <a:prstGeom prst="ellipse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987552" y="158191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Hallucination / unfaithful output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68096" y="2029968"/>
            <a:ext cx="50932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contain it:  </a:t>
            </a: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every claim via RAG with citations; verify numeric claims against source data; an Evaluate AI faithfulness gate + confidence threshold blocks risky answers; fall back to a human on low confidence.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91072" y="1463040"/>
            <a:ext cx="5532120" cy="2084832"/>
          </a:xfrm>
          <a:prstGeom prst="roundRect">
            <a:avLst>
              <a:gd name="adj" fmla="val 307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6492240" y="1682496"/>
            <a:ext cx="146304" cy="146304"/>
          </a:xfrm>
          <a:prstGeom prst="ellipse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6729984" y="158191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Bad arguments passed to tools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10528" y="2029968"/>
            <a:ext cx="50932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contain it:  </a:t>
            </a: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typed tool schemas with JSON-schema validation; arguments validated &amp; sanitised before any call; auto-repair retry on validation failure; the agent asks rather than guesses when inputs are ambiguous.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5532120" cy="2084832"/>
          </a:xfrm>
          <a:prstGeom prst="roundRect">
            <a:avLst>
              <a:gd name="adj" fmla="val 307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749808" y="3968496"/>
            <a:ext cx="146304" cy="146304"/>
          </a:xfrm>
          <a:prstGeom prst="ellipse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987552" y="386791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Wrong tool selected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68096" y="4315968"/>
            <a:ext cx="50932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contain it:  </a:t>
            </a: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task-scoped tool allow-lists; clear tool specs + few-shot examples; a planner-critic review step; deterministic routing where simple rules suffice; tool-choice accuracy tracked in the eval suite.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91072" y="3749040"/>
            <a:ext cx="5532120" cy="2084832"/>
          </a:xfrm>
          <a:prstGeom prst="roundRect">
            <a:avLst>
              <a:gd name="adj" fmla="val 307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6492240" y="3968496"/>
            <a:ext cx="146304" cy="146304"/>
          </a:xfrm>
          <a:prstGeom prst="ellipse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6729984" y="386791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Context overload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10528" y="4315968"/>
            <a:ext cx="50932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contain it:  </a:t>
            </a: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retrieve, don't stuff — only top-k relevant chunks; rolling summarisation / compaction of history; structured memory; hard per-agent token budgets with relevance filtering.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Decision Platform · Google Cloud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82880" cy="18288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841248" y="31089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DECISION PLATFORM · RELIABILITY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Handling data / ML &amp; system / tool failures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538728" cy="1901952"/>
          </a:xfrm>
          <a:prstGeom prst="roundRect">
            <a:avLst>
              <a:gd name="adj" fmla="val 336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713232" y="1609344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713232" y="16093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ML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Data-quality drift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304288"/>
            <a:ext cx="317296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+ distribution checks (PSI/KS) at every boundary; anomaly detection; a circuit-breaker halts promotion &amp; serving on bad data.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88536" y="1463040"/>
            <a:ext cx="3538728" cy="1901952"/>
          </a:xfrm>
          <a:prstGeom prst="roundRect">
            <a:avLst>
              <a:gd name="adj" fmla="val 336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4453128" y="1609344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4453128" y="16093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ML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471416" y="192024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Concept drift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71416" y="2304288"/>
            <a:ext cx="317296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Label-based performance monitors + drift detectors trigger retraining; champion-challenger validates before any cutover.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28432" y="1463040"/>
            <a:ext cx="3538728" cy="1901952"/>
          </a:xfrm>
          <a:prstGeom prst="roundRect">
            <a:avLst>
              <a:gd name="adj" fmla="val 336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6" name="Shape 14"/>
          <p:cNvSpPr/>
          <p:nvPr/>
        </p:nvSpPr>
        <p:spPr>
          <a:xfrm>
            <a:off x="8193024" y="1609344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8193024" y="16093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ML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8211312" y="192024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Missing feature values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11312" y="2304288"/>
            <a:ext cx="317296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Feature Store with versioned defaults &amp; imputation; null-rate monitoring; safe fallbacks keep serving online in a flagged degraded mode.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566160"/>
            <a:ext cx="3538728" cy="1901952"/>
          </a:xfrm>
          <a:prstGeom prst="roundRect">
            <a:avLst>
              <a:gd name="adj" fmla="val 336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" name="Shape 19"/>
          <p:cNvSpPr/>
          <p:nvPr/>
        </p:nvSpPr>
        <p:spPr>
          <a:xfrm>
            <a:off x="713232" y="3712464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713232" y="371246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/ TOOL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31520" y="402336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API timeouts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4407408"/>
            <a:ext cx="317296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Timeouts + exponential-backoff retries, circuit breakers, bulkheads, caching and async calls with a graceful fallback path.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88536" y="3566160"/>
            <a:ext cx="3538728" cy="1901952"/>
          </a:xfrm>
          <a:prstGeom prst="roundRect">
            <a:avLst>
              <a:gd name="adj" fmla="val 336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" name="Shape 24"/>
          <p:cNvSpPr/>
          <p:nvPr/>
        </p:nvSpPr>
        <p:spPr>
          <a:xfrm>
            <a:off x="4453128" y="3712464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4453128" y="371246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/ TOOL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471416" y="402336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Schema mismatches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71416" y="4407408"/>
            <a:ext cx="317296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registry + contract tests in CI; versioned, backward-compatible APIs; validation at every boundary before execution.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028432" y="3566160"/>
            <a:ext cx="3538728" cy="1901952"/>
          </a:xfrm>
          <a:prstGeom prst="roundRect">
            <a:avLst>
              <a:gd name="adj" fmla="val 336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1" name="Shape 29"/>
          <p:cNvSpPr/>
          <p:nvPr/>
        </p:nvSpPr>
        <p:spPr>
          <a:xfrm>
            <a:off x="8193024" y="3712464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2" name="Text 30"/>
          <p:cNvSpPr/>
          <p:nvPr/>
        </p:nvSpPr>
        <p:spPr>
          <a:xfrm>
            <a:off x="8193024" y="371246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/ TOOL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8211312" y="402336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Orchestration bottlenecks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11312" y="4407408"/>
            <a:ext cx="317296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Parallelise independent agents; concurrency limits + backpressure queues; rate limiting; idempotent steps; distributed tracing to find hot spots.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Decision Platform · Google Cloud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4572000" cy="4572000"/>
          </a:xfrm>
          <a:prstGeom prst="ellipse">
            <a:avLst/>
          </a:prstGeom>
          <a:solidFill>
            <a:srgbClr val="8B5CF6">
              <a:alpha val="14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9601200" y="-1645920"/>
            <a:ext cx="4572000" cy="4572000"/>
          </a:xfrm>
          <a:prstGeom prst="ellipse">
            <a:avLst/>
          </a:prstGeom>
          <a:solidFill>
            <a:srgbClr val="06B6D4">
              <a:alpha val="13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JOURNEY SHOWS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1430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through-line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1051560" y="2423160"/>
            <a:ext cx="182880" cy="18288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1371600" y="233172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Production ML at scale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278892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store, real-time Vertex serving, drift-aware retraining — ML that holds up in production.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2148840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6446520" y="242316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6766560" y="233172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Principled trade-offs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66560" y="278892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GBMs over flashy deep nets; managed vs self-managed on merit; metrics tied to business cost.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4005072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Shape 13"/>
          <p:cNvSpPr/>
          <p:nvPr/>
        </p:nvSpPr>
        <p:spPr>
          <a:xfrm>
            <a:off x="1051560" y="4279392"/>
            <a:ext cx="182880" cy="18288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1371600" y="418795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Resilient by design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4645152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containment for agent, data/ML and system failures — not hope.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4005072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Shape 17"/>
          <p:cNvSpPr/>
          <p:nvPr/>
        </p:nvSpPr>
        <p:spPr>
          <a:xfrm>
            <a:off x="6446520" y="4279392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6766560" y="418795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Standards &amp; mentoring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766560" y="4645152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set the patterns, ran the design reviews, and grew the engineers who built within them.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research-meets-production seam, at scale, for a mission that matters — exactly what I want to do next.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2860</Words>
  <Application>Microsoft Office PowerPoint</Application>
  <PresentationFormat>Widescreen</PresentationFormat>
  <Paragraphs>474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Lending Decision Platform — GCP</dc:title>
  <dc:subject>PptxGenJS Presentation</dc:subject>
  <dc:creator>Candidate</dc:creator>
  <cp:lastModifiedBy>Kartik Patel</cp:lastModifiedBy>
  <cp:revision>2</cp:revision>
  <cp:lastPrinted>2026-06-20T13:26:27Z</cp:lastPrinted>
  <dcterms:created xsi:type="dcterms:W3CDTF">2026-06-20T13:18:30Z</dcterms:created>
  <dcterms:modified xsi:type="dcterms:W3CDTF">2026-06-20T13:26:42Z</dcterms:modified>
</cp:coreProperties>
</file>