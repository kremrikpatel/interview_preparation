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460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299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0.1% base rate is the headline — why accuracy is meaningless and why I anchored on recall-at-fixed-precision tied to analyst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difference vs lending: I quantified the cost of a false positive against a false negative — that ratio sets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GCP: streaming-first (Kinesis), EMR/Spark heavy distributed feature compute, SageMaker managed training+serving, low-latency scoring on EKS. The agent pattern is identical to lending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which AWS services explicitly, grouped by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ML depth: imbalance metrics, distributed feature compute, delayed-label handling. Resampling inside the training fold to avoid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RAG discipline as lending, grounded in AML typologies and case files. Agents assemble an evidence-backed, cited case; the model scores; a human decides. A fabricated AML fact is a compliance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+ environment promotion with immutable artifacts. For fraud, Staging shadow-evaluates against the live rules engine before Prod.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one alerting brain (Splunk). Be honest about the fraud label-lag problem and delayed-label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over preference: framework follows lifecycle stage, MLflow makes them interoperable, the right tool for tabular imbalance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Cross-platform standardisation is gold for Staff: the second platform reused &amp; improved the first's patterns across a different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Experience is the interesting stakeholder — false positives are a real cost to a real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a product-minded trade-off: a step-up challenge keeps genuine customers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imbalance answer is your ML-reasoning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an AML context a fabricated fact is a compliance incident — hence the hard faithfulness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Data/ML vs System/Tool to show I separate model failures from engineering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 ·  AWS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Detection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at scale on AWS — extreme class imbalance, agentic investigation, minimal customer friction.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949147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9491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6699" y="4892040"/>
            <a:ext cx="499262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936699" y="4892040"/>
            <a:ext cx="4992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0554" y="4892040"/>
            <a:ext cx="1099109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600554" y="4892040"/>
            <a:ext cx="10991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/ Spark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64254" y="4892040"/>
            <a:ext cx="799186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864254" y="4892040"/>
            <a:ext cx="799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28032" y="4892040"/>
            <a:ext cx="1474013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828032" y="4892040"/>
            <a:ext cx="14740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(Bedrock)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6637" y="4892040"/>
            <a:ext cx="1698955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466637" y="4892040"/>
            <a:ext cx="1698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MLflow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ML Engineer — project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367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journey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delivery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90288" y="16367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9028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5721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0857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AWS stack + cloud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430768" y="163677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43076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9769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training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4905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Airflow, EMR/Spark, SageMaker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49808" y="320954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4980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1673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Agents + RAG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809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agents, OpenSearch k-NN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590288" y="320954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9028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5721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Lifecycle &amp; release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0857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to prod, safely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430768" y="32095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4307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9769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4905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data/ML &amp; system failures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 we set out to solve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 were rising and the existing rules engine was both leaky and noisy — too much fraud got through while too many genuine customers were wrongly blocked. The mandate: score transactions in near-real-time, at the scale of millions, cutting losses without adding customer friction.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ML scorer (supervised + unsupervised) on a streaming pipeline, with four investigation agents that triage alerts, run AML checks, analyse finances and audit security — surfacing a grounded case summary to fraud analysts, all on AWS.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903720" y="1636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~0.1%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03720" y="2221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base rate — extreme imbalance drove every metric choice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2990088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903720" y="3118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Near-real-time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0372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scoring on streaming transactions at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4471416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9037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Analyst-in-loop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903720" y="5184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the case; humans decide the edge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unfolded: discovery to delivery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Discovery &amp; framing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with Fraud Ops &amp; Financial Crime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loss &amp; false-positive cost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metrics: recall@precision, dollars saved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adversarial threat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36976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465576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666744" y="18928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666744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&amp;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AWS-native stack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 feature paths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training DAGs; EMR/Spark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4-agent investigation pattern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2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382512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0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01968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+ online features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supervised/unsupervised scorer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investigation agents + RAG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Pipelines + MLflow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848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299448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9500616" y="18928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500616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0616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&amp; rollout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18904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scoring vs the rules engine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Champion-challenger, then ramp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 wired in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+ auto-retrain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 architecture — end to end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322576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/ MSK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053078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089654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RDS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20156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856732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587234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623810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session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1417320" y="2299716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48640" y="2418588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" y="2510028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" y="25100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FEATURES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2322576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(MWAA)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DAGs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053078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089654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+ Spark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features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820156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6732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587234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623810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offline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1417320" y="3300984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48640" y="3419856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58368" y="3511296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8368" y="35112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TRAIN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0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2322576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(AWS)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4053078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089654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registry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820156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856732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scorer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587234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623810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Registry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1417320" y="4302252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548640" y="4421124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58368" y="4512564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58368" y="45125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(EKS)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0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322576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4053078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4089654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(Bedrock)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LLM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820156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5856732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k-NN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AML/cases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7587234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7623810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1417320" y="5303520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548640" y="5422392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58368" y="5513832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58368" y="5513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0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2322576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ALB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API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4053078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4089654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rules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policy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5820156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 59"/>
          <p:cNvSpPr/>
          <p:nvPr/>
        </p:nvSpPr>
        <p:spPr>
          <a:xfrm>
            <a:off x="5856732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queue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7587234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7623810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Block/allow/step-up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9464040" y="1417320"/>
            <a:ext cx="2176272" cy="4882896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9464040" y="15270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628632" y="220370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9665208" y="220370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628632" y="275234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9665208" y="275234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628632" y="330098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 69"/>
          <p:cNvSpPr/>
          <p:nvPr/>
        </p:nvSpPr>
        <p:spPr>
          <a:xfrm>
            <a:off x="9665208" y="330098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628632" y="384962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/>
          <p:nvPr/>
        </p:nvSpPr>
        <p:spPr>
          <a:xfrm>
            <a:off x="9665208" y="3849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628632" y="439826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73"/>
          <p:cNvSpPr/>
          <p:nvPr/>
        </p:nvSpPr>
        <p:spPr>
          <a:xfrm>
            <a:off x="9665208" y="439826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628632" y="494690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Text 75"/>
          <p:cNvSpPr/>
          <p:nvPr/>
        </p:nvSpPr>
        <p:spPr>
          <a:xfrm>
            <a:off x="9665208" y="494690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KMS · TF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AWS services used across the platform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69264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Compute &amp; Orchestration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(Amazon MWAA)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46704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529584" y="16002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767328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Analytics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47872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· MSK (Kafka)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(Spark) · Glue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· Redshift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144768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327648" y="1600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565392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Platform — SageMaker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Endpoints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Model Registry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942832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9125712" y="1600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9363456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&amp; RAG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Amazon Bedrock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OpenSearch (k-NN)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31520" y="394106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969264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CI/CD &amp; IaC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/ CodeBuild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346704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3529584" y="394106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767328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&amp; Governance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47872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KMS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Secrets Manager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44768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327648" y="394106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65392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&amp; Alerting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5936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· Datadog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 (LLM eval)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model training works —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+ batch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Kinesis/S3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02536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4426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180844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8164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739896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776472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EMR·Spark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335524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372100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931152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967728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5048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52678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563356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+ cost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0676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12240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58984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Registry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137160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3716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(AWS) experiments + MLflow tracking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71116" y="1847088"/>
            <a:ext cx="0" cy="100584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23092" cy="384048"/>
          </a:xfrm>
          <a:prstGeom prst="roundRect">
            <a:avLst>
              <a:gd name="adj" fmla="val 11905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1023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Airflow (MWAA) + SageMaker Pipelines  —  every run idempotent, versioned, reproducible (MLflow)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23092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77240" y="3977640"/>
            <a:ext cx="105658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triggered, not scheduled by habit.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detectors and the analyst feedback loop trigger retraining; champion-challenger validates a new model in shadow before it ever takes traffic.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5800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&amp; recall-at-fixed-precision, resampling on the train fold only — never raw accuracy.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3964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421124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at scale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EMR/Spark computes billions of behavioural &amp; velocity features; the online store serves them sub-second.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9288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156448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labels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confirmed late, so the pipeline handles label lag &amp; weak labels explicitly.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agents + RAG pipeline —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874520"/>
            <a:ext cx="134416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docs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2331720"/>
            <a:ext cx="38404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B45309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
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on EKS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2350008"/>
            <a:ext cx="329184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08576" y="1417320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077456" y="1417320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44144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08576" y="2441448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44144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077456" y="2441448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45168" y="2350008"/>
            <a:ext cx="310896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10012680" y="182880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049256" y="1828800"/>
            <a:ext cx="1527048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310128"/>
            <a:ext cx="0" cy="502920"/>
          </a:xfrm>
          <a:prstGeom prst="line">
            <a:avLst/>
          </a:prstGeom>
          <a:noFill/>
          <a:ln w="2032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096512" y="3867912"/>
            <a:ext cx="7315200" cy="1344168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206240" y="38862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· Amazon OpenSearch k-NN over AML typologies &amp; prior case files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28853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4068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7725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k-NN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62940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66597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781812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785469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1540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900684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904341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(Bedrock)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1019556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1023213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the ML scoring endpoint + data tools, then return a grounded, cited recommendation -&gt; reason codes -&gt; human-in-the-loop for the edge cases.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Experiments -&gt; development -&gt; deployment -&gt;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Databricks+MLflow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2711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80844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17420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4915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813048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849624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tests + gates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7119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45252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1828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promote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29323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77456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114032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· canary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61527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09660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46236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at scale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3731" y="2240280"/>
            <a:ext cx="14539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341864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378440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drift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091672" y="2971800"/>
            <a:ext cx="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closes the loop — drift / decay opens the next experiment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ACROSS ENVIRONMENTS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731520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experimentation · synthetic &amp; sampled data · no prod access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56888" y="4535424"/>
            <a:ext cx="347472" cy="0"/>
          </a:xfrm>
          <a:prstGeom prst="line">
            <a:avLst/>
          </a:prstGeom>
          <a:noFill/>
          <a:ln w="2032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002024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59224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642104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42104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Prod-like data · full CI gates · shadow eval · sign-off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67472" y="4535424"/>
            <a:ext cx="347472" cy="0"/>
          </a:xfrm>
          <a:prstGeom prst="line">
            <a:avLst/>
          </a:prstGeom>
          <a:noFill/>
          <a:ln w="2032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91260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69808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FDF1D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8552688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52688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rollout · live traffic · HITL · full monitoring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303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promotion is gated; artifacts (code, data snapshot, feature &amp; model versions) are immutable and traceable end to end via MLflow + the model registry.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RELEASE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Shipping fast without compromising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Databricks+MLflow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271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8084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17420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code+data+model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4915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813048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849624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gate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7119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45252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1828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traffic, 0 impact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29323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77456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114032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% live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61527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0966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46236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100%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373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34186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378440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drift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71600" y="1508760"/>
            <a:ext cx="8257032" cy="0"/>
          </a:xfrm>
          <a:prstGeom prst="line">
            <a:avLst/>
          </a:prstGeom>
          <a:noFill/>
          <a:ln w="20320">
            <a:solidFill>
              <a:srgbClr val="B91C1C"/>
            </a:solidFill>
            <a:prstDash val="solid"/>
            <a:head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1887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— previous version stays warm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091672" y="3035808"/>
            <a:ext cx="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48640" y="3127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decay -&gt; triggers a new experiment (closed loop)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1323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is a quality bar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blocked unless metric, fairness, calibration &amp; guardrail checks all pass.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1757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58216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never big-bang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-&gt; canary -&gt; ramp catches a bad model on a sliver of traffic, not all of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650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45109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traceable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maps to a model, data &amp; feature version — auditable &amp; reversible.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5543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32002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prove themselves against the incumbent in shadow before taking traffic.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MONITORING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&amp; measuring ML metrics and accuracy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0F2F7"/>
          </a:solidFill>
          <a:ln w="13970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728216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Operational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Datadog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p50/p99, throughput, error rate, saturation, cost per 1k predictions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FDF1DC"/>
          </a:solidFill>
          <a:ln w="13970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648456" y="172821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648456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feature drift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48456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KS monitors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48456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prediction-distribution shift, feature freshness &amp; null spikes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45936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DE7FB"/>
          </a:solidFill>
          <a:ln w="1397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547104" y="1728216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547104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metrics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7104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PR-AUC, recall@precision, dollars of fraud caught, false-positive rate — by segment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44584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CFDF5"/>
          </a:solidFill>
          <a:ln w="1397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9445752" y="1728216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9445752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/ agent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45752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citation validity, refusal / leak checks on every agent 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aggregates logs &amp; fires alerts across all four layers.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are tied to business impact, not arbitrary statistics. Because fraud labels confirm late, ground-truth accuracy is tracked with deliberate delayed-label evaluation, while real-time proxies (score distribution, analyst hit-rate) catch problems early.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FRAMEWORKS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development strategy — MLflow, TensorFlow &amp; PyTorch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DE7FB"/>
          </a:solidFill>
          <a:ln w="15875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MLflow — the connective tissue. 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tracking + registry layer across frameworks and clouds: every run's params, data &amp; feature versions, metrics and artifacts are logged; the registry governs Staging-to-Production promotion with the release gates. Runs on Databricks; models serve on SageMaker.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PyTorch  ·  research &amp; iteration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experimentation — default for research &amp; rapid iteration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explore sequence / graph models for fraud patterns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 make debugging &amp; custom logic easy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TorchServe or exported to ONNX / SageMaker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TensorFlow  ·  production serving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serving &amp; lifecycle ecosystem (TF Serving, TFX)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a hardened, high-throughput serving path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managed SageMaker endpoints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optimisation &amp; quantisation for sub-second inference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in one line: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freely in PyTorch, standardise artifacts &amp; metrics through MLflow, then serve on SageMaker — and a gradient-boosted scorer plus unsupervised anomaly detection still beats a deep net on this tabular, imbalanced problem.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MY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owned vs. what the team delivered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  ·  Staff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502920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end-to-end architecture &amp; system-design-at-scale decisions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development &amp; deployment: scorer, thresholding, evaluation, SageMaker serving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AI/agent development &amp; deployment: orchestration, tool contracts, guardrails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EMR/Spark feature pipeline + SageMaker online feature store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imbalance-aware evaluation &amp; threshold-tuning methodology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champion-challenger release &amp; the analyst feedback loop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&amp; hardened the agent + RAG framework; mentored engineers across both clouds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8368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delivered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29968"/>
            <a:ext cx="502920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streaming ingestion &amp; Spark feature jobs to spec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model training &amp; the agent tools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EKS platform, autoscaling &amp; on-call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analysts labelled cases &amp; tuned review thresholds with us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integrated detection with incident response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executed load &amp; latency testing at scale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role: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5532120"/>
            <a:ext cx="93634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93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58922" y="553212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258922" y="55321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dev &amp; deploy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0794" y="553212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20794" y="55321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&amp; deploy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82666" y="5532120"/>
            <a:ext cx="1002182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782666" y="5532120"/>
            <a:ext cx="1002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12864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912864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9715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79715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STAKEHOLDERS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&amp; stakeholder intersection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22529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Operations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the alert queue &amp; case summaries with the analysts who work them daily.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9028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6577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Financial Crime / AML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detection &amp; agent reasoning with AML typologies and reporting obligations.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43076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90625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Experience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4905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thresholds against false-positive friction — protecting genuine customers from blocks.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22529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&amp; Compliance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model validation &amp; monitoring evidence for governance sign-off.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59028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6577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Platform / SRE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0857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streaming SLAs, autoscaling &amp; cost guardrails for real-time scoring.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43076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90625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SecOps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detections into incident response &amp; the security audit agent's signals.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decisions &amp; trade-offs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chose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I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supervised + unsupervised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complexity, but catches both known fraud and novel / zero-day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EMR/Spark over AWS Glue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cluster ops, bought heavy distributed throughput &amp; spot-instance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lock-in, in exchange for managed pipelines, registry &amp; autoscaled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(MWAA) over Step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Self-managed feel, but richer DAGs &amp; portability across our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Step-up auth, not just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flows to build, but far less customer friction than hard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&amp; how I worked through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9808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 (~0.1%)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PR-AUC &amp; recall-at-fixed-precision tuned to the cost matrix; resampled only inside the training fold; calibrated scores.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92240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 at scale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heavy features in the online store, computed only light features live, cached aggressively, autoscaled on EKS with graceful fallback.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49808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&amp; concept drift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monitors + champion-challenger + frequent triggered retraining so the model keeps pace with evolving fraud.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92240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hurt real customers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thresholds to analyst capacity, added step-up auth, fed analyst decisions back as labels to sharpen precision.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Addressing AI &amp; agent failure modes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82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87552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Hallucination / unfaithful output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claim via RAG with citations over case files; verify figures against source data; an Evaluate AI faithfulness gate + confidence threshold blocks risky output; low confidence escalates to an analyst.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463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492240" y="1682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729984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Bad arguments passed to tools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2029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typed tool schemas with JSON-schema validation; arguments validated &amp; sanitised before any call; auto-repair retry on failure; the agent asks rather than guesses on ambiguity.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49808" y="3968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87552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Wrong tool selected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4315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task-scoped tool allow-lists; clear tool specs + few-shot; a planner-critic review step; deterministic routing where rules suffice; tool-choice accuracy tracked in eval.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3749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492240" y="3968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729984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 overload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0528" y="4315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don't stuff — top-k relevant case context only; rolling summarisation of the investigation; structured memory; hard per-agent token budgets with relevance filtering.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Handling data / ML &amp; system / tool failures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13232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13232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Data-quality drift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distribution checks (PSI/KS) on the stream &amp; batch paths; anomaly detection; a circuit-breaker halts promotion &amp; serving on bad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8536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453128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453128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71416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71416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evolve fast — label-based monitors + drift detectors trigger retraining; champion-challenger before cutover.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193024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193024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11312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Missing feature values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 with versioned defaults &amp; imputation; null-rate monitoring; safe fallbacks keep scoring online in a flagged degraded mode.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13232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13232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API timeouts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+ exponential-backoff retries, circuit breakers, bulkheads, caching and async calls with a graceful fallback path.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88536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453128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453128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71416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Schema mismatches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71416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+ contract tests in CI; versioned, backward-compatible APIs; validation at every boundary.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28432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193024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193024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11312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Orchestration bottlenecks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 independent agents; concurrency limits + backpressure; rate limiting; idempotent steps; distributed tracing to find hot spots.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Platform · AWS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F59E0B">
              <a:alpha val="13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JOURNEY SHOWS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through-line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51560" y="24231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 ML at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store, sub-second SageMaker serving, drift-aware retraining at millions of transactions.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446520" y="242316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76656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Principled trade-offs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metrics, step-up over hard blocks, managed vs self-managed on merit.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051560" y="427939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Resilient by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containment for agent, data/ML and system failures — built for adversaries.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446520" y="42793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76656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Standards &amp; mentoring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+ RAG pattern reused across two clouds; I grew the engineers who built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ML and agentic AI at scale, protecting customers without getting in their way — the work I want to keep doing.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2844</Words>
  <Application>Microsoft Office PowerPoint</Application>
  <PresentationFormat>Widescreen</PresentationFormat>
  <Paragraphs>474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Platform — AWS</dc:title>
  <dc:subject>PptxGenJS Presentation</dc:subject>
  <dc:creator>Candidate</dc:creator>
  <cp:lastModifiedBy>Kartik Patel</cp:lastModifiedBy>
  <cp:revision>2</cp:revision>
  <cp:lastPrinted>2026-06-20T13:27:27Z</cp:lastPrinted>
  <dcterms:created xsi:type="dcterms:W3CDTF">2026-06-20T13:18:30Z</dcterms:created>
  <dcterms:modified xsi:type="dcterms:W3CDTF">2026-06-20T13:27:45Z</dcterms:modified>
</cp:coreProperties>
</file>