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 autoAdjust="0"/>
    <p:restoredTop sz="94610"/>
  </p:normalViewPr>
  <p:slideViewPr>
    <p:cSldViewPr snapToGrid="0" snapToObjects="1">
      <p:cViewPr>
        <p:scale>
          <a:sx n="70" d="100"/>
          <a:sy n="70" d="100"/>
        </p:scale>
        <p:origin x="460" y="-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88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upfront: both are end-to-end ML + agentic AI platforms I helped build in regulated finance. One on GCP (lending), one on AWS (fraud). I'll walk each through discovery-to-delivery, show the architecture, then close on the cross-cutting engineering practice that matters at Staff level: release management, monitoring, and the MLflow/TensorFlow/PyTorch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anchor the audience. Same delivery playbook and the same agent pattern (Application / KYC-AML / Financial Analysis / Security Audit) on both, but deliberately different cloud-native tooling and two genuinely different ML problems: a decision/ranking problem with heavy explainability needs vs an extreme-imbalance real-time detection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business pain (slow, inconsistent, hard to audit) before the tech. The explainability requirement is what shaped most of the architecture — say that explicitly, it shows you design from constraints, not from cool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it as a story with a turning point. Discovery is where I earned trust with Risk/Compliance by translating their obligations into technical guardrails. Delivery is where progressive rollout + HITL meant we never bet the bank on a cold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top-to-bottom. The two things to call out as mine: the Argo training pipeline + Vertex Feature Store that kills train-serve skew, and the agentic layer where Gemini and Claude are task-routed. The dark governance panel on the right is deliberately cross-cutting — monitoring and audit touch every layer, which matters enormously in a regulated lender.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I show ML reasoning, not just plumbing. Emphasise point-in-time correctness, fairness gating, and calibration — those are the three things a regulated lending model lives or dies on. Argo orchestrates it; MLflow makes it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I'd make here: most 'the LLM got it wrong' failures are retrieval failures. So the RAG strip is the real engineering — hybrid retrieval over current lending policy, re-rank, grounded prompt with citations, then a faithfulness check via Evaluate AI before anything reaches a customer. Agents reason; the calibrated model decides; a human signs off on the big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the Staff distinction: I set the patterns and reviewed against them; the team built within them. The mentoring + standards line is the most important thing to land for this role — say it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Stakeholder management is a Staff signal. Emphasise the Model Risk Review board — defending methodology to a governance board is very different from shipping a feature, and it's exactly the cross-audience communication this role asks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row, the trade-off column is the point — it shows judgement. The model-class choice is the strongest: I deliberately did NOT reach for deep learning, because explainability and latency beat a fractional accuracy gain in regulated lending.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explainability one to go deep on if asked — it's the most credible and the most Xero-relevant (Ownership + accountability). Frame each as problem → principled fix →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0.1% base rate is the headline — it's why accuracy is meaningless here and why I anchored on recall-at-fixed-precision tied to analyst review capacity. The false-positive/customer-friction angle shows you think about the product, not just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discovery difference vs lending: here I spent the time quantifying the cost of a false positive (customer friction, churn) against a false negative (loss), because that cost ratio sets the operating threshold. Champion-challenger against the incumbent rules engine is how we de-risked the cutover.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the GCP diagram: streaming-first (Kinesis), EMR/Spark doing the heavy distributed feature compute that the JD explicitly calls out, SageMaker for managed training+serving, and a low-latency scoring service on EKS. The agent pattern is identical to lending by design — that consistency is itself a Staff-level standardisation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I demonstrate ML depth on a hard problem. The three bottom cards are the reasoning: imbalance metrics, distributed feature compute, and delayed-label handling. Mention that resampling happens inside the training fold to avoid leakage — that detail signals real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RAG discipline as lending, grounded here in AML typologies and prior case files. The agents don't decide — the model scores and the agents assemble an evidence-backed, cited case summary so a human analyst can decide fast. Faithfulness gating matters because a fabricated 'fact' in an AML case is a serious compliance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cross-platform standardisation line is gold for a Staff role: I didn't just build two things, I made the second one reuse and improve the patterns from the first across two different clouds. That's influence beyond a single squad.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Customer Experience stakeholder is the interesting one — it shows I treat false positives as a real cost to a real person, not just a number. That product empathy maps straight to Xero's 'Human'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row is a product-minded trade-off worth highlighting: instead of a binary block, a step-up challenge keeps genuine customers moving. That's the kind of decision a Staff engineer makes by thinking past the model to the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push on ML reasoning, this slide is your proof. The imbalance answer especially — explain WHY accuracy is the wrong metric here and how you tied the threshold to a real operational constraint (analyst capacity). That's modelling judgement, not plumbing.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'how do you ship fast without breaking production'. The whole philosophy: make the safe path the fast path. Feature flags + shadow + canary + instant rollback mean engineers can move quickly because the system catches mistakes on a tiny blast radius. The red loop is rollback; the dashed loop is the closed feedback from monitoring to a new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 of monitoring, one alerting brain (Splunk). The most important sentence: thresholds tied to business impact, not statistical significance. And be honest about the fraud label-lag problem — measuring true accuracy when ground truth arrives weeks later is a real challenge I'd handle with delayed-label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present this as 'PyTorch good, TF good'. Present the STRATEGY: framework choice follows the lifecycle stage, MLflow makes them interoperable, and — important honesty — for the actual core models here (tabular lending &amp; fraud) gradient boosting beats both, so I pick the tool for the data, not the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plane on the Staff narrative: scale, principled trade-offs, standards across teams, and bringing people along. The last line bridges explicitly to the Xero role. Then stop talking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9692640" y="3657600"/>
            <a:ext cx="4572000" cy="4572000"/>
          </a:xfrm>
          <a:prstGeom prst="ellipse">
            <a:avLst/>
          </a:prstGeom>
          <a:solidFill>
            <a:srgbClr val="F59E0B">
              <a:alpha val="1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JOURNEYS · PRODUCTION ML &amp; AGENTIC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Platforms, One Discipline: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Reliable ML &amp; Multi-Agent AI in Regulated Finance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051560" y="41605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Lending Decision Platform
</a:t>
            </a:r>
            <a:r>
              <a:rPr lang="en-US" sz="1050" dirty="0">
                <a:solidFill>
                  <a:srgbClr val="9F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· Vertex AI · GKE · Argo · Gemini + Claude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416052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172033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92240" y="41605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Fraud Detection Platform
</a:t>
            </a:r>
            <a:r>
              <a:rPr lang="en-US" sz="1050" dirty="0">
                <a:solidFill>
                  <a:srgbClr val="FB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SageMaker · EKS · EMR/Spark · Airflow · Claude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ML Engineer — interview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I'LL WALK YOU THROUGH THIS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presentation covers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93592" cy="224028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804672" y="1691640"/>
            <a:ext cx="566928" cy="56692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0467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journey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83464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design → development → delivery, for each 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593592" cy="224028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645152" y="1691640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64515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404872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My contribution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283464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personally owned vs. what the team delivered, mapped to the role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417320"/>
            <a:ext cx="3593592" cy="224028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8485632" y="169164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48563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5632" y="2404872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5632" y="283464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 diagrams: data, training, serving, agents + RAG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13632"/>
            <a:ext cx="3593592" cy="224028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804672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4901184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Decisions &amp; trade-offs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" y="5330952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GCP vs AWS tooling, managed vs self-managed, model &amp; LLM choices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3913632"/>
            <a:ext cx="3593592" cy="224028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645152" y="4187952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645152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5152" y="4901184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45152" y="5330952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explainability, scale, drift, false positives — and the fixes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913632"/>
            <a:ext cx="3593592" cy="224028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8485632" y="418795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8485632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85632" y="4901184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Engineering practice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85632" y="5330952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management, ML monitoring, and MLflow / TensorFlow / PyTorch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 Journeys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PLATFORMS 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Same playbook, two clouds, two risk problems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623560" cy="4526280"/>
          </a:xfrm>
          <a:prstGeom prst="roundRect">
            <a:avLst>
              <a:gd name="adj" fmla="val 1616"/>
            </a:avLst>
          </a:prstGeom>
          <a:solidFill>
            <a:srgbClr val="E0F2F7"/>
          </a:solidFill>
          <a:ln w="15875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LENDING DECISION  ·  Google Cloud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&amp; de-risk credit decisioning; consistent, explainable, compliant lending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gradient-boosted lending-decision model + reason codes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Workflows (training DAGs) on GKE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406908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endpoints + agent services on GKE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Claude (task-routed) with RAG over lending policy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534924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MLflow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1508760"/>
            <a:ext cx="5623560" cy="4526280"/>
          </a:xfrm>
          <a:prstGeom prst="roundRect">
            <a:avLst>
              <a:gd name="adj" fmla="val 1616"/>
            </a:avLst>
          </a:prstGeom>
          <a:solidFill>
            <a:srgbClr val="FDF1DC"/>
          </a:solidFill>
          <a:ln w="15875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629400" y="16916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FRAUD DETECTION  ·  AWS
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214884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fraud in near-real-time at scale; minimise loss &amp; customer friction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0" y="278892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supervised + unsupervised scoring on extreme class imbalance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75120" y="342900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(training DAGs); EMR/Spark for feature compute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75120" y="406908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endpoints + low-latency scoring on EKS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75120" y="470916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investigation agents + RAG over case/AML knowledge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534924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MLflow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 Journeys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Lending Decision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· agentic credit decisioning with explainability and compliance built 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80060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· THE PROBLEM WE SET OUT TO SOLVE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Faster, consistent, defensible credit decisions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underwriting was slow, inconsistent across officers, and hard to audit. The bank wanted automated decisioning that was fast, consistent, and — critically — explainable and compliant with responsible-lending obligations.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ML decision model at the core, wrapped in four specialised AI agents that intake the application, run KYC/AML, analyse finances, and audit for security — all grounded in current lending policy via RAG, with a human in the loop for high-value / low-confidence cases.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508760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903720" y="16367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6B6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≤ minutes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903720" y="22219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turnaround vs. hours of manual review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0" y="2990088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903720" y="31181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8B5C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Reason codes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90372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decision — adverse-action ready &amp; auditable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0" y="4471416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903720" y="4599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B9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HITL gate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903720" y="51846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review high-value &amp; low-confidence cases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unfolded: discovery to delivery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49808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Discovery &amp; framing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8096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with Lending, Risk &amp; Compliance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decision policy &amp; data sources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success metrics + guardrails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spike on GCP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36976" y="3680460"/>
            <a:ext cx="21031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465576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666744" y="1892808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3666744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66744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&amp; architecture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85032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GCP-native stack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decomposition (4 agents)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training DAGs + feature store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audit by design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3912" y="3680460"/>
            <a:ext cx="21031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382512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583680" y="189280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58368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Development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01968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+ feature store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model + calibration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agents + RAG over policy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via Terraform; eval harness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70848" y="3680460"/>
            <a:ext cx="21031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9299448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9500616" y="1892808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9500616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0616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Delivery &amp; rollout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518904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→ canary → progressive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integration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Model-risk review sign-off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+ reason-code audit trail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Solution architecture — end to end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40280" y="1563624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286000" y="1563624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· ledgers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18788" y="1563624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064508" y="1563624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· history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97296" y="1563624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843016" y="1563624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/ GCS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75804" y="1563624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7621524" y="1563624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intake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89888" y="2299716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548640" y="2418588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58368" y="2510028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58368" y="25100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FEATURES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40280" y="2564892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E0F2F7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2286000" y="2564892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Workflows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18788" y="2564892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064508" y="2564892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/ Spark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97296" y="2564892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843016" y="2564892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gates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2564892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621524" y="2564892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Feature Store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train=serve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89888" y="3300984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548640" y="3419856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658368" y="3511296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658368" y="35112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+ TRAIN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40280" y="3566160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2286000" y="3566160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18788" y="3566160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064508" y="3566160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+ registry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97296" y="3566160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5843016" y="3566160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Training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model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75804" y="3566160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7621524" y="3566160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89888" y="4302252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548640" y="4421124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658368" y="4512564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658368" y="45125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 (GKE)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40280" y="4567428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E0F2F7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2286000" y="4567428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Orchestrator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18788" y="4567428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4064508" y="4567428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Claude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task-routed LLMs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97296" y="4567428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5843016" y="4567428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Vertex Vector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policy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75804" y="4567428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7621524" y="4567428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Endpoint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389888" y="5303520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548640" y="5422392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658368" y="5513832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5" name="Text 53"/>
          <p:cNvSpPr/>
          <p:nvPr/>
        </p:nvSpPr>
        <p:spPr>
          <a:xfrm>
            <a:off x="658368" y="5513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+ DECISION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40280" y="5568696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Text 55"/>
          <p:cNvSpPr/>
          <p:nvPr/>
        </p:nvSpPr>
        <p:spPr>
          <a:xfrm>
            <a:off x="2286000" y="5568696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API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gRPC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018788" y="5568696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 57"/>
          <p:cNvSpPr/>
          <p:nvPr/>
        </p:nvSpPr>
        <p:spPr>
          <a:xfrm>
            <a:off x="4064508" y="5568696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797296" y="5568696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Text 59"/>
          <p:cNvSpPr/>
          <p:nvPr/>
        </p:nvSpPr>
        <p:spPr>
          <a:xfrm>
            <a:off x="5843016" y="5568696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575804" y="5568696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 61"/>
          <p:cNvSpPr/>
          <p:nvPr/>
        </p:nvSpPr>
        <p:spPr>
          <a:xfrm>
            <a:off x="7621524" y="5568696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system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464040" y="1417320"/>
            <a:ext cx="2176272" cy="4882896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/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9464040" y="1545336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628632" y="225856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Text 65"/>
          <p:cNvSpPr/>
          <p:nvPr/>
        </p:nvSpPr>
        <p:spPr>
          <a:xfrm>
            <a:off x="9665208" y="22585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628632" y="280720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Text 67"/>
          <p:cNvSpPr/>
          <p:nvPr/>
        </p:nvSpPr>
        <p:spPr>
          <a:xfrm>
            <a:off x="9665208" y="280720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628632" y="335584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Text 69"/>
          <p:cNvSpPr/>
          <p:nvPr/>
        </p:nvSpPr>
        <p:spPr>
          <a:xfrm>
            <a:off x="9665208" y="33558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628632" y="390448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 71"/>
          <p:cNvSpPr/>
          <p:nvPr/>
        </p:nvSpPr>
        <p:spPr>
          <a:xfrm>
            <a:off x="9665208" y="39044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/ SHAP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628632" y="445312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5" name="Text 73"/>
          <p:cNvSpPr/>
          <p:nvPr/>
        </p:nvSpPr>
        <p:spPr>
          <a:xfrm>
            <a:off x="9665208" y="445312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9628632" y="500176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7" name="Text 75"/>
          <p:cNvSpPr/>
          <p:nvPr/>
        </p:nvSpPr>
        <p:spPr>
          <a:xfrm>
            <a:off x="9665208" y="50017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Terraform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model training works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bureau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join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02536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144268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E0F2F7"/>
          </a:solidFill>
          <a:ln w="12700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189988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98164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739896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785616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build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Dataproc/Spark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93792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335524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381244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89420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931152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976872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85048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526780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572500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metrics+fairness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80676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10122408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168128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promote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1371600"/>
            <a:ext cx="3044952" cy="457200"/>
          </a:xfrm>
          <a:prstGeom prst="roundRect">
            <a:avLst>
              <a:gd name="adj" fmla="val 10000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48640" y="13716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experiments + MLflow tracking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71116" y="1847088"/>
            <a:ext cx="0" cy="100584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11023092" cy="384048"/>
          </a:xfrm>
          <a:prstGeom prst="roundRect">
            <a:avLst>
              <a:gd name="adj" fmla="val 11905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548640" y="3337560"/>
            <a:ext cx="110230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Argo Workflows (GKE-native)  —  every run idempotent, versioned, reproducible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11023092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777240" y="3977640"/>
            <a:ext cx="105658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is triggered, not scheduled by habit.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monitors or accumulated label corrections fire a run; the gate blocks promotion unless metric, fairness and calibration checks pass.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02920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685800" y="510235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features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 serves training and the live decision endpoint — no skew, no leakage.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83964" y="502920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421124" y="510235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as a gate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Sliced error + adverse-impact checks run in CI, not as a post-hoc audit.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19288" y="502920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8156448" y="510235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ride on probabilities, so isotonic/Platt calibration is mandatory.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agents + RAG pipeline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325880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docs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93392" y="2331720"/>
            <a:ext cx="384048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423160" y="182880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0E7490"/>
          </a:solidFill>
          <a:ln/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423160" y="18288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
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on GKE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33088" y="2350008"/>
            <a:ext cx="3657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2240280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Agent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40880" y="141732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086600" y="1417320"/>
            <a:ext cx="2240280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AML Agent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2441448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572000" y="2441448"/>
            <a:ext cx="2240280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Agent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0" y="2441448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086600" y="2441448"/>
            <a:ext cx="2240280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Agent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90888" y="2350008"/>
            <a:ext cx="329184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10012680" y="182880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E0F2F7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10058400" y="1828800"/>
            <a:ext cx="150876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score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0" y="3310128"/>
            <a:ext cx="0" cy="502920"/>
          </a:xfrm>
          <a:prstGeom prst="line">
            <a:avLst/>
          </a:prstGeom>
          <a:noFill/>
          <a:ln w="20320">
            <a:solidFill>
              <a:srgbClr val="0E7490"/>
            </a:solidFill>
            <a:prstDash val="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the ML scoring endpoint + data tools, then return a grounded, cited recommendation → reason codes → human-in-the-loop for the edge cases.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16552" y="3867912"/>
            <a:ext cx="6949440" cy="1344168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526280" y="388620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(grounding every agent)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617720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96128" y="4549140"/>
            <a:ext cx="9144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5687568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5733288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policy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11696" y="4549140"/>
            <a:ext cx="9144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6803136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6848856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27264" y="4549140"/>
            <a:ext cx="9144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7918704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7964424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citations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42832" y="4549140"/>
            <a:ext cx="9144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8" name="Shape 36"/>
          <p:cNvSpPr/>
          <p:nvPr/>
        </p:nvSpPr>
        <p:spPr>
          <a:xfrm>
            <a:off x="9034272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9079992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Claude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058400" y="4549140"/>
            <a:ext cx="9144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10149840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10195560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 owned vs. what the team delivered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32120" cy="3886200"/>
          </a:xfrm>
          <a:prstGeom prst="roundRect">
            <a:avLst>
              <a:gd name="adj" fmla="val 1882"/>
            </a:avLst>
          </a:prstGeom>
          <a:solidFill>
            <a:srgbClr val="F8FAFC"/>
          </a:solidFill>
          <a:ln w="15875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personally owned  ·  Staff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66544"/>
            <a:ext cx="5029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technical direction &amp; overall architecture across the platform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Argo training pipeline + Vertex Feature Store (train=serve)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LangGraph agent orchestration &amp; RAG grounding strategy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MLOps standards: MLflow registry, CI/CD, release gates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the model evaluation, fairness &amp; calibration approach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5 engineers; ran the design reviews that set the bar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5532120" cy="3886200"/>
          </a:xfrm>
          <a:prstGeom prst="roundRect">
            <a:avLst>
              <a:gd name="adj" fmla="val 1882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583680" y="16276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delivered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066544"/>
            <a:ext cx="5029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source-system ingestion connectors &amp; data contracts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individual agent logic against the framework I defined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model training code from the pipeline templates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GKE platform / SRE and on-call operations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analysts validated decision quality &amp; reason codes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compliance executed UAT and sign-off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513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the role: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5532120"/>
            <a:ext cx="1594714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2194560" y="5532120"/>
            <a:ext cx="15947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at scale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17290" y="5532120"/>
            <a:ext cx="1265530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917290" y="5532120"/>
            <a:ext cx="12655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standards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10835" y="5532120"/>
            <a:ext cx="738835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310835" y="5532120"/>
            <a:ext cx="7388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7686" y="5532120"/>
            <a:ext cx="1265530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177686" y="5532120"/>
            <a:ext cx="12655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MLflow/TF/PyTorch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71232" y="5532120"/>
            <a:ext cx="936346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7571232" y="5532120"/>
            <a:ext cx="936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features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 &amp; stakeholder intersection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66420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22529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Lending &amp; Credit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Co-owned the decision policy; I translated their rules into model logic, thresholds &amp; reason codes.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590288" y="166420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6577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Compliance &amp; Legal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0857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Responsible-lending obligations → explainability, fairness testing &amp; audit requirements I designed 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430768" y="166420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90625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Risk 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4905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model methodology &amp; validation for formal sign-off before each promotion.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749808" y="367588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122529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 &amp; Underwriters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human-in-the-loop review flow with the people who'd actually use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590288" y="367588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06577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Governance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0857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data lineage, access controls &amp; retention for regulated financial data.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8430768" y="367588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890625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Cloud / Google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4905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reviews on Vertex AI &amp; GKE; negotiated managed-service trade-offs.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decisions &amp; trade-offs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chose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I 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model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gradient-boosted trees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'cutting-edge' than deep nets — but explainable, fast, regulator-friendly on tabular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AI managed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GCP lock-in, in exchange for built-in monitoring &amp; faster, safer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 Workflows on GKE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ops than Vertex Pipelines, bought portability &amp; k8s-native flexibility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knowledge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over fine-tuning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moving parts, but fresh, citable policy — essential for compliance defensibility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+ Claude, task-routed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Multi-vendor complexity, in exchange for best-fit quality/cost &amp; no single-vendor lock-in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&amp; how I worked through them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49808" y="1591056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Decisions had to be explainable &amp; fair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model + SHAP reason codes + adverse-action notices; fairness tested across protected attributes with a full audit trail.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91072" y="1463040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492240" y="1591056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LLM hallucination in financial analysis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every agent via RAG, verified any numeric claim against source data, and gated outputs through the Evaluate AI faithfulness harness.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65576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749808" y="3593592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Multi-agent latency vs thoroughness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agents in parallel, cached retrievals &amp; embeddings, and held a strict SLA budget with graceful degradation to a simpler path.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3465576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492240" y="3593592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Disparate, messy source data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gates at every boundary + a feature store as the single source of truth, so bad data never reached training or serving.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Lending Decision Platform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Fraud Detection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real-time detection at scale on extreme class imbalance, with agentic investigation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80060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· THE PROBLEM WE SET OUT TO SOLVE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Catch more fraud, frustrate fewer customers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losses were rising and the existing rules engine was both leaky and noisy — too much fraud got through, while too many genuine customers were wrongly blocked. The mandate: score transactions in near-real-time, at the scale of millions, and cut losses without adding customer friction.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ML scorer (supervised + unsupervised) on a streaming pipeline, with four investigation agents that triage alerts, run AML checks, analyse finances and audit security — surfacing a grounded case summary to fraud analysts.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508760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903720" y="16367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59E0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~0.1%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903720" y="22219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base rate — extreme imbalance drove every metric choice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0" y="2990088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903720" y="31181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6B6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Near-real-time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90372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scoring on streaming transactions at scale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0" y="4471416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903720" y="4599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B9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Analyst-in-loop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903720" y="51846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draft the case; humans decide the edge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unfolded: discovery to delivery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49808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Discovery &amp; framing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8096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with Fraud Ops &amp; Financial Crime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loss &amp; false-positive cost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metrics: recall@precision, $ saved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adversarial threat 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36976" y="3680460"/>
            <a:ext cx="210312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465576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666744" y="189280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3666744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66744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&amp; architecture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85032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AWS-native stack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batch feature paths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training DAGs; EMR/Spark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4-agent investigation pattern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3912" y="3680460"/>
            <a:ext cx="210312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382512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583680" y="189280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58368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Development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01968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 + online features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supervised/unsupervised scorer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investigation agents + RAG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pipelines + MLflow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70848" y="3680460"/>
            <a:ext cx="210312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9299448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9500616" y="189280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9500616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0616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Delivery &amp; rollout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518904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scoring against the rules engine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Champion–challenger, then ramp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feedback loop wired in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+ auto-retrain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Solution architecture — end to end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40280" y="1563624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286000" y="1563624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stream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/ Kafka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18788" y="1563624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064508" y="1563624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97296" y="1563624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843016" y="1563624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75804" y="1563624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7621524" y="1563624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/ session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89888" y="2299716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548640" y="2418588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58368" y="2510028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58368" y="25100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FEATURES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40280" y="2564892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DF1DC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2286000" y="2564892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18788" y="2564892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064508" y="2564892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+ Spark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features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97296" y="2564892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843016" y="2564892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gates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2564892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621524" y="2564892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Feature Store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89888" y="3300984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548640" y="3419856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658368" y="3511296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658368" y="35112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+ TRAIN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40280" y="3566160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2286000" y="3566160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18788" y="3566160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064508" y="3566160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+ registry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97296" y="3566160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5843016" y="3566160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Training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75804" y="3566160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7621524" y="3566160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89888" y="4302252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548640" y="4421124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658368" y="4512564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658368" y="45125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 (EKS)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40280" y="4567428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DF1DC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2286000" y="4567428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18788" y="4567428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4064508" y="4567428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LLM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97296" y="4567428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5843016" y="4567428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Vector DB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/ case docs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75804" y="4567428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7621524" y="4567428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Endpoint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389888" y="5303520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548640" y="5422392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658368" y="5513832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5" name="Text 53"/>
          <p:cNvSpPr/>
          <p:nvPr/>
        </p:nvSpPr>
        <p:spPr>
          <a:xfrm>
            <a:off x="658368" y="5513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 + DECISION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40280" y="5568696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Text 55"/>
          <p:cNvSpPr/>
          <p:nvPr/>
        </p:nvSpPr>
        <p:spPr>
          <a:xfrm>
            <a:off x="2286000" y="5568696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API (EKS)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018788" y="5568696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 57"/>
          <p:cNvSpPr/>
          <p:nvPr/>
        </p:nvSpPr>
        <p:spPr>
          <a:xfrm>
            <a:off x="4064508" y="5568696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rules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policy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797296" y="5568696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Text 59"/>
          <p:cNvSpPr/>
          <p:nvPr/>
        </p:nvSpPr>
        <p:spPr>
          <a:xfrm>
            <a:off x="5843016" y="5568696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queue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575804" y="5568696"/>
            <a:ext cx="161391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 61"/>
          <p:cNvSpPr/>
          <p:nvPr/>
        </p:nvSpPr>
        <p:spPr>
          <a:xfrm>
            <a:off x="7621524" y="5568696"/>
            <a:ext cx="1522476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allow / step-up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464040" y="1417320"/>
            <a:ext cx="2176272" cy="4882896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/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9464040" y="1545336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628632" y="225856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Text 65"/>
          <p:cNvSpPr/>
          <p:nvPr/>
        </p:nvSpPr>
        <p:spPr>
          <a:xfrm>
            <a:off x="9665208" y="22585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628632" y="280720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Text 67"/>
          <p:cNvSpPr/>
          <p:nvPr/>
        </p:nvSpPr>
        <p:spPr>
          <a:xfrm>
            <a:off x="9665208" y="280720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628632" y="335584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Text 69"/>
          <p:cNvSpPr/>
          <p:nvPr/>
        </p:nvSpPr>
        <p:spPr>
          <a:xfrm>
            <a:off x="9665208" y="335584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628632" y="390448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 71"/>
          <p:cNvSpPr/>
          <p:nvPr/>
        </p:nvSpPr>
        <p:spPr>
          <a:xfrm>
            <a:off x="9665208" y="390448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628632" y="445312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5" name="Text 73"/>
          <p:cNvSpPr/>
          <p:nvPr/>
        </p:nvSpPr>
        <p:spPr>
          <a:xfrm>
            <a:off x="9665208" y="445312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9628632" y="5001768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7" name="Text 75"/>
          <p:cNvSpPr/>
          <p:nvPr/>
        </p:nvSpPr>
        <p:spPr>
          <a:xfrm>
            <a:off x="9665208" y="50017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Terraform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model training works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+ batch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02536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144268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DF1DC"/>
          </a:solidFill>
          <a:ln w="12700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189988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98164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739896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785616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build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/ Spark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93792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335524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381244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feats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89420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931152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976872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85048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526780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572500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+ cost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80676" y="2491740"/>
            <a:ext cx="1371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10122408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168128" y="1965960"/>
            <a:ext cx="1357884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promote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1371600"/>
            <a:ext cx="3044952" cy="457200"/>
          </a:xfrm>
          <a:prstGeom prst="roundRect">
            <a:avLst>
              <a:gd name="adj" fmla="val 10000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48640" y="13716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experiments + MLflow tracking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71116" y="1847088"/>
            <a:ext cx="0" cy="100584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11023092" cy="384048"/>
          </a:xfrm>
          <a:prstGeom prst="roundRect">
            <a:avLst>
              <a:gd name="adj" fmla="val 11905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548640" y="3337560"/>
            <a:ext cx="110230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Airflow + SageMaker Pipelines  —  every run idempotent, versioned, reproducible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11023092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777240" y="3977640"/>
            <a:ext cx="105658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is triggered, not scheduled by habit.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detectors and the analyst feedback loop trigger retraining; champion–challenger validates a new model in shadow before it ever takes traffic.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02920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685800" y="510235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Imbalance-aware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&amp; recall-at-fixed-precision, resampling on the train fold only — never raw accuracy.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83964" y="502920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421124" y="510235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at scale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EMR/Spark computes billions of behavioural &amp; velocity features; the online store serves them sub-second.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19288" y="502920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8156448" y="510235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labels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confirmed late, so the pipeline handles label lag &amp; weak labels explicitly.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agents + RAG pipeline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325880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docs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93392" y="2331720"/>
            <a:ext cx="384048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423160" y="182880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B45309"/>
          </a:solidFill>
          <a:ln/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423160" y="1828800"/>
            <a:ext cx="1691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
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on EKS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33088" y="2350008"/>
            <a:ext cx="36576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2240280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Agent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40880" y="141732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086600" y="1417320"/>
            <a:ext cx="2240280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Agent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2441448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572000" y="2441448"/>
            <a:ext cx="2240280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Agent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0" y="2441448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086600" y="2441448"/>
            <a:ext cx="2240280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Agent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90888" y="2350008"/>
            <a:ext cx="329184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10012680" y="182880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DF1DC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10058400" y="1828800"/>
            <a:ext cx="150876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score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0" y="3310128"/>
            <a:ext cx="0" cy="502920"/>
          </a:xfrm>
          <a:prstGeom prst="line">
            <a:avLst/>
          </a:prstGeom>
          <a:noFill/>
          <a:ln w="20320">
            <a:solidFill>
              <a:srgbClr val="B45309"/>
            </a:solidFill>
            <a:prstDash val="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the ML scoring endpoint + data tools, then return a grounded, cited recommendation → reason codes → human-in-the-loop for the edge cases.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16552" y="3867912"/>
            <a:ext cx="6949440" cy="1344168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526280" y="388620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(grounding every agent)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617720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96128" y="4549140"/>
            <a:ext cx="9144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5687568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5733288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policy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11696" y="4549140"/>
            <a:ext cx="9144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6803136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6848856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27264" y="4549140"/>
            <a:ext cx="9144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7918704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7964424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citations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42832" y="4549140"/>
            <a:ext cx="9144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8" name="Shape 36"/>
          <p:cNvSpPr/>
          <p:nvPr/>
        </p:nvSpPr>
        <p:spPr>
          <a:xfrm>
            <a:off x="9034272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9079992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058400" y="4549140"/>
            <a:ext cx="91440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10149840" y="4178808"/>
            <a:ext cx="1024128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10195560" y="4178808"/>
            <a:ext cx="93268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9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 owned vs. what the team delivered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32120" cy="3886200"/>
          </a:xfrm>
          <a:prstGeom prst="roundRect">
            <a:avLst>
              <a:gd name="adj" fmla="val 1882"/>
            </a:avLst>
          </a:prstGeom>
          <a:solidFill>
            <a:srgbClr val="F8FAFC"/>
          </a:solidFill>
          <a:ln w="15875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personally owned  ·  Staff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66544"/>
            <a:ext cx="5029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the end-to-end architecture &amp; the system-design-at-scale decisions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EMR/Spark feature pipeline + online feature store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imbalance-aware evaluation &amp; threshold-tuning methodology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champion–challenger release &amp; the analyst feedback loop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&amp; hardened the agent + RAG framework across both platforms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engineers; drove the cross-team standards that unified both clouds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5532120" cy="3886200"/>
          </a:xfrm>
          <a:prstGeom prst="roundRect">
            <a:avLst>
              <a:gd name="adj" fmla="val 1882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583680" y="16276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delivered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066544"/>
            <a:ext cx="5029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streaming ingestion &amp; Spark feature jobs to spec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model training &amp; the agent tools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EKS platform, autoscaling &amp; on-call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analysts labelled cases &amp; tuned review thresholds with us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 integrated detection with incident response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executed load &amp; latency testing at scale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513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the role: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5532120"/>
            <a:ext cx="1594714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2194560" y="5532120"/>
            <a:ext cx="15947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at scale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17290" y="5532120"/>
            <a:ext cx="1397203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917290" y="5532120"/>
            <a:ext cx="13972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/ distributed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2509" y="5532120"/>
            <a:ext cx="1265530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442509" y="5532120"/>
            <a:ext cx="12655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standards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36054" y="5532120"/>
            <a:ext cx="738835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836054" y="5532120"/>
            <a:ext cx="7388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02906" y="5532120"/>
            <a:ext cx="1265530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7702906" y="5532120"/>
            <a:ext cx="12655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serving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 &amp; stakeholder intersection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66420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22529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Fraud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Co-designed the alert queue &amp; case summaries with the analysts who work them daily.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590288" y="166420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6577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Financial Crime / AML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0857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detection &amp; agent reasoning with AML typologies and reporting obligations.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430768" y="166420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90625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Experience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4905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thresholds against false-positive friction — protecting genuine customers from blocks.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749808" y="367588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122529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&amp; Compliance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model validation &amp; monitoring evidence for governance sign-off.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590288" y="367588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06577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Platform / SRE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0857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streaming SLAs, autoscaling &amp; cost guardrails for real-time scoring.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8430768" y="367588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890625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SecOps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4905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detections into incident response &amp; the security audit agent's signals.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decisions &amp; trade-offs</a:t>
            </a:r>
            <a:endParaRPr lang="en-US" sz="2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chose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I 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supervised + unsupervised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complexity, but catches both known fraud and novel/zero-day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compute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EMR/Spark over AWS Glue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cluster ops, bought heavy distributed throughput &amp; spot-instance cost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&amp; serving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SageMaker managed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lock-in, in exchange for managed pipelines, registry &amp; autoscaled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over Step Functions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Self-managed, but richer DAGs &amp; portability across our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Step-up auth, not just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flows to build, but far less customer friction than hard blocks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&amp; how I worked through them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49808" y="1591056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Extreme class imbalance (~0.1%)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on PR-AUC &amp; recall-at-fixed-precision tuned to the cost matrix; resampled only inside the training fold; calibrated scores.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91072" y="1463040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492240" y="1591056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Sub-second latency at scale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heavy features in the online store, computed only light features live, cached aggressively, autoscaled on EKS with graceful fallback.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65576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749808" y="3593592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Adversaries &amp; concept drift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monitors + champion–challenger + frequent triggered retraining so the model keeps pace with evolving fraud.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3465576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492240" y="3593592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False positives hurt real customers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thresholds to analyst capacity, added step-up auth, and fed analyst decisions back as labels to sharpen precision over time.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Fraud Detection Platform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Engineering Practice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cross-cutting discipline behind both platforms — release, monitoring, and the ML framework strategy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80060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FAST-PACED DEVELOPMENT → PRODUCTION, SAFELY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Release management without compromising production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38988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+ MLflow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32711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180844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226564" y="1828800"/>
            <a:ext cx="138988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checks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code+data+model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64915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813048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858768" y="1828800"/>
            <a:ext cx="138988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gate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97119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445252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490972" y="1828800"/>
            <a:ext cx="138988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traffic, 0 impact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29323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7077456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123176" y="1828800"/>
            <a:ext cx="138988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% live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61527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709660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755380" y="1828800"/>
            <a:ext cx="138988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to 100%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93731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10341864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387584" y="1828800"/>
            <a:ext cx="138988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drift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371600" y="1508760"/>
            <a:ext cx="8257032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head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48640" y="11887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 — previous version stays warm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091672" y="3035808"/>
            <a:ext cx="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548640" y="312724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/ decay → triggers a new experiment (closed loop)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71323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is a quality bar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is blocked unless metric, fairness, calibration &amp; guardrail checks all pass.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1757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358216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Progressive, never big-bang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→ canary → ramp means a bad model is caught on a sliver of traffic, not all of it.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8650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645109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&amp; traceable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prediction maps to a model version, data &amp; feature snapshot — fully auditable &amp; reversible.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15543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932002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Champion–challenger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models prove themselves against the incumbent in shadow before taking real traffic.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MODEL STILL WORKS IN PRODUCTION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Monitoring &amp; measuring ML metrics and accuracy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E0F2F7"/>
          </a:solidFill>
          <a:ln w="13970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728216"/>
            <a:ext cx="420624" cy="42062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49808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Operational health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p50/p99, throughput, error rate, saturation, cost per 1k predictions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7288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FDF1DC"/>
          </a:solidFill>
          <a:ln w="13970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648456" y="1728216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648456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&amp; feature drift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48456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/ KS monitors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48456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distribution shift, prediction-distribution shift, feature freshness &amp; null spikes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45936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EDE7FB"/>
          </a:solidFill>
          <a:ln w="1397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6547104" y="1728216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547104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6D28D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47104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Sliced metrics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47104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Lending: AUC, calibration, fairness by segment · Fraud: PR-AUC, recall@precision, $ saved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44584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ECFDF5"/>
          </a:solidFill>
          <a:ln w="1397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9445752" y="1728216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9445752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4785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LLM / agent quality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45752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45752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citation validity, refusal/leak checks on every agent output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91672" cy="1325880"/>
          </a:xfrm>
          <a:prstGeom prst="roundRect">
            <a:avLst>
              <a:gd name="adj" fmla="val 4828"/>
            </a:avLst>
          </a:prstGeom>
          <a:solidFill>
            <a:srgbClr val="0F172A"/>
          </a:solidFill>
          <a:ln/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868680" y="4663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aggregates logs &amp; fires alerts across all four layers.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thresholds are tied to business impact, not arbitrary statistics — minor drift logs &amp; watches, sustained decay triggers retraining, a sharp break rolls back. Ground-truth performance is tracked as labels arrive (immediately for lending, with deliberate lag handling for fraud), so we measure real accuracy, not just proxies.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MLflow, TensorFlow &amp; PyTorch — how they fit together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EDE7FB"/>
          </a:solidFill>
          <a:ln w="15875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6D28D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MLflow — the connective tissue. 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tracking + registry layer for both frameworks and both clouds: every run's params, data &amp; feature versions, metrics and artifacts are logged; the registry governs Staging→Production promotion with the release gates. Framework-agnostic by design.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5875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77240" y="28620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PyTorch  ·  research &amp; iteration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00984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flexible experimentation — the default for research &amp; rapid iteration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explore new architectures and fine-tune transformer / LLM components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graphs make debugging &amp; custom logic straightforward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via TorchServe, or exported to ONNX where a common runtime helps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697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5875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583680" y="28620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TensorFlow  ·  production serving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3300984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serving &amp; lifecycle ecosystem (TF Serving, TFX) for stable production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where we need a hardened, high-throughput serving path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for managed endpoints on Vertex AI / SageMaker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optimisation &amp; quantisation for low-latency, low-cost inference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in one line:  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freely in PyTorch, standardise artifacts &amp; metrics through MLflow, then serve on whichever runtime meets the latency, cost &amp; ecosystem needs — gradient-boosted models still win on tabular decisioning, and that's a feature, not a compromise.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TWO JOURNEYS SHOW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through-line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1051560" y="242316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Production ML at scale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7889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platforms serve real decisions to real users — feature stores, real-time serving, drift-aware retraining.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6446520" y="242316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766560" y="23317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Principled trade-offs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7889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GBMs over flashy deep nets; managed vs self-managed chosen on merit; metrics tied to business cost.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005072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1051560" y="4279392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1371600" y="41879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Standards across teams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64515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+ RAG pattern, one release &amp; monitoring discipline, reused across two clouds — influence beyond a squad.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005072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6446520" y="427939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766560" y="41879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Bringing people along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0" y="464515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set the patterns, ran the design reviews, and mentored the engineers who built within them.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research-meets-production seam, at scale, for a mission that matters — what I want to do next.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4620</Words>
  <Application>Microsoft Office PowerPoint</Application>
  <PresentationFormat>Widescreen</PresentationFormat>
  <Paragraphs>649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Platform Journeys — Lending Decision &amp; Fraud Detection</dc:title>
  <dc:subject>PptxGenJS Presentation</dc:subject>
  <dc:creator>Candidate</dc:creator>
  <cp:lastModifiedBy>Kartik Patel</cp:lastModifiedBy>
  <cp:revision>2</cp:revision>
  <cp:lastPrinted>2026-06-20T12:56:01Z</cp:lastPrinted>
  <dcterms:created xsi:type="dcterms:W3CDTF">2026-06-19T14:25:10Z</dcterms:created>
  <dcterms:modified xsi:type="dcterms:W3CDTF">2026-06-20T12:58:18Z</dcterms:modified>
</cp:coreProperties>
</file>