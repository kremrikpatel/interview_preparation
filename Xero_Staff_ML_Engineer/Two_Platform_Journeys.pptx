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upfront: both are end-to-end ML + agentic AI platforms I helped build in regulated finance. One on GCP (lending), one on AWS (fraud). I'll walk each through discovery-to-delivery, show the architecture, then close on the cross-cutting engineering practice that matters at Staff level: release management, monitoring, and the MLflow/TensorFlow/PyTorch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to anchor the audience. Same delivery playbook and the same agent pattern (Application / KYC-AML / Financial Analysis / Security Audit) on both, but deliberately different cloud-native tooling and two genuinely different ML problems: a decision/ranking problem with heavy explainability needs vs an extreme-imbalance real-time detection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business pain (slow, inconsistent, hard to audit) before the tech. The explainability requirement is what shaped most of the architecture — say that explicitly, it shows you design from constraints, not from cool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 with a turning point. Discovery is where I earned trust with Risk/Compliance by translating their obligations into technical guardrails. Delivery is where progressive rollout + HITL meant we never bet the bank on a cold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top-to-bottom. The two things to call out as mine: the Argo training pipeline + Vertex Feature Store that kills train-serve skew, and the agentic layer where Gemini and Claude are task-routed. The dark governance panel on the right is deliberately cross-cutting — monitoring and audit touch every layer, which matters enormously in a regulated lender.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I show ML reasoning, not just plumbing. Emphasise point-in-time correctness, fairness gating, and calibration — those are the three things a regulated lending model lives or dies on. Argo orchestrates it; MLflow makes it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point I'd make here: most 'the LLM got it wrong' failures are retrieval failures. So the RAG strip is the real engineering — hybrid retrieval over current lending policy, re-rank, grounded prompt with citations, then a faithfulness check via Evaluate AI before anything reaches a customer. Agents reason; the calibrated model decides; a human signs off on the big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about the Staff distinction: I set the patterns and reviewed against them; the team built within them. The mentoring + standards line is the most important thing to land for this role —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Stakeholder management is a Staff signal. Emphasise the Model Risk Review board — defending methodology to a governance board is very different from shipping a feature, and it's exactly the cross-audience communication this role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row, the trade-off column is the point — it shows judgement. The model-class choice is the strongest: I deliberately did NOT reach for deep learning, because explainability and latency beat a fractional accuracy gain in regulated lending.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explainability one to go deep on if asked — it's the most credible and the most Xero-relevant (Ownership + accountability). Frame each as problem → principled fix →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0.1% base rate is the headline — it's why accuracy is meaningless here and why I anchored on recall-at-fixed-precision tied to analyst review capacity. The false-positive/customer-friction angle shows you think about the product, not just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discovery difference vs lending: here I spent the time quantifying the cost of a false positive (customer friction, churn) against a false negative (loss), because that cost ratio sets the operating threshold. Champion-challenger against the incumbent rules engine is how we de-risked the cutover.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the GCP diagram: streaming-first (Kinesis), EMR/Spark doing the heavy distributed feature compute that the JD explicitly calls out, SageMaker for managed training+serving, and a low-latency scoring service on EKS. The agent pattern is identical to lending by design — that consistency is itself a Staff-level standardisation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I demonstrate ML depth on a hard problem. The three bottom cards are the reasoning: imbalance metrics, distributed feature compute, and delayed-label handling. Mention that resampling happens inside the training fold to avoid leakage — that detail signals real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RAG discipline as lending, grounded here in AML typologies and prior case files. The agents don't decide — the model scores and the agents assemble an evidence-backed, cited case summary so a human analyst can decide fast. Faithfulness gating matters because a fabricated 'fact' in an AML case is a serious compliance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cross-platform standardisation line is gold for a Staff role: I didn't just build two things, I made the second one reuse and improve the patterns from the first across two different clouds. That's influence beyond a single squad.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Customer Experience stakeholder is the interesting one — it shows I treat false positives as a real cost to a real person, not just a number. That product empathy maps straight to Xero's 'Human'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row is a product-minded trade-off worth highlighting: instead of a binary block, a step-up challenge keeps genuine customers moving. That's the kind of decision a Staff engineer makes by thinking past the model to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push on ML reasoning, this slide is your proof. The imbalance answer especially — explain WHY accuracy is the wrong metric here and how you tied the threshold to a real operational constraint (analyst capacity). That's modelling judgement, not plumbing.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'how do you ship fast without breaking production'. The whole philosophy: make the safe path the fast path. Feature flags + shadow + canary + instant rollback mean engineers can move quickly because the system catches mistakes on a tiny blast radius. The red loop is rollback; the dashed loop is the closed feedback from monitoring to a new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 of monitoring, one alerting brain (Splunk). The most important sentence: thresholds tied to business impact, not statistical significance. And be honest about the fraud label-lag problem — measuring true accuracy when ground truth arrives weeks later is a real challenge I'd handle with delayed-label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present this as 'PyTorch good, TF good'. Present the STRATEGY: framework choice follows the lifecycle stage, MLflow makes them interoperable, and — important honesty — for the actual core models here (tabular lending &amp; fraud) gradient boosting beats both, so I pick the tool for the data, not the hype.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plane on the Staff narrative: scale, principled trade-offs, standards across teams, and bringing people along. The last line bridges explicitly to the Xero role. Then stop talking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657600"/>
            <a:ext cx="4572000" cy="4572000"/>
          </a:xfrm>
          <a:prstGeom prst="ellipse">
            <a:avLst/>
          </a:prstGeom>
          <a:solidFill>
            <a:srgbClr val="F59E0B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JOURNEYS · PRODUCTION ML &amp; AGENTIC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Platforms, One Discipline: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Reliable ML &amp; Multi-Agent AI in Regulated Finance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507492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905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1605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Lending Decision Platform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· Vertex AI · GKE · Argo · Gemini + Claude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4160520"/>
            <a:ext cx="507492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41605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Fraud Detection Platform
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BD9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SageMaker · EKS · EMR/Spark · Airflow · Claude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806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ML Engineer — interview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WALK YOU THROUGH THIS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this presentation covers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593592" cy="224028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691640"/>
            <a:ext cx="566928" cy="5669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404872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journey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283464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design → development → delivery, for each platform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593592" cy="224028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1691640"/>
            <a:ext cx="566928" cy="56692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2404872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My contribution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45152" y="283464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personally owned vs. what the team delivered, mapped to the role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1417320"/>
            <a:ext cx="3593592" cy="224028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85632" y="1691640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85632" y="2404872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85632" y="283464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solution diagrams: data, training, serving, agents + RAG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3593592" cy="224028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4187952"/>
            <a:ext cx="566928" cy="5669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187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4901184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Decisions &amp; trade-offs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4672" y="5330952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GCP vs AWS tooling, managed vs self-managed, model &amp; LLM choices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0" y="3913632"/>
            <a:ext cx="3593592" cy="224028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45152" y="4187952"/>
            <a:ext cx="566928" cy="56692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4645152" y="4187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45152" y="4901184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45152" y="5330952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explainability, scale, drift, false positives — and the fixes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0" y="3913632"/>
            <a:ext cx="3593592" cy="224028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85632" y="4187952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/>
          <p:nvPr/>
        </p:nvSpPr>
        <p:spPr>
          <a:xfrm>
            <a:off x="8485632" y="4187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85632" y="4901184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Engineering practice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85632" y="5330952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management, ML monitoring, and MLflow / TensorFlow / PyTorch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Platform Journeys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PLATFORMS AT A GLANCE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Same playbook, two clouds, two risk problems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623560" cy="4526280"/>
          </a:xfrm>
          <a:prstGeom prst="roundRect">
            <a:avLst>
              <a:gd name="adj" fmla="val 1616"/>
            </a:avLst>
          </a:prstGeom>
          <a:solidFill>
            <a:srgbClr val="E0F2F7"/>
          </a:solidFill>
          <a:ln w="15875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916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LENDING DECISION  ·  Google Cloud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&amp; de-risk credit decisioning; consistent, explainable, compliant lending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78892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ML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gradient-boosted lending-decision model + reason codes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Workflows (training DAGs) on GKE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406908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endpoints + agent services on GKE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470916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+ Claude (task-routed) with RAG over lending policy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534924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+ MLflow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1508760"/>
            <a:ext cx="5623560" cy="4526280"/>
          </a:xfrm>
          <a:prstGeom prst="roundRect">
            <a:avLst>
              <a:gd name="adj" fmla="val 1616"/>
            </a:avLst>
          </a:prstGeom>
          <a:solidFill>
            <a:srgbClr val="FDF1DC"/>
          </a:solidFill>
          <a:ln w="15875">
            <a:solidFill>
              <a:srgbClr val="B4530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16916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FRAUD DETECTION  ·  AWS
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214884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fraud in near-real-time at scale; minimise loss &amp; customer friction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75120" y="278892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ML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supervised + unsupervised scoring on extreme class imbalance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75120" y="342900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(training DAGs); EMR/Spark for feature compute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75120" y="406908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endpoints + low-latency scoring on EKS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0" y="470916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for investigation agents + RAG over case/AML knowledge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75120" y="5349240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+ MLflow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Platform Journeys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743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Lending Decision Platform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· agentic credit decisioning with explainability and compliance built in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· THE PROBLEM WE SET OUT TO SOLVE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Faster, consistent, defensible credit decisions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underwriting was slow, inconsistent across officers, and hard to audit. The bank wanted automated decisioning that was fast, consistent, and — critically — explainable and compliant with responsible-lending obligations.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ML decision model at the core, wrapped in four specialised AI agents that intake the application, run KYC/AML, analyse finances, and audit for security — all grounded in current lending policy via RAG, with a human in the loop for high-value / low-confidence cases.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508760"/>
            <a:ext cx="4937760" cy="1325880"/>
          </a:xfrm>
          <a:prstGeom prst="roundRect">
            <a:avLst>
              <a:gd name="adj" fmla="val 482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903720" y="16367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6B6D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≤ minutes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903720" y="222199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turnaround vs. hours of manual review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675120" y="2990088"/>
            <a:ext cx="4937760" cy="1325880"/>
          </a:xfrm>
          <a:prstGeom prst="roundRect">
            <a:avLst>
              <a:gd name="adj" fmla="val 482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03720" y="31181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8B5C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Reason codes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903720" y="37033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decision — adverse-action ready &amp; auditable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4471416"/>
            <a:ext cx="4937760" cy="1325880"/>
          </a:xfrm>
          <a:prstGeom prst="roundRect">
            <a:avLst>
              <a:gd name="adj" fmla="val 482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03720" y="45994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B98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HITL gate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903720" y="51846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review high-value &amp; low-confidence cases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unfolded: discovery to delivery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92808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Discovery &amp; framing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with Lending, Risk &amp; Compliance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decision policy &amp; data sources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success metrics + guardrails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spike on GCP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36976" y="3680460"/>
            <a:ext cx="210312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65576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189280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3666744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66744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Design &amp; architecture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685032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GCP-native stack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decomposition (4 agents)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training DAGs + feature store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 audit by design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53912" y="3680460"/>
            <a:ext cx="210312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82512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0" y="1892808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601968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pipelines + feature store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model + calibration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agents + RAG over policy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via Terraform; eval harness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70848" y="3680460"/>
            <a:ext cx="210312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99448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00616" y="189280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9500616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0616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&amp; rollout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518904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→ canary → progressive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integration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Model-risk review sign-off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+ reason-code audit trail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 architecture — end to end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08760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508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40280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· ledgers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018788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64508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bureau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· history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797296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3016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/ GCS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5804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1524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intake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389888" y="2299716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2418588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2510028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5100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FEATURES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40280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0F2F7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0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Workflows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DAGs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18788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4508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Dataproc / Spark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97296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43016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gates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575804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21524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Feature Store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train=serve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389888" y="3300984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3419856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" y="3511296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35112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+ TRAIN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240280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0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018788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64508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+ registry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797296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43016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Training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model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575804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21524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gates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389888" y="4302252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4421124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8368" y="4512564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06B6D4"/>
          </a:solidFill>
          <a:ln/>
        </p:spPr>
      </p:sp>
      <p:sp>
        <p:nvSpPr>
          <p:cNvPr id="43" name="Text 41"/>
          <p:cNvSpPr/>
          <p:nvPr/>
        </p:nvSpPr>
        <p:spPr>
          <a:xfrm>
            <a:off x="658368" y="45125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LAYER (GKE)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240280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0F2F7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286000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Orchestrator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018788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064508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+ Claude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task-routed LLMs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797296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43016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Vertex Vector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policy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75804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21524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Endpoint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389888" y="5303520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548640" y="5422392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8368" y="5513832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06B6D4"/>
          </a:solidFill>
          <a:ln/>
        </p:spPr>
      </p:sp>
      <p:sp>
        <p:nvSpPr>
          <p:cNvPr id="55" name="Text 53"/>
          <p:cNvSpPr/>
          <p:nvPr/>
        </p:nvSpPr>
        <p:spPr>
          <a:xfrm>
            <a:off x="658368" y="55138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+ DECISION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240280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286000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API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gRPC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018788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064508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797296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43016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575804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21524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system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write-back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9464040" y="1417320"/>
            <a:ext cx="2176272" cy="4882896"/>
          </a:xfrm>
          <a:prstGeom prst="roundRect">
            <a:avLst>
              <a:gd name="adj" fmla="val 294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464040" y="154533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spc="1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spc="1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GOVERNANCE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628632" y="225856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65208" y="22585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9628632" y="280720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665208" y="280720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628632" y="335584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65208" y="335584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AI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9628632" y="390448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665208" y="39044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/ SHAP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628632" y="445312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65208" y="445312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9628632" y="500176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665208" y="50017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· Terraform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model training works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+ bureau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 join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02536" y="2491740"/>
            <a:ext cx="13716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4268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E0F2F7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89988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98164" y="2491740"/>
            <a:ext cx="13716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39896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85616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build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Dataproc/Spark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93792" y="2491740"/>
            <a:ext cx="13716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35524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81244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point-in-time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89420" y="2491740"/>
            <a:ext cx="13716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931152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76872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385048" y="2491740"/>
            <a:ext cx="13716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26780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72500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metrics+fairness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980676" y="2491740"/>
            <a:ext cx="13716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122408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168128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promote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1371600"/>
            <a:ext cx="3044952" cy="457200"/>
          </a:xfrm>
          <a:prstGeom prst="roundRect">
            <a:avLst>
              <a:gd name="adj" fmla="val 10000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137160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experiments + MLflow tracking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071116" y="1847088"/>
            <a:ext cx="0" cy="100584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3337560"/>
            <a:ext cx="11023092" cy="384048"/>
          </a:xfrm>
          <a:prstGeom prst="roundRect">
            <a:avLst>
              <a:gd name="adj" fmla="val 11905"/>
            </a:avLst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337560"/>
            <a:ext cx="110230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by Argo Workflows (GKE-native)  —  every run idempotent, versioned, reproducible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77640"/>
            <a:ext cx="11023092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977640"/>
            <a:ext cx="10565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is triggered, not scheduled by habit.  </a:t>
            </a:r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monitors or accumulated label corrections fire a run; the gate blocks promotion unless metric, fairness and calibration checks pass.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029200"/>
            <a:ext cx="3552444" cy="841248"/>
          </a:xfrm>
          <a:prstGeom prst="roundRect">
            <a:avLst>
              <a:gd name="adj" fmla="val 543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102352"/>
            <a:ext cx="32781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Point-in-time features
</a:t>
            </a:r>
            <a:endParaRPr lang="en-US" sz="10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 serves training and the live decision endpoint — no skew, no leakage.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283964" y="5029200"/>
            <a:ext cx="3552444" cy="841248"/>
          </a:xfrm>
          <a:prstGeom prst="roundRect">
            <a:avLst>
              <a:gd name="adj" fmla="val 543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21124" y="5102352"/>
            <a:ext cx="32781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as a gate
</a:t>
            </a:r>
            <a:endParaRPr lang="en-US" sz="10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Sliced error + adverse-impact checks run in CI, not as a post-hoc audit.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19288" y="5029200"/>
            <a:ext cx="3552444" cy="841248"/>
          </a:xfrm>
          <a:prstGeom prst="roundRect">
            <a:avLst>
              <a:gd name="adj" fmla="val 543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56448" y="5102352"/>
            <a:ext cx="32781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probabilities
</a:t>
            </a:r>
            <a:endParaRPr lang="en-US" sz="10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ride on probabilities, so isotonic/Platt calibration is mandatory.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agents + RAG pipeline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1325880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+ docs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93392" y="2331720"/>
            <a:ext cx="384048" cy="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23160" y="1828800"/>
            <a:ext cx="1691640" cy="1051560"/>
          </a:xfrm>
          <a:prstGeom prst="roundRect">
            <a:avLst>
              <a:gd name="adj" fmla="val 6087"/>
            </a:avLst>
          </a:prstGeom>
          <a:solidFill>
            <a:srgbClr val="0E7490"/>
          </a:solidFill>
          <a:ln/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23160" y="1828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
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on GKE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33088" y="2350008"/>
            <a:ext cx="36576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26280" y="1417320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417320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40880" y="1417320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1417320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/ AML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26280" y="244144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441448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Analysis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40880" y="244144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0" y="2441448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390888" y="2350008"/>
            <a:ext cx="329184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012680" y="182880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E0F2F7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828800"/>
            <a:ext cx="1508760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score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40880" y="3310128"/>
            <a:ext cx="0" cy="502920"/>
          </a:xfrm>
          <a:prstGeom prst="line">
            <a:avLst/>
          </a:prstGeom>
          <a:noFill/>
          <a:ln w="20320">
            <a:solidFill>
              <a:srgbClr val="0E7490"/>
            </a:solidFill>
            <a:prstDash val="dash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 the ML scoring endpoint + data tools, then return a grounded, cited recommendation → reason codes → human-in-the-loop for the edge cases.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16552" y="3867912"/>
            <a:ext cx="6949440" cy="1344168"/>
          </a:xfrm>
          <a:prstGeom prst="roundRect">
            <a:avLst>
              <a:gd name="adj" fmla="val 476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388620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(grounding every agent)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7720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96128" y="4549140"/>
            <a:ext cx="9144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687568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33288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policy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11696" y="4549140"/>
            <a:ext cx="9144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803136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48856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827264" y="4549140"/>
            <a:ext cx="9144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18704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64424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prompt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citations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42832" y="4549140"/>
            <a:ext cx="9144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034272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79992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+ Claude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058400" y="4549140"/>
            <a:ext cx="91440" cy="0"/>
          </a:xfrm>
          <a:prstGeom prst="line">
            <a:avLst/>
          </a:prstGeom>
          <a:noFill/>
          <a:ln w="20320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0149840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195560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AI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owned vs. what the team delivered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532120" cy="3886200"/>
          </a:xfrm>
          <a:prstGeom prst="roundRect">
            <a:avLst>
              <a:gd name="adj" fmla="val 1882"/>
            </a:avLst>
          </a:prstGeom>
          <a:solidFill>
            <a:srgbClr val="F8FAFC"/>
          </a:solidFill>
          <a:ln w="15875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personally owned  ·  Staff scope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066544"/>
            <a:ext cx="50292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technical direction &amp; overall architecture across the platform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Argo training pipeline + Vertex Feature Store (train=serve)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LangGraph agent orchestration &amp; RAG grounding strategy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the MLOps standards: MLflow registry, CI/CD, release gates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the model evaluation, fairness &amp; calibration approach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Mentored 5 engineers; ran the design reviews that set the bar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463040"/>
            <a:ext cx="5532120" cy="3886200"/>
          </a:xfrm>
          <a:prstGeom prst="roundRect">
            <a:avLst>
              <a:gd name="adj" fmla="val 1882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2763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team delivered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066544"/>
            <a:ext cx="50292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source-system ingestion connectors &amp; data contracts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individual agent logic against the framework I defined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model training code from the pipeline templates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GKE platform / SRE and on-call operations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analysts validated decision quality &amp; reason codes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compliance executed UAT and sign-off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5513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role: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94560" y="5532120"/>
            <a:ext cx="1594714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5532120"/>
            <a:ext cx="15947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at scale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17290" y="5532120"/>
            <a:ext cx="1265530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17290" y="5532120"/>
            <a:ext cx="12655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standards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10835" y="5532120"/>
            <a:ext cx="738835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10835" y="5532120"/>
            <a:ext cx="7388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77686" y="5532120"/>
            <a:ext cx="1265530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7686" y="5532120"/>
            <a:ext cx="12655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MLflow/TF/PyTorch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571232" y="5532120"/>
            <a:ext cx="936346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71232" y="5532120"/>
            <a:ext cx="93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Client &amp; stakeholder intersection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64208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1225296" y="164592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Lending &amp; Credit Risk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" y="212140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Co-owned the decision policy; I translated their rules into model logic, thresholds &amp; reason codes.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0288" y="1664208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5065776" y="164592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Compliance &amp; Legal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08576" y="212140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Responsible-lending obligations → explainability, fairness testing &amp; audit requirements I designed to.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30768" y="1664208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8906256" y="164592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 Risk Review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49056" y="212140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model methodology &amp; validation for formal sign-off before each promotion.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3675888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1225296" y="365760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Product &amp; Underwriters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8096" y="413308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human-in-the-loop review flow with the people who'd actually use 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47472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0288" y="3675888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3" name="Text 21"/>
          <p:cNvSpPr/>
          <p:nvPr/>
        </p:nvSpPr>
        <p:spPr>
          <a:xfrm>
            <a:off x="5065776" y="365760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 Governance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08576" y="413308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data lineage, access controls &amp; retention for regulated financial data.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0" y="347472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30768" y="3675888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7" name="Text 25"/>
          <p:cNvSpPr/>
          <p:nvPr/>
        </p:nvSpPr>
        <p:spPr>
          <a:xfrm>
            <a:off x="8906256" y="365760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Cloud / Google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49056" y="413308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reviews on Vertex AI &amp; GKE; negotiated managed-service trade-offs.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Technology decisions &amp; trade-offs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432511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 chose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 I accepted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model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gradient-boosted trees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'cutting-edge' than deep nets — but explainable, fast, regulator-friendly on tabular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managed endpoints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GCP lock-in, in exchange for built-in monitoring &amp; faster, safer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 Workflows on GKE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ops than Vertex Pipelines, bought portability &amp; k8s-native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knowledge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over fine-tuning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moving parts, but fresh, citable policy — essential for compliance defensibility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+ Claude, task-routed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Multi-vendor complexity, in exchange for best-fit quality/cost &amp; no single-vendor lock-in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Challenges &amp; how I worked through them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591056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Decisions had to be explainable &amp; fair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model + SHAP reason codes + adverse-action notices; fairness tested across protected attributes with a full audit trail.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1072" y="1463040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591056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LLM hallucination in financial analysis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every agent via RAG, verified any numeric claim against source data, and gated outputs through the Evaluate AI faithfulness harness.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3593592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Multi-agent latency vs thoroughness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agents in parallel, cached retrievals &amp; embeddings, and held a strict SLA budget with graceful degradation to a simpler path.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3465576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3593592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Disparate, messy source data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gates at every boundary + a feature store as the single source of truth, so bad data never reached training or serving.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Lending Decision Platform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743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Fraud Detection Platform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real-time detection at scale on extreme class imbalance, with agentic investigation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· THE PROBLEM WE SET OUT TO SOLVE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Catch more fraud, frustrate fewer customers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losses were rising and the existing rules engine was both leaky and noisy — too much fraud got through, while too many genuine customers were wrongly blocked. The mandate: score transactions in near-real-time, at the scale of millions, and cut losses without adding customer friction.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ML scorer (supervised + unsupervised) on a streaming pipeline, with four investigation agents that triage alerts, run AML checks, analyse finances and audit security — surfacing a grounded case summary to fraud analysts.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508760"/>
            <a:ext cx="4937760" cy="1325880"/>
          </a:xfrm>
          <a:prstGeom prst="roundRect">
            <a:avLst>
              <a:gd name="adj" fmla="val 482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903720" y="16367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59E0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~0.1%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903720" y="222199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base rate — extreme imbalance drove every metric choice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675120" y="2990088"/>
            <a:ext cx="4937760" cy="1325880"/>
          </a:xfrm>
          <a:prstGeom prst="roundRect">
            <a:avLst>
              <a:gd name="adj" fmla="val 482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03720" y="31181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6B6D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Near-real-time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903720" y="37033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scoring on streaming transactions at scale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4471416"/>
            <a:ext cx="4937760" cy="1325880"/>
          </a:xfrm>
          <a:prstGeom prst="roundRect">
            <a:avLst>
              <a:gd name="adj" fmla="val 482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03720" y="45994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B98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Analyst-in-loop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903720" y="51846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draft the case; humans decide the edge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unfolded: discovery to delivery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92808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Discovery &amp; framing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with Fraud Ops &amp; Financial Crime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loss &amp; false-positive cost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metrics: recall@precision, $ saved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adversarial threat 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36976" y="3680460"/>
            <a:ext cx="210312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65576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18928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66744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66744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Design &amp; architecture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685032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AWS-native stack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+ batch feature paths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training DAGs; EMR/Spark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4-agent investigation pattern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53912" y="3680460"/>
            <a:ext cx="210312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82512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0" y="1892808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601968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pipeline + online features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supervised/unsupervised scorer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investigation agents + RAG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pipelines + MLflow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70848" y="3680460"/>
            <a:ext cx="210312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99448" y="1691640"/>
            <a:ext cx="2670048" cy="3977640"/>
          </a:xfrm>
          <a:prstGeom prst="roundRect">
            <a:avLst>
              <a:gd name="adj" fmla="val 239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00616" y="18928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9500616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0616" y="256032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&amp; rollout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518904" y="3246120"/>
            <a:ext cx="22494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scoring against the rules engine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Champion–challenger, then ramp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feedback loop wired in</a:t>
            </a:r>
            <a:endParaRPr lang="en-US" sz="105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monitoring + auto-retrain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 architecture — end to end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08760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508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40280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Kinesis / Kafka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018788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64508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797296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3016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5804" y="1563624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1524" y="1563624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/ session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389888" y="2299716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2418588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2510028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5100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FEATURES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40280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DF1DC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0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DAGs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18788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4508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+ Spark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features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97296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43016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gates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575804" y="2564892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21524" y="2564892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Feature Store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389888" y="3300984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3419856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" y="3511296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35112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+ TRAIN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240280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0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018788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64508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+ registry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797296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43016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Training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scorer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575804" y="3566160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21524" y="3566160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gates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389888" y="4302252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4421124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8368" y="4512564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</p:sp>
      <p:sp>
        <p:nvSpPr>
          <p:cNvPr id="43" name="Text 41"/>
          <p:cNvSpPr/>
          <p:nvPr/>
        </p:nvSpPr>
        <p:spPr>
          <a:xfrm>
            <a:off x="658368" y="45125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LAYER (EKS)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240280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DF1DC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286000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018788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064508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LLM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797296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43016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Vector DB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/ case docs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75804" y="4567428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21524" y="4567428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Endpoint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389888" y="5303520"/>
            <a:ext cx="0" cy="11430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548640" y="5422392"/>
            <a:ext cx="8732520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8368" y="5513832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</p:sp>
      <p:sp>
        <p:nvSpPr>
          <p:cNvPr id="55" name="Text 53"/>
          <p:cNvSpPr/>
          <p:nvPr/>
        </p:nvSpPr>
        <p:spPr>
          <a:xfrm>
            <a:off x="658368" y="55138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SCORING + DECISION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240280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286000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API (EKS)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018788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064508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+ rules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policy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797296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43016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review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queue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575804" y="5568696"/>
            <a:ext cx="1613916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21524" y="5568696"/>
            <a:ext cx="1522476" cy="58521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allow / step-up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9464040" y="1417320"/>
            <a:ext cx="2176272" cy="4882896"/>
          </a:xfrm>
          <a:prstGeom prst="roundRect">
            <a:avLst>
              <a:gd name="adj" fmla="val 294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464040" y="154533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GOVERNANCE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628632" y="225856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65208" y="22585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9628632" y="280720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665208" y="280720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628632" y="335584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65208" y="335584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AI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9628632" y="390448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665208" y="39044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monitors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628632" y="445312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65208" y="445312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9628632" y="5001768"/>
            <a:ext cx="1847088" cy="45720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665208" y="50017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· Terraform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model training works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+ batch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02536" y="2491740"/>
            <a:ext cx="13716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4268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DF1DC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89988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98164" y="2491740"/>
            <a:ext cx="13716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39896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85616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build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/ Spark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93792" y="2491740"/>
            <a:ext cx="13716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35524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81244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store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feats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89420" y="2491740"/>
            <a:ext cx="13716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931152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76872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385048" y="2491740"/>
            <a:ext cx="13716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26780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72500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+ cost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980676" y="2491740"/>
            <a:ext cx="13716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122408" y="1965960"/>
            <a:ext cx="1449324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168128" y="1965960"/>
            <a:ext cx="1357884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promote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1371600"/>
            <a:ext cx="3044952" cy="457200"/>
          </a:xfrm>
          <a:prstGeom prst="roundRect">
            <a:avLst>
              <a:gd name="adj" fmla="val 10000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137160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experiments + MLflow tracking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071116" y="1847088"/>
            <a:ext cx="0" cy="100584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3337560"/>
            <a:ext cx="11023092" cy="384048"/>
          </a:xfrm>
          <a:prstGeom prst="roundRect">
            <a:avLst>
              <a:gd name="adj" fmla="val 11905"/>
            </a:avLst>
          </a:prstGeom>
          <a:solidFill>
            <a:srgbClr val="B45309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337560"/>
            <a:ext cx="110230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by Airflow + SageMaker Pipelines  —  every run idempotent, versioned, reproducible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77640"/>
            <a:ext cx="11023092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977640"/>
            <a:ext cx="10565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is triggered, not scheduled by habit.  </a:t>
            </a:r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detectors and the analyst feedback loop trigger retraining; champion–challenger validates a new model in shadow before it ever takes traffic.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029200"/>
            <a:ext cx="3552444" cy="841248"/>
          </a:xfrm>
          <a:prstGeom prst="roundRect">
            <a:avLst>
              <a:gd name="adj" fmla="val 543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102352"/>
            <a:ext cx="32781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Imbalance-aware
</a:t>
            </a:r>
            <a:endParaRPr lang="en-US" sz="10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&amp; recall-at-fixed-precision, resampling on the train fold only — never raw accuracy.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283964" y="5029200"/>
            <a:ext cx="3552444" cy="841248"/>
          </a:xfrm>
          <a:prstGeom prst="roundRect">
            <a:avLst>
              <a:gd name="adj" fmla="val 543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21124" y="5102352"/>
            <a:ext cx="32781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at scale
</a:t>
            </a:r>
            <a:endParaRPr lang="en-US" sz="10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EMR/Spark computes billions of behavioural &amp; velocity features; the online store serves them sub-second.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19288" y="5029200"/>
            <a:ext cx="3552444" cy="841248"/>
          </a:xfrm>
          <a:prstGeom prst="roundRect">
            <a:avLst>
              <a:gd name="adj" fmla="val 543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56448" y="5102352"/>
            <a:ext cx="32781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labels
</a:t>
            </a:r>
            <a:endParaRPr lang="en-US" sz="10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is confirmed late, so the pipeline handles label lag &amp; weak labels explicitly.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agents + RAG pipeline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1325880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+ docs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93392" y="2331720"/>
            <a:ext cx="384048" cy="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23160" y="1828800"/>
            <a:ext cx="1691640" cy="1051560"/>
          </a:xfrm>
          <a:prstGeom prst="roundRect">
            <a:avLst>
              <a:gd name="adj" fmla="val 6087"/>
            </a:avLst>
          </a:prstGeom>
          <a:solidFill>
            <a:srgbClr val="B45309"/>
          </a:solidFill>
          <a:ln/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23160" y="1828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
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on EKS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33088" y="2350008"/>
            <a:ext cx="36576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26280" y="1417320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417320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40880" y="1417320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1417320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26280" y="244144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441448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Analysis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40880" y="244144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0" y="2441448"/>
            <a:ext cx="2240280" cy="8412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 Agent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390888" y="2350008"/>
            <a:ext cx="329184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012680" y="182880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FDF1DC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828800"/>
            <a:ext cx="1508760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score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40880" y="3310128"/>
            <a:ext cx="0" cy="502920"/>
          </a:xfrm>
          <a:prstGeom prst="line">
            <a:avLst/>
          </a:prstGeom>
          <a:noFill/>
          <a:ln w="20320">
            <a:solidFill>
              <a:srgbClr val="B45309"/>
            </a:solidFill>
            <a:prstDash val="dash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 the ML scoring endpoint + data tools, then return a grounded, cited recommendation → reason codes → human-in-the-loop for the edge cases.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16552" y="3867912"/>
            <a:ext cx="6949440" cy="1344168"/>
          </a:xfrm>
          <a:prstGeom prst="roundRect">
            <a:avLst>
              <a:gd name="adj" fmla="val 476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388620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(grounding every agent)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7720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96128" y="4549140"/>
            <a:ext cx="9144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687568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33288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policy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11696" y="4549140"/>
            <a:ext cx="9144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803136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48856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827264" y="4549140"/>
            <a:ext cx="9144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18704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64424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prompt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citations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42832" y="4549140"/>
            <a:ext cx="9144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034272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79992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058400" y="4549140"/>
            <a:ext cx="91440" cy="0"/>
          </a:xfrm>
          <a:prstGeom prst="line">
            <a:avLst/>
          </a:prstGeom>
          <a:noFill/>
          <a:ln w="2032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0149840" y="4178808"/>
            <a:ext cx="1024128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195560" y="4178808"/>
            <a:ext cx="932688" cy="7406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AI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owned vs. what the team delivered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532120" cy="3886200"/>
          </a:xfrm>
          <a:prstGeom prst="roundRect">
            <a:avLst>
              <a:gd name="adj" fmla="val 1882"/>
            </a:avLst>
          </a:prstGeom>
          <a:solidFill>
            <a:srgbClr val="F8FAFC"/>
          </a:solidFill>
          <a:ln w="15875">
            <a:solidFill>
              <a:srgbClr val="B4530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personally owned  ·  Staff scope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066544"/>
            <a:ext cx="50292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the end-to-end architecture &amp; the system-design-at-scale decisions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EMR/Spark feature pipeline + online feature store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imbalance-aware evaluation &amp; threshold-tuning methodology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champion–challenger release &amp; the analyst feedback loop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&amp; hardened the agent + RAG framework across both platforms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Mentored engineers; drove the cross-team standards that unified both clouds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463040"/>
            <a:ext cx="5532120" cy="3886200"/>
          </a:xfrm>
          <a:prstGeom prst="roundRect">
            <a:avLst>
              <a:gd name="adj" fmla="val 1882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2763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team delivered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066544"/>
            <a:ext cx="50292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streaming ingestion &amp; Spark feature jobs to spec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model training &amp; the agent tools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EKS platform, autoscaling &amp; on-call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analysts labelled cases &amp; tuned review thresholds with us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SecOps integrated detection with incident response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executed load &amp; latency testing at scale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5513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role: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94560" y="5532120"/>
            <a:ext cx="1594714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5532120"/>
            <a:ext cx="15947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at scale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17290" y="5532120"/>
            <a:ext cx="1397203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17290" y="5532120"/>
            <a:ext cx="13972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/ distributed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42509" y="5532120"/>
            <a:ext cx="1265530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2509" y="5532120"/>
            <a:ext cx="12655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standards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36054" y="5532120"/>
            <a:ext cx="738835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6054" y="5532120"/>
            <a:ext cx="7388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702906" y="5532120"/>
            <a:ext cx="1265530" cy="329184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02906" y="5532120"/>
            <a:ext cx="12655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serving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Client &amp; stakeholder intersection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6420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1225296" y="164592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Fraud Operations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" y="212140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Co-designed the alert queue &amp; case summaries with the analysts who work them daily.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0288" y="166420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5065776" y="164592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Financial Crime / AML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08576" y="212140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detection &amp; agent reasoning with AML typologies and reporting obligations.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30768" y="166420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8906256" y="164592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Customer Experience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49056" y="212140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thresholds against false-positive friction — protecting genuine customers from blocks.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367588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1225296" y="365760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&amp; Compliance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8096" y="413308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model validation &amp; monitoring evidence for governance sign-off.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47472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0288" y="367588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5065776" y="365760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 Platform / SRE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08576" y="413308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streaming SLAs, autoscaling &amp; cost guardrails for real-time scoring.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0" y="347472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30768" y="367588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8906256" y="3657600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SecOps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49056" y="4133088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Wired detections into incident response &amp; the security audit agent's signals.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Technology decisions &amp; trade-offs</a:t>
            </a:r>
            <a:endParaRPr lang="en-US" sz="2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432511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 chose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 I accepted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approach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supervised + unsupervised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complexity, but catches both known fraud and novel/zero-day patterns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compute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EMR/Spark over AWS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cluster ops, bought heavy distributed throughput &amp; spot-instance cost savings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&amp; serving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managed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lock-in, in exchange for managed pipelines, registry &amp; autoscaled endpoints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Airflow over Step Functions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Self-managed, but richer DAGs &amp; portability across our stack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Step-up auth, not just 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flows to build, but far less customer friction than hard blocks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Challenges &amp; how I worked through them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591056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Extreme class imbalance (~0.1%)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on PR-AUC &amp; recall-at-fixed-precision tuned to the cost matrix; resampled only inside the training fold; calibrated scores.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1072" y="1463040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591056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Sub-second latency at scale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Precomputed heavy features in the online store, computed only light features live, cached aggressively, autoscaled on EKS with graceful fallback.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3593592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Adversaries &amp; concept drift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monitors + champion–challenger + frequent triggered retraining so the model keeps pace with evolving fraud.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3465576"/>
            <a:ext cx="5532120" cy="1801368"/>
          </a:xfrm>
          <a:prstGeom prst="roundRect">
            <a:avLst>
              <a:gd name="adj" fmla="val 355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3593592"/>
            <a:ext cx="51297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False positives hurt real customers
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thresholds to analyst capacity, added step-up auth, and fed analyst decisions back as labels to sharpen precision over time.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Fraud Detection Platform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743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Engineering Practice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cross-cutting discipline behind both platforms — release, monitoring, and the ML framework strategy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FAST-PACED DEVELOPMENT → PRODUCTION, SAFELY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Release management without compromising production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EDE7FB"/>
          </a:solidFill>
          <a:ln w="12700">
            <a:solidFill>
              <a:srgbClr val="6D28D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+ MLflow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32711" y="2286000"/>
            <a:ext cx="145390" cy="0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80844" y="1828800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26564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checks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code+data+model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64915" y="2286000"/>
            <a:ext cx="145390" cy="0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813048" y="1828800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58768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gate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97119" y="2286000"/>
            <a:ext cx="145390" cy="0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45252" y="1828800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90972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traffic, 0 impact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29323" y="2286000"/>
            <a:ext cx="145390" cy="0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077456" y="1828800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23176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% live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561527" y="2286000"/>
            <a:ext cx="145390" cy="0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709660" y="1828800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755380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to 100%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93731" y="2286000"/>
            <a:ext cx="145390" cy="0"/>
          </a:xfrm>
          <a:prstGeom prst="line">
            <a:avLst/>
          </a:prstGeom>
          <a:noFill/>
          <a:ln w="20320">
            <a:solidFill>
              <a:srgbClr val="6D28D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341864" y="1828800"/>
            <a:ext cx="1481328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387584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+ drift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371600" y="1508760"/>
            <a:ext cx="8257032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118872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rollback — previous version stays warm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091672" y="3035808"/>
            <a:ext cx="-9811512" cy="0"/>
          </a:xfrm>
          <a:prstGeom prst="line">
            <a:avLst/>
          </a:prstGeom>
          <a:noFill/>
          <a:ln w="20320">
            <a:solidFill>
              <a:srgbClr val="6D28D9"/>
            </a:solidFill>
            <a:prstDash val="dash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48640" y="3127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/ decay → triggers a new experiment (closed loop)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3703320"/>
            <a:ext cx="2667762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3232" y="3831336"/>
            <a:ext cx="23385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gate is a quality bar
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is blocked unless metric, fairness, calibration &amp; guardrail checks all pass.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417570" y="3703320"/>
            <a:ext cx="2667762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582162" y="3831336"/>
            <a:ext cx="23385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Progressive, never big-bang
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→ canary → ramp means a bad model is caught on a sliver of traffic, not all of it.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86500" y="3703320"/>
            <a:ext cx="2667762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51092" y="3831336"/>
            <a:ext cx="23385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&amp; traceable
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prediction maps to a model version, data &amp; feature snapshot — fully auditable &amp; reversible.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155430" y="3703320"/>
            <a:ext cx="2667762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320022" y="3831336"/>
            <a:ext cx="23385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Champion–challenger
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models prove themselves against the incumbent in shadow before taking real traffic.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Practice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MODEL STILL WORKS IN PRODUCTION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Monitoring &amp; measuring ML metrics and accuracy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2715768" cy="2743200"/>
          </a:xfrm>
          <a:prstGeom prst="roundRect">
            <a:avLst>
              <a:gd name="adj" fmla="val 2357"/>
            </a:avLst>
          </a:prstGeom>
          <a:solidFill>
            <a:srgbClr val="E0F2F7"/>
          </a:solidFill>
          <a:ln w="1397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728216"/>
            <a:ext cx="420624" cy="42062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58568"/>
            <a:ext cx="2313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0E749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Operational health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8803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p50/p99, throughput, error rate, saturation, cost per 1k predictions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47288" y="1508760"/>
            <a:ext cx="2715768" cy="2743200"/>
          </a:xfrm>
          <a:prstGeom prst="roundRect">
            <a:avLst>
              <a:gd name="adj" fmla="val 2357"/>
            </a:avLst>
          </a:prstGeom>
          <a:solidFill>
            <a:srgbClr val="FDF1DC"/>
          </a:solidFill>
          <a:ln w="13970">
            <a:solidFill>
              <a:srgbClr val="B4530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48456" y="1728216"/>
            <a:ext cx="420624" cy="42062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648456" y="2258568"/>
            <a:ext cx="2313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B4530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 &amp; feature drift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48456" y="28803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/ KS monitors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48456" y="320040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distribution shift, prediction-distribution shift, feature freshness &amp; null spikes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45936" y="1508760"/>
            <a:ext cx="2715768" cy="2743200"/>
          </a:xfrm>
          <a:prstGeom prst="roundRect">
            <a:avLst>
              <a:gd name="adj" fmla="val 2357"/>
            </a:avLst>
          </a:prstGeom>
          <a:solidFill>
            <a:srgbClr val="EDE7FB"/>
          </a:solidFill>
          <a:ln w="13970">
            <a:solidFill>
              <a:srgbClr val="6D28D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47104" y="1728216"/>
            <a:ext cx="420624" cy="42062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47104" y="2258568"/>
            <a:ext cx="2313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 performance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47104" y="28803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Sliced metrics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47104" y="320040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Lending: AUC, calibration, fairness by segment · Fraud: PR-AUC, recall@precision, $ saved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244584" y="1508760"/>
            <a:ext cx="2715768" cy="2743200"/>
          </a:xfrm>
          <a:prstGeom prst="roundRect">
            <a:avLst>
              <a:gd name="adj" fmla="val 2357"/>
            </a:avLst>
          </a:prstGeom>
          <a:solidFill>
            <a:srgbClr val="ECFDF5"/>
          </a:solidFill>
          <a:ln w="13970">
            <a:solidFill>
              <a:srgbClr val="047857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45752" y="1728216"/>
            <a:ext cx="420624" cy="42062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9445752" y="2258568"/>
            <a:ext cx="2313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LLM / agent quality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445752" y="28803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AI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445752" y="320040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Faithfulness, citation validity, refusal/leak checks on every agent output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526280"/>
            <a:ext cx="11091672" cy="1325880"/>
          </a:xfrm>
          <a:prstGeom prst="roundRect">
            <a:avLst>
              <a:gd name="adj" fmla="val 4828"/>
            </a:avLst>
          </a:prstGeom>
          <a:solidFill>
            <a:srgbClr val="0F172A"/>
          </a:solidFill>
          <a:ln/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aggregates logs &amp; fires alerts across all four layers.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thresholds are tied to business impact, not arbitrary statistics — minor drift logs &amp; watches, sustained decay triggers retraining, a sharp break rolls back. Ground-truth performance is tracked as labels arrive (immediately for lending, with deliberate lag handling for fraud), so we measure real accuracy, not just proxies.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Practice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2880" cy="18288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108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DEVELOPMENT 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MLflow, TensorFlow &amp; PyTorch — how they fit together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EDE7FB"/>
          </a:solidFill>
          <a:ln w="15875">
            <a:solidFill>
              <a:srgbClr val="6D28D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57276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MLflow — the connective tissue.   </a:t>
            </a:r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tracking + registry layer for both frameworks and both clouds: every run's params, data &amp; feature versions, metrics and artifacts are logged; the registry governs Staging→Production promotion with the release gates. Framework-agnostic by design.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5875">
            <a:solidFill>
              <a:srgbClr val="B45309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86207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PyTorch  ·  research &amp; iteration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300984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flexible experimentation — the default for research &amp; rapid iteration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explore new architectures and fine-tune transformer / LLM components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graphs make debugging &amp; custom logic straightforward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via TorchServe, or exported to ONNX where a common runtime helps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55080" y="269748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5875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286207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TensorFlow  ·  production serving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3300984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serving &amp; lifecycle ecosystem (TF Serving, TFX) for stable production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where we need a hardened, high-throughput serving path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fit for managed endpoints on Vertex AI / SageMaker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optimisation &amp; quantisation for low-latency, low-cost inference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2120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strategy in one line:  </a:t>
            </a:r>
            <a:pPr algn="ctr" indent="0" marL="0">
              <a:lnSpc>
                <a:spcPct val="103000"/>
              </a:lnSpc>
              <a:buNone/>
            </a:pPr>
            <a:r>
              <a:rPr lang="en-US" sz="12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freely in PyTorch, standardise artifacts &amp; metrics through MLflow, then serve on whichever runtime meets the latency, cost &amp; ecosystem needs — gradient-boosted models still win on tabular decisioning, and that's a feature, not a compromise.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Practice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4572000" cy="4572000"/>
          </a:xfrm>
          <a:prstGeom prst="ellipse">
            <a:avLst/>
          </a:prstGeom>
          <a:solidFill>
            <a:srgbClr val="8B5CF6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645920"/>
            <a:ext cx="4572000" cy="4572000"/>
          </a:xfrm>
          <a:prstGeom prst="ellipse">
            <a:avLst/>
          </a:prstGeom>
          <a:solidFill>
            <a:srgbClr val="06B6D4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THESE TWO JOURNEYS SHOW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143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through-line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423160"/>
            <a:ext cx="182880" cy="18288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233172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Production ML at scale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78892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platforms serve real decisions to real users — feature stores, real-time serving, drift-aware retraining.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423160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233172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Principled trade-offs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0" y="278892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GBMs over flashy deep nets; managed vs self-managed chosen on merit; metrics tied to business cost.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4279392"/>
            <a:ext cx="182880" cy="1828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418795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Standards across teams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46451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+ RAG pattern, one release &amp; monitoring discipline, reused across two clouds — influence beyond a squad.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400507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279392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418795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Bringing people along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766560" y="46451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 the patterns, ran the design reviews, and mentored the engineers who built within them.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research-meets-production seam, at scale, for a mission that matters — what I want to do next.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 Platform Journeys — Lending Decision &amp; Fraud Detection</dc:title>
  <dc:subject>PptxGenJS Presentation</dc:subject>
  <dc:creator>Candidate</dc:creator>
  <cp:lastModifiedBy>Candidate</cp:lastModifiedBy>
  <cp:revision>1</cp:revision>
  <dcterms:created xsi:type="dcterms:W3CDTF">2026-06-19T14:25:10Z</dcterms:created>
  <dcterms:modified xsi:type="dcterms:W3CDTF">2026-06-19T14:25:10Z</dcterms:modified>
</cp:coreProperties>
</file>